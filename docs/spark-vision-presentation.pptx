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025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Énoncé du projet fourni par l’utilisateur.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Énoncé du projet fourni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Énoncé du projet fourni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 Justification pédagogique et volume AWS fournis par l’utilisateur en conversation.
- Graphique créé à partir des valeurs issues du notebook final.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Énoncé du projet fourni par l’utilisateur.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 Captures AWS fournies par l’utilisateur : /mnt/data/AWS PATH P11.zip.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 Énoncé du projet fourni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 Énoncé du projet fourni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 Graphique créé à partir des dimensions observées dans le notebook final.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 Graphiques issus du notebook final : cell54_plot0.png et cell54_plot1.png.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 Graphiques issus du notebook final : cell54_plot2.png et cell54_plot3.png.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Captures AWS fournies par l’utilisateur : /mnt/data/AWS PATH P11.zip.
- Énoncé du projet fourni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Capture AWS fournie par l’utilisateur : path_9.png dans /mnt/data/AWS PATH P11.zip.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Capture AWS fournie par l’utilisateur : path_16.png dans /mnt/data/AWS PATH P11.zip.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Capture AWS fournie par l’utilisateur : path_15.png dans /mnt/data/AWS PATH P11.zip.
- Énoncé du projet fourni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Capture AWS fournie par l’utilisateur : path_17.png dans /mnt/data/AWS PATH P11.zip.
- Énoncé du projet fourni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Capture AWS fournie par l’utilisateur : path_20.png dans /mnt/data/AWS PATH P11.zip.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Capture AWS fournie par l’utilisateur : path_21.png dans /mnt/data/AWS PATH P11.zip.
- Notebook final fourni par l’utilisateur : /mnt/data/p11_victoraubry_final.ipynb.
- La résiliation du cluster est également visible dans les captures AWS fournies par l’utilisateur.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Énoncé du projet fourni par l’utilisateur.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Énoncé du projet fourni par l’utilisateur.
- Notebook final fourni par l’utilisateur : /mnt/data/p11_victoraubry_final.ipynb.
[/Sources]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786384" y="749808"/>
            <a:ext cx="3474720" cy="164592"/>
          </a:xfrm>
          <a:prstGeom prst="rect">
            <a:avLst/>
          </a:prstGeom>
          <a:noFill/>
          <a:ln/>
        </p:spPr>
        <p:txBody>
          <a:bodyPr wrap="square" lIns="0" tIns="0" rIns="0" bIns="0" rtlCol="0" anchor="ctr"/>
          <a:lstStyle/>
          <a:p>
            <a:pPr marL="0" indent="0">
              <a:buNone/>
            </a:pPr>
            <a:r>
              <a:rPr lang="en-US" sz="1180" b="1" dirty="0">
                <a:solidFill>
                  <a:srgbClr val="A7B78E"/>
                </a:solidFill>
                <a:latin typeface="Aptos" pitchFamily="34" charset="0"/>
                <a:ea typeface="Aptos" pitchFamily="34" charset="-122"/>
                <a:cs typeface="Aptos" pitchFamily="34" charset="-120"/>
              </a:rPr>
              <a:t>OPENCLASSROOMS — PROJET 11</a:t>
            </a:r>
            <a:endParaRPr lang="en-US" sz="1180" dirty="0"/>
          </a:p>
        </p:txBody>
      </p:sp>
      <p:sp>
        <p:nvSpPr>
          <p:cNvPr id="4" name="Text 2"/>
          <p:cNvSpPr/>
          <p:nvPr/>
        </p:nvSpPr>
        <p:spPr>
          <a:xfrm>
            <a:off x="786384" y="1078992"/>
            <a:ext cx="6492240" cy="841248"/>
          </a:xfrm>
          <a:prstGeom prst="rect">
            <a:avLst/>
          </a:prstGeom>
          <a:noFill/>
          <a:ln/>
        </p:spPr>
        <p:txBody>
          <a:bodyPr wrap="square" lIns="0" tIns="0" rIns="0" bIns="0" rtlCol="0" anchor="ctr"/>
          <a:lstStyle/>
          <a:p>
            <a:pPr marL="0" indent="0">
              <a:buNone/>
            </a:pPr>
            <a:r>
              <a:rPr lang="en-US" sz="2720" b="1" dirty="0">
                <a:solidFill>
                  <a:srgbClr val="F8FAFC"/>
                </a:solidFill>
                <a:latin typeface="Aptos Display" pitchFamily="34" charset="0"/>
                <a:ea typeface="Aptos Display" pitchFamily="34" charset="-122"/>
                <a:cs typeface="Aptos Display" pitchFamily="34" charset="-120"/>
              </a:rPr>
              <a:t>Déployer une chaîne de traitement</a:t>
            </a:r>
            <a:endParaRPr lang="en-US" sz="2720" dirty="0"/>
          </a:p>
          <a:p>
            <a:pPr marL="0" indent="0">
              <a:buNone/>
            </a:pPr>
            <a:r>
              <a:rPr lang="en-US" sz="2720" b="1" dirty="0">
                <a:solidFill>
                  <a:srgbClr val="F8FAFC"/>
                </a:solidFill>
                <a:latin typeface="Aptos Display" pitchFamily="34" charset="0"/>
                <a:ea typeface="Aptos Display" pitchFamily="34" charset="-122"/>
                <a:cs typeface="Aptos Display" pitchFamily="34" charset="-120"/>
              </a:rPr>
              <a:t>d'images de fruits dans le cloud</a:t>
            </a:r>
            <a:endParaRPr lang="en-US" sz="2720" dirty="0"/>
          </a:p>
        </p:txBody>
      </p:sp>
      <p:sp>
        <p:nvSpPr>
          <p:cNvPr id="5" name="Text 3"/>
          <p:cNvSpPr/>
          <p:nvPr/>
        </p:nvSpPr>
        <p:spPr>
          <a:xfrm>
            <a:off x="786384" y="2212848"/>
            <a:ext cx="6400800" cy="548640"/>
          </a:xfrm>
          <a:prstGeom prst="rect">
            <a:avLst/>
          </a:prstGeom>
          <a:noFill/>
          <a:ln/>
        </p:spPr>
        <p:txBody>
          <a:bodyPr wrap="square" lIns="0" tIns="0" rIns="0" bIns="0" rtlCol="0" anchor="ctr"/>
          <a:lstStyle/>
          <a:p>
            <a:pPr marL="0" indent="0">
              <a:buNone/>
            </a:pPr>
            <a:r>
              <a:rPr lang="en-US" sz="1300" dirty="0">
                <a:solidFill>
                  <a:srgbClr val="9FB0C6"/>
                </a:solidFill>
                <a:latin typeface="Aptos" pitchFamily="34" charset="0"/>
                <a:ea typeface="Aptos" pitchFamily="34" charset="-122"/>
                <a:cs typeface="Aptos" pitchFamily="34" charset="-120"/>
              </a:rPr>
              <a:t>Objectif officiel : mettre en place un notebook PySpark exécutable, du prétraitement jusqu'à l'ACP, dans un environnement AWS EMR et S3.</a:t>
            </a:r>
            <a:endParaRPr lang="en-US" sz="1300" dirty="0"/>
          </a:p>
        </p:txBody>
      </p:sp>
      <p:sp>
        <p:nvSpPr>
          <p:cNvPr id="6" name="Shape 4"/>
          <p:cNvSpPr/>
          <p:nvPr/>
        </p:nvSpPr>
        <p:spPr>
          <a:xfrm>
            <a:off x="786384" y="3035808"/>
            <a:ext cx="877824" cy="292608"/>
          </a:xfrm>
          <a:prstGeom prst="roundRect">
            <a:avLst>
              <a:gd name="adj" fmla="val 28125"/>
            </a:avLst>
          </a:prstGeom>
          <a:solidFill>
            <a:srgbClr val="12223A"/>
          </a:solidFill>
          <a:ln w="12700">
            <a:solidFill>
              <a:srgbClr val="19B67A"/>
            </a:solidFill>
            <a:prstDash val="solid"/>
          </a:ln>
        </p:spPr>
        <p:txBody>
          <a:bodyPr/>
          <a:lstStyle/>
          <a:p>
            <a:endParaRPr lang="fr-FR"/>
          </a:p>
        </p:txBody>
      </p:sp>
      <p:sp>
        <p:nvSpPr>
          <p:cNvPr id="7" name="Text 5"/>
          <p:cNvSpPr/>
          <p:nvPr/>
        </p:nvSpPr>
        <p:spPr>
          <a:xfrm>
            <a:off x="786384" y="3063240"/>
            <a:ext cx="877824" cy="201168"/>
          </a:xfrm>
          <a:prstGeom prst="rect">
            <a:avLst/>
          </a:prstGeom>
          <a:noFill/>
          <a:ln/>
        </p:spPr>
        <p:txBody>
          <a:bodyPr wrap="square" lIns="0" tIns="0" rIns="0" bIns="0" rtlCol="0" anchor="ctr"/>
          <a:lstStyle/>
          <a:p>
            <a:pPr marL="0" indent="0" algn="ctr">
              <a:buNone/>
            </a:pPr>
            <a:r>
              <a:rPr lang="en-US" sz="1000" b="1" dirty="0">
                <a:solidFill>
                  <a:srgbClr val="19B67A"/>
                </a:solidFill>
                <a:latin typeface="Aptos" pitchFamily="34" charset="0"/>
                <a:ea typeface="Aptos" pitchFamily="34" charset="-122"/>
                <a:cs typeface="Aptos" pitchFamily="34" charset="-120"/>
              </a:rPr>
              <a:t>Local</a:t>
            </a:r>
            <a:endParaRPr lang="en-US" sz="1000" dirty="0"/>
          </a:p>
        </p:txBody>
      </p:sp>
      <p:sp>
        <p:nvSpPr>
          <p:cNvPr id="8" name="Shape 6"/>
          <p:cNvSpPr/>
          <p:nvPr/>
        </p:nvSpPr>
        <p:spPr>
          <a:xfrm>
            <a:off x="1783080" y="3035808"/>
            <a:ext cx="658368" cy="292608"/>
          </a:xfrm>
          <a:prstGeom prst="roundRect">
            <a:avLst>
              <a:gd name="adj" fmla="val 28125"/>
            </a:avLst>
          </a:prstGeom>
          <a:solidFill>
            <a:srgbClr val="12223A"/>
          </a:solidFill>
          <a:ln w="12700">
            <a:solidFill>
              <a:srgbClr val="60A5FA"/>
            </a:solidFill>
            <a:prstDash val="solid"/>
          </a:ln>
        </p:spPr>
        <p:txBody>
          <a:bodyPr/>
          <a:lstStyle/>
          <a:p>
            <a:endParaRPr lang="fr-FR"/>
          </a:p>
        </p:txBody>
      </p:sp>
      <p:sp>
        <p:nvSpPr>
          <p:cNvPr id="9" name="Text 7"/>
          <p:cNvSpPr/>
          <p:nvPr/>
        </p:nvSpPr>
        <p:spPr>
          <a:xfrm>
            <a:off x="1783080" y="3063240"/>
            <a:ext cx="658368" cy="201168"/>
          </a:xfrm>
          <a:prstGeom prst="rect">
            <a:avLst/>
          </a:prstGeom>
          <a:noFill/>
          <a:ln/>
        </p:spPr>
        <p:txBody>
          <a:bodyPr wrap="square" lIns="0" tIns="0" rIns="0" bIns="0" rtlCol="0" anchor="ctr"/>
          <a:lstStyle/>
          <a:p>
            <a:pPr marL="0" indent="0" algn="ctr">
              <a:buNone/>
            </a:pPr>
            <a:r>
              <a:rPr lang="en-US" sz="1000" b="1" dirty="0">
                <a:solidFill>
                  <a:srgbClr val="60A5FA"/>
                </a:solidFill>
                <a:latin typeface="Aptos" pitchFamily="34" charset="0"/>
                <a:ea typeface="Aptos" pitchFamily="34" charset="-122"/>
                <a:cs typeface="Aptos" pitchFamily="34" charset="-120"/>
              </a:rPr>
              <a:t>S3</a:t>
            </a:r>
            <a:endParaRPr lang="en-US" sz="1000" dirty="0"/>
          </a:p>
        </p:txBody>
      </p:sp>
      <p:sp>
        <p:nvSpPr>
          <p:cNvPr id="10" name="Shape 8"/>
          <p:cNvSpPr/>
          <p:nvPr/>
        </p:nvSpPr>
        <p:spPr>
          <a:xfrm>
            <a:off x="2569464" y="3035808"/>
            <a:ext cx="804672" cy="292608"/>
          </a:xfrm>
          <a:prstGeom prst="roundRect">
            <a:avLst>
              <a:gd name="adj" fmla="val 28125"/>
            </a:avLst>
          </a:prstGeom>
          <a:solidFill>
            <a:srgbClr val="12223A"/>
          </a:solidFill>
          <a:ln w="12700">
            <a:solidFill>
              <a:srgbClr val="F1A43A"/>
            </a:solidFill>
            <a:prstDash val="solid"/>
          </a:ln>
        </p:spPr>
        <p:txBody>
          <a:bodyPr/>
          <a:lstStyle/>
          <a:p>
            <a:endParaRPr lang="fr-FR"/>
          </a:p>
        </p:txBody>
      </p:sp>
      <p:sp>
        <p:nvSpPr>
          <p:cNvPr id="11" name="Text 9"/>
          <p:cNvSpPr/>
          <p:nvPr/>
        </p:nvSpPr>
        <p:spPr>
          <a:xfrm>
            <a:off x="2569464" y="3063240"/>
            <a:ext cx="804672" cy="201168"/>
          </a:xfrm>
          <a:prstGeom prst="rect">
            <a:avLst/>
          </a:prstGeom>
          <a:noFill/>
          <a:ln/>
        </p:spPr>
        <p:txBody>
          <a:bodyPr wrap="square" lIns="0" tIns="0" rIns="0" bIns="0" rtlCol="0" anchor="ctr"/>
          <a:lstStyle/>
          <a:p>
            <a:pPr marL="0" indent="0" algn="ctr">
              <a:buNone/>
            </a:pPr>
            <a:r>
              <a:rPr lang="en-US" sz="1000" b="1" dirty="0">
                <a:solidFill>
                  <a:srgbClr val="F1A43A"/>
                </a:solidFill>
                <a:latin typeface="Aptos" pitchFamily="34" charset="0"/>
                <a:ea typeface="Aptos" pitchFamily="34" charset="-122"/>
                <a:cs typeface="Aptos" pitchFamily="34" charset="-120"/>
              </a:rPr>
              <a:t>EMR</a:t>
            </a:r>
            <a:endParaRPr lang="en-US" sz="1000" dirty="0"/>
          </a:p>
        </p:txBody>
      </p:sp>
      <p:sp>
        <p:nvSpPr>
          <p:cNvPr id="12" name="Shape 10"/>
          <p:cNvSpPr/>
          <p:nvPr/>
        </p:nvSpPr>
        <p:spPr>
          <a:xfrm>
            <a:off x="3493008" y="3035808"/>
            <a:ext cx="749808" cy="292608"/>
          </a:xfrm>
          <a:prstGeom prst="roundRect">
            <a:avLst>
              <a:gd name="adj" fmla="val 28125"/>
            </a:avLst>
          </a:prstGeom>
          <a:solidFill>
            <a:srgbClr val="12223A"/>
          </a:solidFill>
          <a:ln w="12700">
            <a:solidFill>
              <a:srgbClr val="A78BFA"/>
            </a:solidFill>
            <a:prstDash val="solid"/>
          </a:ln>
        </p:spPr>
        <p:txBody>
          <a:bodyPr/>
          <a:lstStyle/>
          <a:p>
            <a:endParaRPr lang="fr-FR"/>
          </a:p>
        </p:txBody>
      </p:sp>
      <p:sp>
        <p:nvSpPr>
          <p:cNvPr id="13" name="Text 11"/>
          <p:cNvSpPr/>
          <p:nvPr/>
        </p:nvSpPr>
        <p:spPr>
          <a:xfrm>
            <a:off x="3493008" y="3063240"/>
            <a:ext cx="749808" cy="201168"/>
          </a:xfrm>
          <a:prstGeom prst="rect">
            <a:avLst/>
          </a:prstGeom>
          <a:noFill/>
          <a:ln/>
        </p:spPr>
        <p:txBody>
          <a:bodyPr wrap="square" lIns="0" tIns="0" rIns="0" bIns="0" rtlCol="0" anchor="ctr"/>
          <a:lstStyle/>
          <a:p>
            <a:pPr marL="0" indent="0" algn="ctr">
              <a:buNone/>
            </a:pPr>
            <a:r>
              <a:rPr lang="en-US" sz="1000" b="1" dirty="0">
                <a:solidFill>
                  <a:srgbClr val="A78BFA"/>
                </a:solidFill>
                <a:latin typeface="Aptos" pitchFamily="34" charset="0"/>
                <a:ea typeface="Aptos" pitchFamily="34" charset="-122"/>
                <a:cs typeface="Aptos" pitchFamily="34" charset="-120"/>
              </a:rPr>
              <a:t>ACP</a:t>
            </a:r>
            <a:endParaRPr lang="en-US" sz="1000" dirty="0"/>
          </a:p>
        </p:txBody>
      </p:sp>
      <p:sp>
        <p:nvSpPr>
          <p:cNvPr id="14" name="Shape 12"/>
          <p:cNvSpPr/>
          <p:nvPr/>
        </p:nvSpPr>
        <p:spPr>
          <a:xfrm>
            <a:off x="786384" y="3685032"/>
            <a:ext cx="4480560" cy="0"/>
          </a:xfrm>
          <a:prstGeom prst="line">
            <a:avLst/>
          </a:prstGeom>
          <a:noFill/>
          <a:ln w="12700">
            <a:solidFill>
              <a:srgbClr val="23344C"/>
            </a:solidFill>
            <a:prstDash val="solid"/>
          </a:ln>
        </p:spPr>
        <p:txBody>
          <a:bodyPr/>
          <a:lstStyle/>
          <a:p>
            <a:endParaRPr lang="fr-FR"/>
          </a:p>
        </p:txBody>
      </p:sp>
      <p:sp>
        <p:nvSpPr>
          <p:cNvPr id="15" name="Text 13"/>
          <p:cNvSpPr/>
          <p:nvPr/>
        </p:nvSpPr>
        <p:spPr>
          <a:xfrm>
            <a:off x="786384" y="3858768"/>
            <a:ext cx="4389120" cy="164592"/>
          </a:xfrm>
          <a:prstGeom prst="rect">
            <a:avLst/>
          </a:prstGeom>
          <a:noFill/>
          <a:ln/>
        </p:spPr>
        <p:txBody>
          <a:bodyPr wrap="square" lIns="0" tIns="0" rIns="0" bIns="0" rtlCol="0" anchor="ctr"/>
          <a:lstStyle/>
          <a:p>
            <a:pPr marL="0" indent="0">
              <a:buNone/>
            </a:pPr>
            <a:r>
              <a:rPr lang="en-US" sz="1200" dirty="0">
                <a:solidFill>
                  <a:srgbClr val="F8FAFC"/>
                </a:solidFill>
                <a:latin typeface="Aptos" pitchFamily="34" charset="0"/>
                <a:ea typeface="Aptos" pitchFamily="34" charset="-122"/>
                <a:cs typeface="Aptos" pitchFamily="34" charset="-120"/>
              </a:rPr>
              <a:t>Victor Aubry — </a:t>
            </a:r>
            <a:r>
              <a:rPr lang="en-US" sz="1200" dirty="0" err="1">
                <a:solidFill>
                  <a:srgbClr val="F8FAFC"/>
                </a:solidFill>
                <a:latin typeface="Aptos" pitchFamily="34" charset="0"/>
                <a:ea typeface="Aptos" pitchFamily="34" charset="-122"/>
                <a:cs typeface="Aptos" pitchFamily="34" charset="-120"/>
              </a:rPr>
              <a:t>Projet</a:t>
            </a:r>
            <a:r>
              <a:rPr lang="en-US" sz="1200" dirty="0">
                <a:solidFill>
                  <a:srgbClr val="F8FAFC"/>
                </a:solidFill>
                <a:latin typeface="Aptos" pitchFamily="34" charset="0"/>
                <a:ea typeface="Aptos" pitchFamily="34" charset="-122"/>
                <a:cs typeface="Aptos" pitchFamily="34" charset="-120"/>
              </a:rPr>
              <a:t> cloud EMR via AWS</a:t>
            </a:r>
            <a:endParaRPr lang="en-US" sz="1200" dirty="0"/>
          </a:p>
        </p:txBody>
      </p:sp>
      <p:sp>
        <p:nvSpPr>
          <p:cNvPr id="16" name="Text 14"/>
          <p:cNvSpPr/>
          <p:nvPr/>
        </p:nvSpPr>
        <p:spPr>
          <a:xfrm>
            <a:off x="786384" y="4096512"/>
            <a:ext cx="2834640" cy="146304"/>
          </a:xfrm>
          <a:prstGeom prst="rect">
            <a:avLst/>
          </a:prstGeom>
          <a:noFill/>
          <a:ln/>
        </p:spPr>
        <p:txBody>
          <a:bodyPr wrap="square" lIns="0" tIns="0" rIns="0" bIns="0" rtlCol="0" anchor="ctr"/>
          <a:lstStyle/>
          <a:p>
            <a:pPr marL="0" indent="0">
              <a:buNone/>
            </a:pPr>
            <a:r>
              <a:rPr lang="en-US" sz="1040" dirty="0">
                <a:solidFill>
                  <a:srgbClr val="7E8DA5"/>
                </a:solidFill>
                <a:latin typeface="Aptos" pitchFamily="34" charset="0"/>
                <a:ea typeface="Aptos" pitchFamily="34" charset="-122"/>
                <a:cs typeface="Aptos" pitchFamily="34" charset="-120"/>
              </a:rPr>
              <a:t>Soutenance — version V3</a:t>
            </a:r>
            <a:endParaRPr lang="en-US" sz="1040" dirty="0"/>
          </a:p>
        </p:txBody>
      </p:sp>
      <p:sp>
        <p:nvSpPr>
          <p:cNvPr id="17" name="Shape 15"/>
          <p:cNvSpPr/>
          <p:nvPr/>
        </p:nvSpPr>
        <p:spPr>
          <a:xfrm>
            <a:off x="7635240" y="1280160"/>
            <a:ext cx="3611880" cy="3127248"/>
          </a:xfrm>
          <a:prstGeom prst="roundRect">
            <a:avLst>
              <a:gd name="adj" fmla="val 2924"/>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8" name="Shape 16"/>
          <p:cNvSpPr/>
          <p:nvPr/>
        </p:nvSpPr>
        <p:spPr>
          <a:xfrm>
            <a:off x="7644384" y="1289304"/>
            <a:ext cx="77724" cy="3108960"/>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9" name="Text 17"/>
          <p:cNvSpPr/>
          <p:nvPr/>
        </p:nvSpPr>
        <p:spPr>
          <a:xfrm>
            <a:off x="7909560" y="1572768"/>
            <a:ext cx="2286000" cy="164592"/>
          </a:xfrm>
          <a:prstGeom prst="rect">
            <a:avLst/>
          </a:prstGeom>
          <a:noFill/>
          <a:ln/>
        </p:spPr>
        <p:txBody>
          <a:bodyPr wrap="square" lIns="0" tIns="0" rIns="0" bIns="0" rtlCol="0" anchor="ctr"/>
          <a:lstStyle/>
          <a:p>
            <a:pPr marL="0" indent="0">
              <a:buNone/>
            </a:pPr>
            <a:r>
              <a:rPr lang="en-US" sz="1110" b="1" dirty="0">
                <a:solidFill>
                  <a:srgbClr val="19B67A"/>
                </a:solidFill>
                <a:latin typeface="Aptos" pitchFamily="34" charset="0"/>
                <a:ea typeface="Aptos" pitchFamily="34" charset="-122"/>
                <a:cs typeface="Aptos" pitchFamily="34" charset="-120"/>
              </a:rPr>
              <a:t>Ce que nous montrons</a:t>
            </a:r>
            <a:endParaRPr lang="en-US" sz="1110" dirty="0"/>
          </a:p>
        </p:txBody>
      </p:sp>
      <p:sp>
        <p:nvSpPr>
          <p:cNvPr id="20" name="Text 18"/>
          <p:cNvSpPr/>
          <p:nvPr/>
        </p:nvSpPr>
        <p:spPr>
          <a:xfrm>
            <a:off x="7909560" y="1938528"/>
            <a:ext cx="2798064" cy="1051560"/>
          </a:xfrm>
          <a:prstGeom prst="rect">
            <a:avLst/>
          </a:prstGeom>
          <a:noFill/>
          <a:ln/>
        </p:spPr>
        <p:txBody>
          <a:bodyPr wrap="square" lIns="0" tIns="0" rIns="0" bIns="0" rtlCol="0" anchor="ctr"/>
          <a:lstStyle/>
          <a:p>
            <a:pPr marL="0" indent="0">
              <a:buNone/>
            </a:pPr>
            <a:r>
              <a:rPr lang="en-US" sz="1210" dirty="0">
                <a:solidFill>
                  <a:srgbClr val="F8FAFC"/>
                </a:solidFill>
                <a:latin typeface="Aptos" pitchFamily="34" charset="0"/>
                <a:ea typeface="Aptos" pitchFamily="34" charset="-122"/>
                <a:cs typeface="Aptos" pitchFamily="34" charset="-120"/>
              </a:rPr>
              <a:t>Nous présentons une chaîne de traitement lisible, validée en local puis démontrée sur AWS. Le fil conducteur reste simple : stocker dans S3, exécuter sur EMR, écrire les résultats, puis réduire la dimension avec l'ACP.</a:t>
            </a:r>
            <a:endParaRPr lang="en-US" sz="1210" dirty="0"/>
          </a:p>
        </p:txBody>
      </p:sp>
      <p:sp>
        <p:nvSpPr>
          <p:cNvPr id="21" name="Shape 19"/>
          <p:cNvSpPr/>
          <p:nvPr/>
        </p:nvSpPr>
        <p:spPr>
          <a:xfrm>
            <a:off x="7909560" y="3273552"/>
            <a:ext cx="2788920" cy="786384"/>
          </a:xfrm>
          <a:prstGeom prst="roundRect">
            <a:avLst>
              <a:gd name="adj" fmla="val 9302"/>
            </a:avLst>
          </a:prstGeom>
          <a:solidFill>
            <a:srgbClr val="0C1626"/>
          </a:solidFill>
          <a:ln w="12700">
            <a:solidFill>
              <a:srgbClr val="23344C"/>
            </a:solidFill>
            <a:prstDash val="solid"/>
          </a:ln>
        </p:spPr>
        <p:txBody>
          <a:bodyPr/>
          <a:lstStyle/>
          <a:p>
            <a:endParaRPr lang="fr-FR"/>
          </a:p>
        </p:txBody>
      </p:sp>
      <p:sp>
        <p:nvSpPr>
          <p:cNvPr id="22" name="Text 20"/>
          <p:cNvSpPr/>
          <p:nvPr/>
        </p:nvSpPr>
        <p:spPr>
          <a:xfrm>
            <a:off x="8156448" y="3438144"/>
            <a:ext cx="1371600" cy="146304"/>
          </a:xfrm>
          <a:prstGeom prst="rect">
            <a:avLst/>
          </a:prstGeom>
          <a:noFill/>
          <a:ln/>
        </p:spPr>
        <p:txBody>
          <a:bodyPr wrap="square" lIns="0" tIns="0" rIns="0" bIns="0" rtlCol="0" anchor="ctr"/>
          <a:lstStyle/>
          <a:p>
            <a:pPr marL="0" indent="0">
              <a:buNone/>
            </a:pPr>
            <a:r>
              <a:rPr lang="en-US" sz="1050" b="1" dirty="0">
                <a:solidFill>
                  <a:srgbClr val="F1A43A"/>
                </a:solidFill>
                <a:latin typeface="Aptos" pitchFamily="34" charset="0"/>
                <a:ea typeface="Aptos" pitchFamily="34" charset="-122"/>
                <a:cs typeface="Aptos" pitchFamily="34" charset="-120"/>
              </a:rPr>
              <a:t>Message à retenir</a:t>
            </a:r>
            <a:endParaRPr lang="en-US" sz="1050" dirty="0"/>
          </a:p>
        </p:txBody>
      </p:sp>
      <p:sp>
        <p:nvSpPr>
          <p:cNvPr id="23" name="Text 21"/>
          <p:cNvSpPr/>
          <p:nvPr/>
        </p:nvSpPr>
        <p:spPr>
          <a:xfrm>
            <a:off x="8156448" y="3694176"/>
            <a:ext cx="2304288" cy="201168"/>
          </a:xfrm>
          <a:prstGeom prst="rect">
            <a:avLst/>
          </a:prstGeom>
          <a:noFill/>
          <a:ln/>
        </p:spPr>
        <p:txBody>
          <a:bodyPr wrap="square" lIns="0" tIns="0" rIns="0" bIns="0" rtlCol="0" anchor="ctr"/>
          <a:lstStyle/>
          <a:p>
            <a:pPr marL="0" indent="0">
              <a:buNone/>
            </a:pPr>
            <a:r>
              <a:rPr lang="en-US" sz="1040" dirty="0">
                <a:solidFill>
                  <a:srgbClr val="C9D4E3"/>
                </a:solidFill>
                <a:latin typeface="Aptos" pitchFamily="34" charset="0"/>
                <a:ea typeface="Aptos" pitchFamily="34" charset="-122"/>
                <a:cs typeface="Aptos" pitchFamily="34" charset="-120"/>
              </a:rPr>
              <a:t>Nous construisons d'abord les bonnes briques techniques ; le produit final viendra ensuite.</a:t>
            </a:r>
            <a:endParaRPr lang="en-US" sz="10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CADRE DU PROJET</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Contexte métier et problématique</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Nous ne cherchons pas encore à livrer une application complète ; nous posons d'abord une base technique capable d'absorber plus d'images ensuite.</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09344"/>
            <a:ext cx="4526280" cy="4480560"/>
          </a:xfrm>
          <a:prstGeom prst="roundRect">
            <a:avLst>
              <a:gd name="adj" fmla="val 204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18488"/>
            <a:ext cx="77724" cy="446227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Text 9"/>
          <p:cNvSpPr/>
          <p:nvPr/>
        </p:nvSpPr>
        <p:spPr>
          <a:xfrm>
            <a:off x="1024128" y="1865376"/>
            <a:ext cx="2011680" cy="164592"/>
          </a:xfrm>
          <a:prstGeom prst="rect">
            <a:avLst/>
          </a:prstGeom>
          <a:noFill/>
          <a:ln/>
        </p:spPr>
        <p:txBody>
          <a:bodyPr wrap="square" lIns="0" tIns="0" rIns="0" bIns="0" rtlCol="0" anchor="ctr"/>
          <a:lstStyle/>
          <a:p>
            <a:pPr marL="0" indent="0">
              <a:buNone/>
            </a:pPr>
            <a:r>
              <a:rPr lang="en-US" sz="1110" b="1" dirty="0">
                <a:solidFill>
                  <a:srgbClr val="19B67A"/>
                </a:solidFill>
                <a:latin typeface="Aptos" pitchFamily="34" charset="0"/>
                <a:ea typeface="Aptos" pitchFamily="34" charset="-122"/>
                <a:cs typeface="Aptos" pitchFamily="34" charset="-120"/>
              </a:rPr>
              <a:t>Le besoin métier</a:t>
            </a:r>
            <a:endParaRPr lang="en-US" sz="1110" dirty="0"/>
          </a:p>
        </p:txBody>
      </p:sp>
      <p:sp>
        <p:nvSpPr>
          <p:cNvPr id="12" name="Text 10"/>
          <p:cNvSpPr/>
          <p:nvPr/>
        </p:nvSpPr>
        <p:spPr>
          <a:xfrm>
            <a:off x="1024128" y="2194560"/>
            <a:ext cx="3730752" cy="1170432"/>
          </a:xfrm>
          <a:prstGeom prst="rect">
            <a:avLst/>
          </a:prstGeom>
          <a:noFill/>
          <a:ln/>
        </p:spPr>
        <p:txBody>
          <a:bodyPr wrap="square" lIns="0" tIns="0" rIns="0" bIns="0" rtlCol="0" anchor="ctr"/>
          <a:lstStyle/>
          <a:p>
            <a:pPr marL="0" indent="0">
              <a:buNone/>
            </a:pPr>
            <a:r>
              <a:rPr lang="en-US" sz="1250" dirty="0">
                <a:solidFill>
                  <a:srgbClr val="F8FAFC"/>
                </a:solidFill>
                <a:latin typeface="Aptos" pitchFamily="34" charset="0"/>
                <a:ea typeface="Aptos" pitchFamily="34" charset="-122"/>
                <a:cs typeface="Aptos" pitchFamily="34" charset="-120"/>
              </a:rPr>
              <a:t>La start-up Fruits! veut proposer une application mobile capable d'identifier un fruit à partir d'une photo. Derrière ce cas d'usage simple, le vrai enjeu est de construire une chaîne de traitement d'images qui pourra monter en charge plus tard.</a:t>
            </a:r>
            <a:endParaRPr lang="en-US" sz="1250" dirty="0"/>
          </a:p>
        </p:txBody>
      </p:sp>
      <p:sp>
        <p:nvSpPr>
          <p:cNvPr id="13" name="Text 11"/>
          <p:cNvSpPr/>
          <p:nvPr/>
        </p:nvSpPr>
        <p:spPr>
          <a:xfrm>
            <a:off x="1024128" y="3749040"/>
            <a:ext cx="3730752" cy="859536"/>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Autrement dit, le projet ne se limite pas à reconnaître un fruit. Il sert aussi à préparer une future architecture Big Data, avec calcul distribué et stockage cloud organisé.</a:t>
            </a:r>
            <a:endParaRPr lang="en-US" sz="1130" dirty="0"/>
          </a:p>
        </p:txBody>
      </p:sp>
      <p:sp>
        <p:nvSpPr>
          <p:cNvPr id="14" name="Shape 12"/>
          <p:cNvSpPr/>
          <p:nvPr/>
        </p:nvSpPr>
        <p:spPr>
          <a:xfrm>
            <a:off x="5632704" y="1975104"/>
            <a:ext cx="1700784" cy="2962656"/>
          </a:xfrm>
          <a:prstGeom prst="roundRect">
            <a:avLst>
              <a:gd name="adj" fmla="val 537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5" name="Shape 13"/>
          <p:cNvSpPr/>
          <p:nvPr/>
        </p:nvSpPr>
        <p:spPr>
          <a:xfrm>
            <a:off x="5641848" y="1984248"/>
            <a:ext cx="77724" cy="2944368"/>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6" name="Shape 14"/>
          <p:cNvSpPr/>
          <p:nvPr/>
        </p:nvSpPr>
        <p:spPr>
          <a:xfrm>
            <a:off x="5833872" y="2194560"/>
            <a:ext cx="310896" cy="310896"/>
          </a:xfrm>
          <a:prstGeom prst="ellipse">
            <a:avLst/>
          </a:prstGeom>
          <a:solidFill>
            <a:srgbClr val="60A5FA">
              <a:alpha val="24000"/>
            </a:srgbClr>
          </a:solidFill>
          <a:ln w="12700">
            <a:solidFill>
              <a:srgbClr val="60A5FA"/>
            </a:solidFill>
            <a:prstDash val="solid"/>
          </a:ln>
        </p:spPr>
        <p:txBody>
          <a:bodyPr/>
          <a:lstStyle/>
          <a:p>
            <a:endParaRPr lang="fr-FR"/>
          </a:p>
        </p:txBody>
      </p:sp>
      <p:sp>
        <p:nvSpPr>
          <p:cNvPr id="17" name="Text 15"/>
          <p:cNvSpPr/>
          <p:nvPr/>
        </p:nvSpPr>
        <p:spPr>
          <a:xfrm>
            <a:off x="5833872" y="2221992"/>
            <a:ext cx="310896" cy="201168"/>
          </a:xfrm>
          <a:prstGeom prst="rect">
            <a:avLst/>
          </a:prstGeom>
          <a:noFill/>
          <a:ln/>
        </p:spPr>
        <p:txBody>
          <a:bodyPr wrap="square" lIns="0" tIns="0" rIns="0" bIns="0" rtlCol="0" anchor="ctr"/>
          <a:lstStyle/>
          <a:p>
            <a:pPr marL="0" indent="0" algn="ctr">
              <a:buNone/>
            </a:pPr>
            <a:r>
              <a:rPr lang="en-US" sz="1070" b="1" dirty="0">
                <a:solidFill>
                  <a:srgbClr val="60A5FA"/>
                </a:solidFill>
                <a:latin typeface="Aptos" pitchFamily="34" charset="0"/>
                <a:ea typeface="Aptos" pitchFamily="34" charset="-122"/>
                <a:cs typeface="Aptos" pitchFamily="34" charset="-120"/>
              </a:rPr>
              <a:t>1</a:t>
            </a:r>
            <a:endParaRPr lang="en-US" sz="1070" dirty="0"/>
          </a:p>
        </p:txBody>
      </p:sp>
      <p:sp>
        <p:nvSpPr>
          <p:cNvPr id="18" name="Text 16"/>
          <p:cNvSpPr/>
          <p:nvPr/>
        </p:nvSpPr>
        <p:spPr>
          <a:xfrm>
            <a:off x="5833872" y="2615184"/>
            <a:ext cx="1280160" cy="182880"/>
          </a:xfrm>
          <a:prstGeom prst="rect">
            <a:avLst/>
          </a:prstGeom>
          <a:noFill/>
          <a:ln/>
        </p:spPr>
        <p:txBody>
          <a:bodyPr wrap="square" lIns="0" tIns="0" rIns="0" bIns="0" rtlCol="0" anchor="ctr"/>
          <a:lstStyle/>
          <a:p>
            <a:pPr marL="0" indent="0">
              <a:buNone/>
            </a:pPr>
            <a:r>
              <a:rPr lang="en-US" sz="1520" b="1" dirty="0">
                <a:solidFill>
                  <a:srgbClr val="F8FAFC"/>
                </a:solidFill>
                <a:latin typeface="Aptos Display" pitchFamily="34" charset="0"/>
                <a:ea typeface="Aptos Display" pitchFamily="34" charset="-122"/>
                <a:cs typeface="Aptos Display" pitchFamily="34" charset="-120"/>
              </a:rPr>
              <a:t>Photo</a:t>
            </a:r>
            <a:endParaRPr lang="en-US" sz="1520" dirty="0"/>
          </a:p>
        </p:txBody>
      </p:sp>
      <p:sp>
        <p:nvSpPr>
          <p:cNvPr id="19" name="Text 17"/>
          <p:cNvSpPr/>
          <p:nvPr/>
        </p:nvSpPr>
        <p:spPr>
          <a:xfrm>
            <a:off x="5833872" y="3017520"/>
            <a:ext cx="1298448" cy="960120"/>
          </a:xfrm>
          <a:prstGeom prst="rect">
            <a:avLst/>
          </a:prstGeom>
          <a:noFill/>
          <a:ln/>
        </p:spPr>
        <p:txBody>
          <a:bodyPr wrap="square" lIns="0" tIns="0" rIns="0" bIns="0" rtlCol="0" anchor="ctr"/>
          <a:lstStyle/>
          <a:p>
            <a:pPr marL="0" indent="0">
              <a:buNone/>
            </a:pPr>
            <a:r>
              <a:rPr lang="en-US" sz="1060" dirty="0">
                <a:solidFill>
                  <a:srgbClr val="9FB0C6"/>
                </a:solidFill>
                <a:latin typeface="Aptos" pitchFamily="34" charset="0"/>
                <a:ea typeface="Aptos" pitchFamily="34" charset="-122"/>
                <a:cs typeface="Aptos" pitchFamily="34" charset="-120"/>
              </a:rPr>
              <a:t>Nous partons d'une image prise depuis un smartphone.</a:t>
            </a:r>
            <a:endParaRPr lang="en-US" sz="1060" dirty="0"/>
          </a:p>
        </p:txBody>
      </p:sp>
      <p:sp>
        <p:nvSpPr>
          <p:cNvPr id="20" name="Shape 18"/>
          <p:cNvSpPr/>
          <p:nvPr/>
        </p:nvSpPr>
        <p:spPr>
          <a:xfrm>
            <a:off x="7534656" y="1975104"/>
            <a:ext cx="1700784" cy="2962656"/>
          </a:xfrm>
          <a:prstGeom prst="roundRect">
            <a:avLst>
              <a:gd name="adj" fmla="val 537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1" name="Shape 19"/>
          <p:cNvSpPr/>
          <p:nvPr/>
        </p:nvSpPr>
        <p:spPr>
          <a:xfrm>
            <a:off x="7543800" y="1984248"/>
            <a:ext cx="77724" cy="2944368"/>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22" name="Shape 20"/>
          <p:cNvSpPr/>
          <p:nvPr/>
        </p:nvSpPr>
        <p:spPr>
          <a:xfrm>
            <a:off x="7735824" y="2194560"/>
            <a:ext cx="310896" cy="310896"/>
          </a:xfrm>
          <a:prstGeom prst="ellipse">
            <a:avLst/>
          </a:prstGeom>
          <a:solidFill>
            <a:srgbClr val="F1A43A">
              <a:alpha val="24000"/>
            </a:srgbClr>
          </a:solidFill>
          <a:ln w="12700">
            <a:solidFill>
              <a:srgbClr val="F1A43A"/>
            </a:solidFill>
            <a:prstDash val="solid"/>
          </a:ln>
        </p:spPr>
        <p:txBody>
          <a:bodyPr/>
          <a:lstStyle/>
          <a:p>
            <a:endParaRPr lang="fr-FR"/>
          </a:p>
        </p:txBody>
      </p:sp>
      <p:sp>
        <p:nvSpPr>
          <p:cNvPr id="23" name="Text 21"/>
          <p:cNvSpPr/>
          <p:nvPr/>
        </p:nvSpPr>
        <p:spPr>
          <a:xfrm>
            <a:off x="7735824" y="2221992"/>
            <a:ext cx="310896" cy="201168"/>
          </a:xfrm>
          <a:prstGeom prst="rect">
            <a:avLst/>
          </a:prstGeom>
          <a:noFill/>
          <a:ln/>
        </p:spPr>
        <p:txBody>
          <a:bodyPr wrap="square" lIns="0" tIns="0" rIns="0" bIns="0" rtlCol="0" anchor="ctr"/>
          <a:lstStyle/>
          <a:p>
            <a:pPr marL="0" indent="0" algn="ctr">
              <a:buNone/>
            </a:pPr>
            <a:r>
              <a:rPr lang="en-US" sz="1070" b="1" dirty="0">
                <a:solidFill>
                  <a:srgbClr val="F1A43A"/>
                </a:solidFill>
                <a:latin typeface="Aptos" pitchFamily="34" charset="0"/>
                <a:ea typeface="Aptos" pitchFamily="34" charset="-122"/>
                <a:cs typeface="Aptos" pitchFamily="34" charset="-120"/>
              </a:rPr>
              <a:t>2</a:t>
            </a:r>
            <a:endParaRPr lang="en-US" sz="1070" dirty="0"/>
          </a:p>
        </p:txBody>
      </p:sp>
      <p:sp>
        <p:nvSpPr>
          <p:cNvPr id="24" name="Text 22"/>
          <p:cNvSpPr/>
          <p:nvPr/>
        </p:nvSpPr>
        <p:spPr>
          <a:xfrm>
            <a:off x="7735824" y="2615184"/>
            <a:ext cx="1280160" cy="182880"/>
          </a:xfrm>
          <a:prstGeom prst="rect">
            <a:avLst/>
          </a:prstGeom>
          <a:noFill/>
          <a:ln/>
        </p:spPr>
        <p:txBody>
          <a:bodyPr wrap="square" lIns="0" tIns="0" rIns="0" bIns="0" rtlCol="0" anchor="ctr"/>
          <a:lstStyle/>
          <a:p>
            <a:pPr marL="0" indent="0">
              <a:buNone/>
            </a:pPr>
            <a:r>
              <a:rPr lang="en-US" sz="1520" b="1" dirty="0">
                <a:solidFill>
                  <a:srgbClr val="F8FAFC"/>
                </a:solidFill>
                <a:latin typeface="Aptos Display" pitchFamily="34" charset="0"/>
                <a:ea typeface="Aptos Display" pitchFamily="34" charset="-122"/>
                <a:cs typeface="Aptos Display" pitchFamily="34" charset="-120"/>
              </a:rPr>
              <a:t>Information</a:t>
            </a:r>
            <a:endParaRPr lang="en-US" sz="1520" dirty="0"/>
          </a:p>
        </p:txBody>
      </p:sp>
      <p:sp>
        <p:nvSpPr>
          <p:cNvPr id="25" name="Text 23"/>
          <p:cNvSpPr/>
          <p:nvPr/>
        </p:nvSpPr>
        <p:spPr>
          <a:xfrm>
            <a:off x="7735824" y="3017520"/>
            <a:ext cx="1298448" cy="960120"/>
          </a:xfrm>
          <a:prstGeom prst="rect">
            <a:avLst/>
          </a:prstGeom>
          <a:noFill/>
          <a:ln/>
        </p:spPr>
        <p:txBody>
          <a:bodyPr wrap="square" lIns="0" tIns="0" rIns="0" bIns="0" rtlCol="0" anchor="ctr"/>
          <a:lstStyle/>
          <a:p>
            <a:pPr marL="0" indent="0">
              <a:buNone/>
            </a:pPr>
            <a:r>
              <a:rPr lang="en-US" sz="1060" dirty="0">
                <a:solidFill>
                  <a:srgbClr val="9FB0C6"/>
                </a:solidFill>
                <a:latin typeface="Aptos" pitchFamily="34" charset="0"/>
                <a:ea typeface="Aptos" pitchFamily="34" charset="-122"/>
                <a:cs typeface="Aptos" pitchFamily="34" charset="-120"/>
              </a:rPr>
              <a:t>Nous visons ensuite une réponse simple et exploitable.</a:t>
            </a:r>
            <a:endParaRPr lang="en-US" sz="1060" dirty="0"/>
          </a:p>
        </p:txBody>
      </p:sp>
      <p:sp>
        <p:nvSpPr>
          <p:cNvPr id="26" name="Shape 24"/>
          <p:cNvSpPr/>
          <p:nvPr/>
        </p:nvSpPr>
        <p:spPr>
          <a:xfrm>
            <a:off x="9436608" y="1975104"/>
            <a:ext cx="1700784" cy="2962656"/>
          </a:xfrm>
          <a:prstGeom prst="roundRect">
            <a:avLst>
              <a:gd name="adj" fmla="val 537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7" name="Shape 25"/>
          <p:cNvSpPr/>
          <p:nvPr/>
        </p:nvSpPr>
        <p:spPr>
          <a:xfrm>
            <a:off x="9445752" y="1984248"/>
            <a:ext cx="77724" cy="2944368"/>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8" name="Shape 26"/>
          <p:cNvSpPr/>
          <p:nvPr/>
        </p:nvSpPr>
        <p:spPr>
          <a:xfrm>
            <a:off x="9637776" y="2194560"/>
            <a:ext cx="310896" cy="310896"/>
          </a:xfrm>
          <a:prstGeom prst="ellipse">
            <a:avLst/>
          </a:prstGeom>
          <a:solidFill>
            <a:srgbClr val="A78BFA">
              <a:alpha val="24000"/>
            </a:srgbClr>
          </a:solidFill>
          <a:ln w="12700">
            <a:solidFill>
              <a:srgbClr val="A78BFA"/>
            </a:solidFill>
            <a:prstDash val="solid"/>
          </a:ln>
        </p:spPr>
        <p:txBody>
          <a:bodyPr/>
          <a:lstStyle/>
          <a:p>
            <a:endParaRPr lang="fr-FR"/>
          </a:p>
        </p:txBody>
      </p:sp>
      <p:sp>
        <p:nvSpPr>
          <p:cNvPr id="29" name="Text 27"/>
          <p:cNvSpPr/>
          <p:nvPr/>
        </p:nvSpPr>
        <p:spPr>
          <a:xfrm>
            <a:off x="9637776" y="2221992"/>
            <a:ext cx="310896" cy="201168"/>
          </a:xfrm>
          <a:prstGeom prst="rect">
            <a:avLst/>
          </a:prstGeom>
          <a:noFill/>
          <a:ln/>
        </p:spPr>
        <p:txBody>
          <a:bodyPr wrap="square" lIns="0" tIns="0" rIns="0" bIns="0" rtlCol="0" anchor="ctr"/>
          <a:lstStyle/>
          <a:p>
            <a:pPr marL="0" indent="0" algn="ctr">
              <a:buNone/>
            </a:pPr>
            <a:r>
              <a:rPr lang="en-US" sz="1070" b="1" dirty="0">
                <a:solidFill>
                  <a:srgbClr val="A78BFA"/>
                </a:solidFill>
                <a:latin typeface="Aptos" pitchFamily="34" charset="0"/>
                <a:ea typeface="Aptos" pitchFamily="34" charset="-122"/>
                <a:cs typeface="Aptos" pitchFamily="34" charset="-120"/>
              </a:rPr>
              <a:t>3</a:t>
            </a:r>
            <a:endParaRPr lang="en-US" sz="1070" dirty="0"/>
          </a:p>
        </p:txBody>
      </p:sp>
      <p:sp>
        <p:nvSpPr>
          <p:cNvPr id="30" name="Text 28"/>
          <p:cNvSpPr/>
          <p:nvPr/>
        </p:nvSpPr>
        <p:spPr>
          <a:xfrm>
            <a:off x="9637776" y="2615184"/>
            <a:ext cx="1280160" cy="182880"/>
          </a:xfrm>
          <a:prstGeom prst="rect">
            <a:avLst/>
          </a:prstGeom>
          <a:noFill/>
          <a:ln/>
        </p:spPr>
        <p:txBody>
          <a:bodyPr wrap="square" lIns="0" tIns="0" rIns="0" bIns="0" rtlCol="0" anchor="ctr"/>
          <a:lstStyle/>
          <a:p>
            <a:pPr marL="0" indent="0">
              <a:buNone/>
            </a:pPr>
            <a:r>
              <a:rPr lang="en-US" sz="1520" b="1" dirty="0">
                <a:solidFill>
                  <a:srgbClr val="F8FAFC"/>
                </a:solidFill>
                <a:latin typeface="Aptos Display" pitchFamily="34" charset="0"/>
                <a:ea typeface="Aptos Display" pitchFamily="34" charset="-122"/>
                <a:cs typeface="Aptos Display" pitchFamily="34" charset="-120"/>
              </a:rPr>
              <a:t>Base technique</a:t>
            </a:r>
            <a:endParaRPr lang="en-US" sz="1520" dirty="0"/>
          </a:p>
        </p:txBody>
      </p:sp>
      <p:sp>
        <p:nvSpPr>
          <p:cNvPr id="31" name="Text 29"/>
          <p:cNvSpPr/>
          <p:nvPr/>
        </p:nvSpPr>
        <p:spPr>
          <a:xfrm>
            <a:off x="9637776" y="3017520"/>
            <a:ext cx="1298448" cy="960120"/>
          </a:xfrm>
          <a:prstGeom prst="rect">
            <a:avLst/>
          </a:prstGeom>
          <a:noFill/>
          <a:ln/>
        </p:spPr>
        <p:txBody>
          <a:bodyPr wrap="square" lIns="0" tIns="0" rIns="0" bIns="0" rtlCol="0" anchor="ctr"/>
          <a:lstStyle/>
          <a:p>
            <a:pPr marL="0" indent="0">
              <a:buNone/>
            </a:pPr>
            <a:r>
              <a:rPr lang="en-US" sz="1060" dirty="0">
                <a:solidFill>
                  <a:srgbClr val="9FB0C6"/>
                </a:solidFill>
                <a:latin typeface="Aptos" pitchFamily="34" charset="0"/>
                <a:ea typeface="Aptos" pitchFamily="34" charset="-122"/>
                <a:cs typeface="Aptos" pitchFamily="34" charset="-120"/>
              </a:rPr>
              <a:t>Nous préparons surtout une chaîne capable d'évoluer ensuite.</a:t>
            </a:r>
            <a:endParaRPr lang="en-US" sz="1060" dirty="0"/>
          </a:p>
        </p:txBody>
      </p:sp>
      <p:sp>
        <p:nvSpPr>
          <p:cNvPr id="32" name="Shape 30"/>
          <p:cNvSpPr/>
          <p:nvPr/>
        </p:nvSpPr>
        <p:spPr>
          <a:xfrm>
            <a:off x="5632704" y="5321808"/>
            <a:ext cx="5577840" cy="658368"/>
          </a:xfrm>
          <a:prstGeom prst="roundRect">
            <a:avLst>
              <a:gd name="adj" fmla="val 11111"/>
            </a:avLst>
          </a:prstGeom>
          <a:solidFill>
            <a:srgbClr val="0C1626"/>
          </a:solidFill>
          <a:ln w="12700">
            <a:solidFill>
              <a:srgbClr val="23344C"/>
            </a:solidFill>
            <a:prstDash val="solid"/>
          </a:ln>
        </p:spPr>
        <p:txBody>
          <a:bodyPr/>
          <a:lstStyle/>
          <a:p>
            <a:endParaRPr lang="fr-FR"/>
          </a:p>
        </p:txBody>
      </p:sp>
      <p:sp>
        <p:nvSpPr>
          <p:cNvPr id="33" name="Text 31"/>
          <p:cNvSpPr/>
          <p:nvPr/>
        </p:nvSpPr>
        <p:spPr>
          <a:xfrm>
            <a:off x="5888736" y="5504688"/>
            <a:ext cx="5065776" cy="201168"/>
          </a:xfrm>
          <a:prstGeom prst="rect">
            <a:avLst/>
          </a:prstGeom>
          <a:noFill/>
          <a:ln/>
        </p:spPr>
        <p:txBody>
          <a:bodyPr wrap="square" lIns="0" tIns="0" rIns="0" bIns="0" rtlCol="0" anchor="ctr"/>
          <a:lstStyle/>
          <a:p>
            <a:pPr marL="0" indent="0">
              <a:buNone/>
            </a:pPr>
            <a:r>
              <a:rPr lang="en-US" sz="1100" dirty="0">
                <a:solidFill>
                  <a:srgbClr val="C9D4E3"/>
                </a:solidFill>
                <a:latin typeface="Aptos" pitchFamily="34" charset="0"/>
                <a:ea typeface="Aptos" pitchFamily="34" charset="-122"/>
                <a:cs typeface="Aptos" pitchFamily="34" charset="-120"/>
              </a:rPr>
              <a:t>Le fil conducteur de la soutenance est donc simple : prouver que la chaîne est lisible, exécutable et déjà pensée pour passer à l'échelle.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CADRE DU PROJET</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Ce que le projet demandait vraiment</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livrable porte surtout sur la chaîne de traitement et sur l'environnement cloud, pas sur la recherche du meilleur score final.</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2</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847088"/>
            <a:ext cx="3054096" cy="2999232"/>
          </a:xfrm>
          <a:prstGeom prst="roundRect">
            <a:avLst>
              <a:gd name="adj" fmla="val 3049"/>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856232"/>
            <a:ext cx="77724" cy="2980944"/>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Text 9"/>
          <p:cNvSpPr/>
          <p:nvPr/>
        </p:nvSpPr>
        <p:spPr>
          <a:xfrm>
            <a:off x="1005840" y="2139696"/>
            <a:ext cx="2194560" cy="182880"/>
          </a:xfrm>
          <a:prstGeom prst="rect">
            <a:avLst/>
          </a:prstGeom>
          <a:noFill/>
          <a:ln/>
        </p:spPr>
        <p:txBody>
          <a:bodyPr wrap="square" lIns="0" tIns="0" rIns="0" bIns="0" rtlCol="0" anchor="ctr"/>
          <a:lstStyle/>
          <a:p>
            <a:pPr marL="0" indent="0">
              <a:buNone/>
            </a:pPr>
            <a:r>
              <a:rPr lang="en-US" sz="1700" b="1" dirty="0">
                <a:solidFill>
                  <a:srgbClr val="F8FAFC"/>
                </a:solidFill>
                <a:latin typeface="Aptos Display" pitchFamily="34" charset="0"/>
                <a:ea typeface="Aptos Display" pitchFamily="34" charset="-122"/>
                <a:cs typeface="Aptos Display" pitchFamily="34" charset="-120"/>
              </a:rPr>
              <a:t>À produire</a:t>
            </a:r>
            <a:endParaRPr lang="en-US" sz="1700" dirty="0"/>
          </a:p>
        </p:txBody>
      </p:sp>
      <p:sp>
        <p:nvSpPr>
          <p:cNvPr id="12" name="Text 10"/>
          <p:cNvSpPr/>
          <p:nvPr/>
        </p:nvSpPr>
        <p:spPr>
          <a:xfrm>
            <a:off x="1005840" y="2596896"/>
            <a:ext cx="2487168" cy="932688"/>
          </a:xfrm>
          <a:prstGeom prst="rect">
            <a:avLst/>
          </a:prstGeom>
          <a:noFill/>
          <a:ln/>
        </p:spPr>
        <p:txBody>
          <a:bodyPr wrap="square" lIns="0" tIns="0" rIns="0" bIns="0" rtlCol="0" anchor="ctr"/>
          <a:lstStyle/>
          <a:p>
            <a:pPr marL="0" indent="0">
              <a:buNone/>
            </a:pPr>
            <a:r>
              <a:rPr lang="en-US" sz="1180" dirty="0">
                <a:solidFill>
                  <a:srgbClr val="F8FAFC"/>
                </a:solidFill>
                <a:latin typeface="Aptos" pitchFamily="34" charset="0"/>
                <a:ea typeface="Aptos" pitchFamily="34" charset="-122"/>
                <a:cs typeface="Aptos" pitchFamily="34" charset="-120"/>
              </a:rPr>
              <a:t>Nous devons fournir un notebook PySpark exécutable jusqu'à l'ACP, avec des données et des résultats organisés dans le cloud.</a:t>
            </a:r>
            <a:endParaRPr lang="en-US" sz="1180" dirty="0"/>
          </a:p>
        </p:txBody>
      </p:sp>
      <p:sp>
        <p:nvSpPr>
          <p:cNvPr id="13" name="Shape 11"/>
          <p:cNvSpPr/>
          <p:nvPr/>
        </p:nvSpPr>
        <p:spPr>
          <a:xfrm>
            <a:off x="4114800" y="1847088"/>
            <a:ext cx="3054096" cy="2999232"/>
          </a:xfrm>
          <a:prstGeom prst="roundRect">
            <a:avLst>
              <a:gd name="adj" fmla="val 3049"/>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4" name="Shape 12"/>
          <p:cNvSpPr/>
          <p:nvPr/>
        </p:nvSpPr>
        <p:spPr>
          <a:xfrm>
            <a:off x="4123944" y="1856232"/>
            <a:ext cx="77724" cy="2980944"/>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5" name="Text 13"/>
          <p:cNvSpPr/>
          <p:nvPr/>
        </p:nvSpPr>
        <p:spPr>
          <a:xfrm>
            <a:off x="4352544" y="2139696"/>
            <a:ext cx="2194560" cy="182880"/>
          </a:xfrm>
          <a:prstGeom prst="rect">
            <a:avLst/>
          </a:prstGeom>
          <a:noFill/>
          <a:ln/>
        </p:spPr>
        <p:txBody>
          <a:bodyPr wrap="square" lIns="0" tIns="0" rIns="0" bIns="0" rtlCol="0" anchor="ctr"/>
          <a:lstStyle/>
          <a:p>
            <a:pPr marL="0" indent="0">
              <a:buNone/>
            </a:pPr>
            <a:r>
              <a:rPr lang="en-US" sz="1700" b="1" dirty="0">
                <a:solidFill>
                  <a:srgbClr val="F8FAFC"/>
                </a:solidFill>
                <a:latin typeface="Aptos Display" pitchFamily="34" charset="0"/>
                <a:ea typeface="Aptos Display" pitchFamily="34" charset="-122"/>
                <a:cs typeface="Aptos Display" pitchFamily="34" charset="-120"/>
              </a:rPr>
              <a:t>À démontrer</a:t>
            </a:r>
            <a:endParaRPr lang="en-US" sz="1700" dirty="0"/>
          </a:p>
        </p:txBody>
      </p:sp>
      <p:sp>
        <p:nvSpPr>
          <p:cNvPr id="16" name="Text 14"/>
          <p:cNvSpPr/>
          <p:nvPr/>
        </p:nvSpPr>
        <p:spPr>
          <a:xfrm>
            <a:off x="4352544" y="2596896"/>
            <a:ext cx="2487168" cy="932688"/>
          </a:xfrm>
          <a:prstGeom prst="rect">
            <a:avLst/>
          </a:prstGeom>
          <a:noFill/>
          <a:ln/>
        </p:spPr>
        <p:txBody>
          <a:bodyPr wrap="square" lIns="0" tIns="0" rIns="0" bIns="0" rtlCol="0" anchor="ctr"/>
          <a:lstStyle/>
          <a:p>
            <a:pPr marL="0" indent="0">
              <a:buNone/>
            </a:pPr>
            <a:r>
              <a:rPr lang="en-US" sz="1180" dirty="0">
                <a:solidFill>
                  <a:srgbClr val="F8FAFC"/>
                </a:solidFill>
                <a:latin typeface="Aptos" pitchFamily="34" charset="0"/>
                <a:ea typeface="Aptos" pitchFamily="34" charset="-122"/>
                <a:cs typeface="Aptos" pitchFamily="34" charset="-120"/>
              </a:rPr>
              <a:t>Nous devons expliquer les briques AWS retenues, le rôle du script et la logique du pipeline PySpark.</a:t>
            </a:r>
            <a:endParaRPr lang="en-US" sz="1180" dirty="0"/>
          </a:p>
        </p:txBody>
      </p:sp>
      <p:sp>
        <p:nvSpPr>
          <p:cNvPr id="17" name="Shape 15"/>
          <p:cNvSpPr/>
          <p:nvPr/>
        </p:nvSpPr>
        <p:spPr>
          <a:xfrm>
            <a:off x="7461504" y="1847088"/>
            <a:ext cx="3054096" cy="2999232"/>
          </a:xfrm>
          <a:prstGeom prst="roundRect">
            <a:avLst>
              <a:gd name="adj" fmla="val 3049"/>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8" name="Shape 16"/>
          <p:cNvSpPr/>
          <p:nvPr/>
        </p:nvSpPr>
        <p:spPr>
          <a:xfrm>
            <a:off x="7470648" y="1856232"/>
            <a:ext cx="77724" cy="2980944"/>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9" name="Text 17"/>
          <p:cNvSpPr/>
          <p:nvPr/>
        </p:nvSpPr>
        <p:spPr>
          <a:xfrm>
            <a:off x="7699248" y="2139696"/>
            <a:ext cx="2194560" cy="182880"/>
          </a:xfrm>
          <a:prstGeom prst="rect">
            <a:avLst/>
          </a:prstGeom>
          <a:noFill/>
          <a:ln/>
        </p:spPr>
        <p:txBody>
          <a:bodyPr wrap="square" lIns="0" tIns="0" rIns="0" bIns="0" rtlCol="0" anchor="ctr"/>
          <a:lstStyle/>
          <a:p>
            <a:pPr marL="0" indent="0">
              <a:buNone/>
            </a:pPr>
            <a:r>
              <a:rPr lang="en-US" sz="1700" b="1" dirty="0">
                <a:solidFill>
                  <a:srgbClr val="F8FAFC"/>
                </a:solidFill>
                <a:latin typeface="Aptos Display" pitchFamily="34" charset="0"/>
                <a:ea typeface="Aptos Display" pitchFamily="34" charset="-122"/>
                <a:cs typeface="Aptos Display" pitchFamily="34" charset="-120"/>
              </a:rPr>
              <a:t>Hors périmètre</a:t>
            </a:r>
            <a:endParaRPr lang="en-US" sz="1700" dirty="0"/>
          </a:p>
        </p:txBody>
      </p:sp>
      <p:sp>
        <p:nvSpPr>
          <p:cNvPr id="20" name="Text 18"/>
          <p:cNvSpPr/>
          <p:nvPr/>
        </p:nvSpPr>
        <p:spPr>
          <a:xfrm>
            <a:off x="7699248" y="2596896"/>
            <a:ext cx="2487168" cy="932688"/>
          </a:xfrm>
          <a:prstGeom prst="rect">
            <a:avLst/>
          </a:prstGeom>
          <a:noFill/>
          <a:ln/>
        </p:spPr>
        <p:txBody>
          <a:bodyPr wrap="square" lIns="0" tIns="0" rIns="0" bIns="0" rtlCol="0" anchor="ctr"/>
          <a:lstStyle/>
          <a:p>
            <a:pPr marL="0" indent="0">
              <a:buNone/>
            </a:pPr>
            <a:r>
              <a:rPr lang="en-US" sz="1180" dirty="0">
                <a:solidFill>
                  <a:srgbClr val="F8FAFC"/>
                </a:solidFill>
                <a:latin typeface="Aptos" pitchFamily="34" charset="0"/>
                <a:ea typeface="Aptos" pitchFamily="34" charset="-122"/>
                <a:cs typeface="Aptos" pitchFamily="34" charset="-120"/>
              </a:rPr>
              <a:t>Nous ne devons pas encore entraîner le classifieur final ni comparer des performances détaillées de prédiction.</a:t>
            </a:r>
            <a:endParaRPr lang="en-US" sz="1180" dirty="0"/>
          </a:p>
        </p:txBody>
      </p:sp>
      <p:sp>
        <p:nvSpPr>
          <p:cNvPr id="21" name="Shape 19"/>
          <p:cNvSpPr/>
          <p:nvPr/>
        </p:nvSpPr>
        <p:spPr>
          <a:xfrm>
            <a:off x="969264" y="5340096"/>
            <a:ext cx="10259568" cy="658368"/>
          </a:xfrm>
          <a:prstGeom prst="roundRect">
            <a:avLst>
              <a:gd name="adj" fmla="val 11111"/>
            </a:avLst>
          </a:prstGeom>
          <a:solidFill>
            <a:srgbClr val="0C1626"/>
          </a:solidFill>
          <a:ln w="12700">
            <a:solidFill>
              <a:srgbClr val="23344C"/>
            </a:solidFill>
            <a:prstDash val="solid"/>
          </a:ln>
        </p:spPr>
        <p:txBody>
          <a:bodyPr/>
          <a:lstStyle/>
          <a:p>
            <a:endParaRPr lang="fr-FR"/>
          </a:p>
        </p:txBody>
      </p:sp>
      <p:sp>
        <p:nvSpPr>
          <p:cNvPr id="22" name="Text 20"/>
          <p:cNvSpPr/>
          <p:nvPr/>
        </p:nvSpPr>
        <p:spPr>
          <a:xfrm>
            <a:off x="1225296" y="5522976"/>
            <a:ext cx="9765792" cy="201168"/>
          </a:xfrm>
          <a:prstGeom prst="rect">
            <a:avLst/>
          </a:prstGeom>
          <a:noFill/>
          <a:ln/>
        </p:spPr>
        <p:txBody>
          <a:bodyPr wrap="square" lIns="0" tIns="0" rIns="0" bIns="0" rtlCol="0" anchor="ctr"/>
          <a:lstStyle/>
          <a:p>
            <a:pPr marL="0" indent="0">
              <a:buNone/>
            </a:pPr>
            <a:r>
              <a:rPr lang="en-US" sz="1100" dirty="0">
                <a:solidFill>
                  <a:srgbClr val="C9D4E3"/>
                </a:solidFill>
                <a:latin typeface="Aptos" pitchFamily="34" charset="0"/>
                <a:ea typeface="Aptos" pitchFamily="34" charset="-122"/>
                <a:cs typeface="Aptos" pitchFamily="34" charset="-120"/>
              </a:rPr>
              <a:t>Conséquence pratique : nous avons orienté le travail vers la clarté, la preuve d'exécution et la maîtrise des coûts, plutôt que vers un benchmark de classification.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CADRE DU PROJET</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Notre stratégie : valider en local, démontrer sur AWS</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Nous séparons volontairement la validation complète du pipeline et la démonstration cloud pour rester réalistes sur les coûts et le temps de calcul.</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3</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6382512" cy="4462272"/>
          </a:xfrm>
          <a:prstGeom prst="roundRect">
            <a:avLst>
              <a:gd name="adj" fmla="val 2049"/>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43984"/>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11" name="Image 0" descr="/mnt/data/ppt_v3_assets/charts/local_vs_cloud.png"/>
          <p:cNvPicPr>
            <a:picLocks noChangeAspect="1"/>
          </p:cNvPicPr>
          <p:nvPr/>
        </p:nvPicPr>
        <p:blipFill>
          <a:blip r:embed="rId3"/>
          <a:stretch>
            <a:fillRect/>
          </a:stretch>
        </p:blipFill>
        <p:spPr>
          <a:xfrm>
            <a:off x="932688" y="2099831"/>
            <a:ext cx="6053328" cy="3408146"/>
          </a:xfrm>
          <a:prstGeom prst="rect">
            <a:avLst/>
          </a:prstGeom>
        </p:spPr>
      </p:pic>
      <p:sp>
        <p:nvSpPr>
          <p:cNvPr id="12" name="Shape 9"/>
          <p:cNvSpPr/>
          <p:nvPr/>
        </p:nvSpPr>
        <p:spPr>
          <a:xfrm>
            <a:off x="7388352" y="1664208"/>
            <a:ext cx="4041648" cy="4462272"/>
          </a:xfrm>
          <a:prstGeom prst="roundRect">
            <a:avLst>
              <a:gd name="adj" fmla="val 2262"/>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3" name="Shape 10"/>
          <p:cNvSpPr/>
          <p:nvPr/>
        </p:nvSpPr>
        <p:spPr>
          <a:xfrm>
            <a:off x="7397496" y="1673352"/>
            <a:ext cx="77724" cy="4443984"/>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4" name="Text 11"/>
          <p:cNvSpPr/>
          <p:nvPr/>
        </p:nvSpPr>
        <p:spPr>
          <a:xfrm>
            <a:off x="7644384" y="1920240"/>
            <a:ext cx="3108960" cy="182880"/>
          </a:xfrm>
          <a:prstGeom prst="rect">
            <a:avLst/>
          </a:prstGeom>
          <a:noFill/>
          <a:ln/>
        </p:spPr>
        <p:txBody>
          <a:bodyPr wrap="square" lIns="0" tIns="0" rIns="0" bIns="0" rtlCol="0" anchor="ctr"/>
          <a:lstStyle/>
          <a:p>
            <a:pPr marL="0" indent="0">
              <a:buNone/>
            </a:pPr>
            <a:r>
              <a:rPr lang="en-US" sz="1100" b="1" dirty="0">
                <a:solidFill>
                  <a:srgbClr val="F1A43A"/>
                </a:solidFill>
                <a:latin typeface="Aptos" pitchFamily="34" charset="0"/>
                <a:ea typeface="Aptos" pitchFamily="34" charset="-122"/>
                <a:cs typeface="Aptos" pitchFamily="34" charset="-120"/>
              </a:rPr>
              <a:t>Pourquoi seulement 367 images sur AWS ?</a:t>
            </a:r>
            <a:endParaRPr lang="en-US" sz="1100" dirty="0"/>
          </a:p>
        </p:txBody>
      </p:sp>
      <p:sp>
        <p:nvSpPr>
          <p:cNvPr id="15" name="Text 12"/>
          <p:cNvSpPr/>
          <p:nvPr/>
        </p:nvSpPr>
        <p:spPr>
          <a:xfrm>
            <a:off x="7644384" y="2267712"/>
            <a:ext cx="3218688" cy="1005840"/>
          </a:xfrm>
          <a:prstGeom prst="rect">
            <a:avLst/>
          </a:prstGeom>
          <a:noFill/>
          <a:ln/>
        </p:spPr>
        <p:txBody>
          <a:bodyPr wrap="square" lIns="0" tIns="0" rIns="0" bIns="0" rtlCol="0" anchor="ctr"/>
          <a:lstStyle/>
          <a:p>
            <a:pPr marL="0" indent="0">
              <a:buNone/>
            </a:pPr>
            <a:r>
              <a:rPr lang="en-US" sz="1160" dirty="0">
                <a:solidFill>
                  <a:srgbClr val="F8FAFC"/>
                </a:solidFill>
                <a:latin typeface="Aptos" pitchFamily="34" charset="0"/>
                <a:ea typeface="Aptos" pitchFamily="34" charset="-122"/>
                <a:cs typeface="Aptos" pitchFamily="34" charset="-120"/>
              </a:rPr>
              <a:t>Ce choix est volontaire. Il suit la recommandation pédagogique de rester sur quelques centaines d'images afin d'éviter un cluster plus lent, plus coûteux et inutilement long à démontrer.</a:t>
            </a:r>
            <a:endParaRPr lang="en-US" sz="1160" dirty="0"/>
          </a:p>
        </p:txBody>
      </p:sp>
      <p:sp>
        <p:nvSpPr>
          <p:cNvPr id="16" name="Shape 13"/>
          <p:cNvSpPr/>
          <p:nvPr/>
        </p:nvSpPr>
        <p:spPr>
          <a:xfrm>
            <a:off x="7644384" y="3666744"/>
            <a:ext cx="100584" cy="100584"/>
          </a:xfrm>
          <a:prstGeom prst="ellipse">
            <a:avLst/>
          </a:prstGeom>
          <a:solidFill>
            <a:srgbClr val="19B67A">
              <a:alpha val="28000"/>
            </a:srgbClr>
          </a:solidFill>
          <a:ln w="12700">
            <a:solidFill>
              <a:srgbClr val="19B67A"/>
            </a:solidFill>
            <a:prstDash val="solid"/>
          </a:ln>
        </p:spPr>
        <p:txBody>
          <a:bodyPr/>
          <a:lstStyle/>
          <a:p>
            <a:endParaRPr lang="fr-FR"/>
          </a:p>
        </p:txBody>
      </p:sp>
      <p:sp>
        <p:nvSpPr>
          <p:cNvPr id="17" name="Text 14"/>
          <p:cNvSpPr/>
          <p:nvPr/>
        </p:nvSpPr>
        <p:spPr>
          <a:xfrm>
            <a:off x="7827264" y="3621024"/>
            <a:ext cx="2907792" cy="201168"/>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Le coût EMR reste raisonnable.</a:t>
            </a:r>
            <a:endParaRPr lang="en-US" sz="1080" dirty="0"/>
          </a:p>
        </p:txBody>
      </p:sp>
      <p:sp>
        <p:nvSpPr>
          <p:cNvPr id="18" name="Shape 15"/>
          <p:cNvSpPr/>
          <p:nvPr/>
        </p:nvSpPr>
        <p:spPr>
          <a:xfrm>
            <a:off x="7644384" y="4014216"/>
            <a:ext cx="100584" cy="100584"/>
          </a:xfrm>
          <a:prstGeom prst="ellipse">
            <a:avLst/>
          </a:prstGeom>
          <a:solidFill>
            <a:srgbClr val="60A5FA">
              <a:alpha val="28000"/>
            </a:srgbClr>
          </a:solidFill>
          <a:ln w="12700">
            <a:solidFill>
              <a:srgbClr val="60A5FA"/>
            </a:solidFill>
            <a:prstDash val="solid"/>
          </a:ln>
        </p:spPr>
        <p:txBody>
          <a:bodyPr/>
          <a:lstStyle/>
          <a:p>
            <a:endParaRPr lang="fr-FR"/>
          </a:p>
        </p:txBody>
      </p:sp>
      <p:sp>
        <p:nvSpPr>
          <p:cNvPr id="19" name="Text 16"/>
          <p:cNvSpPr/>
          <p:nvPr/>
        </p:nvSpPr>
        <p:spPr>
          <a:xfrm>
            <a:off x="7827264" y="3968496"/>
            <a:ext cx="2907792" cy="201168"/>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La soutenance reste fluide.</a:t>
            </a:r>
            <a:endParaRPr lang="en-US" sz="1080" dirty="0"/>
          </a:p>
        </p:txBody>
      </p:sp>
      <p:sp>
        <p:nvSpPr>
          <p:cNvPr id="20" name="Shape 17"/>
          <p:cNvSpPr/>
          <p:nvPr/>
        </p:nvSpPr>
        <p:spPr>
          <a:xfrm>
            <a:off x="7644384" y="4361688"/>
            <a:ext cx="100584" cy="100584"/>
          </a:xfrm>
          <a:prstGeom prst="ellipse">
            <a:avLst/>
          </a:prstGeom>
          <a:solidFill>
            <a:srgbClr val="A78BFA">
              <a:alpha val="28000"/>
            </a:srgbClr>
          </a:solidFill>
          <a:ln w="12700">
            <a:solidFill>
              <a:srgbClr val="A78BFA"/>
            </a:solidFill>
            <a:prstDash val="solid"/>
          </a:ln>
        </p:spPr>
        <p:txBody>
          <a:bodyPr/>
          <a:lstStyle/>
          <a:p>
            <a:endParaRPr lang="fr-FR"/>
          </a:p>
        </p:txBody>
      </p:sp>
      <p:sp>
        <p:nvSpPr>
          <p:cNvPr id="21" name="Text 18"/>
          <p:cNvSpPr/>
          <p:nvPr/>
        </p:nvSpPr>
        <p:spPr>
          <a:xfrm>
            <a:off x="7827264" y="4315968"/>
            <a:ext cx="2907792" cy="201168"/>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La preuve d'architecture reste complète.</a:t>
            </a:r>
            <a:endParaRPr lang="en-US" sz="1080" dirty="0"/>
          </a:p>
        </p:txBody>
      </p:sp>
      <p:sp>
        <p:nvSpPr>
          <p:cNvPr id="22" name="Shape 19"/>
          <p:cNvSpPr/>
          <p:nvPr/>
        </p:nvSpPr>
        <p:spPr>
          <a:xfrm>
            <a:off x="7644384" y="5010912"/>
            <a:ext cx="3163824" cy="768096"/>
          </a:xfrm>
          <a:prstGeom prst="roundRect">
            <a:avLst>
              <a:gd name="adj" fmla="val 9524"/>
            </a:avLst>
          </a:prstGeom>
          <a:solidFill>
            <a:srgbClr val="0C1626"/>
          </a:solidFill>
          <a:ln w="12700">
            <a:solidFill>
              <a:srgbClr val="23344C"/>
            </a:solidFill>
            <a:prstDash val="solid"/>
          </a:ln>
        </p:spPr>
        <p:txBody>
          <a:bodyPr/>
          <a:lstStyle/>
          <a:p>
            <a:endParaRPr lang="fr-FR"/>
          </a:p>
        </p:txBody>
      </p:sp>
      <p:sp>
        <p:nvSpPr>
          <p:cNvPr id="23" name="Text 20"/>
          <p:cNvSpPr/>
          <p:nvPr/>
        </p:nvSpPr>
        <p:spPr>
          <a:xfrm>
            <a:off x="7882128" y="5193792"/>
            <a:ext cx="2706624" cy="365760"/>
          </a:xfrm>
          <a:prstGeom prst="rect">
            <a:avLst/>
          </a:prstGeom>
          <a:noFill/>
          <a:ln/>
        </p:spPr>
        <p:txBody>
          <a:bodyPr wrap="square" lIns="0" tIns="0" rIns="0" bIns="0" rtlCol="0" anchor="ctr"/>
          <a:lstStyle/>
          <a:p>
            <a:pPr marL="0" indent="0">
              <a:buNone/>
            </a:pPr>
            <a:r>
              <a:rPr lang="en-US" sz="1040" dirty="0">
                <a:solidFill>
                  <a:srgbClr val="C9D4E3"/>
                </a:solidFill>
                <a:latin typeface="Aptos" pitchFamily="34" charset="0"/>
                <a:ea typeface="Aptos" pitchFamily="34" charset="-122"/>
                <a:cs typeface="Aptos" pitchFamily="34" charset="-120"/>
              </a:rPr>
              <a:t>Le local sert à prouver que le pipeline fonctionne sur le volume complet. Le cloud sert à prouver l'architecture EMR et S3 dans un cadre soutenable pour un projet étudiant.</a:t>
            </a:r>
            <a:endParaRPr lang="en-US" sz="10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CADRE DU PROJET</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Glossaire simple des briques techniques</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Nous définissons ici les termes les plus utiles pour que la suite reste lisible, même sans être spécialiste AWS.</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4</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719072"/>
            <a:ext cx="3337560" cy="1664208"/>
          </a:xfrm>
          <a:prstGeom prst="roundRect">
            <a:avLst>
              <a:gd name="adj" fmla="val 5495"/>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728216"/>
            <a:ext cx="77724" cy="1645920"/>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pic>
        <p:nvPicPr>
          <p:cNvPr id="11"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 y="2029968"/>
            <a:ext cx="749808" cy="749808"/>
          </a:xfrm>
          <a:prstGeom prst="rect">
            <a:avLst/>
          </a:prstGeom>
        </p:spPr>
      </p:pic>
      <p:sp>
        <p:nvSpPr>
          <p:cNvPr id="12" name="Text 9"/>
          <p:cNvSpPr/>
          <p:nvPr/>
        </p:nvSpPr>
        <p:spPr>
          <a:xfrm>
            <a:off x="1773936" y="2029968"/>
            <a:ext cx="914400" cy="182880"/>
          </a:xfrm>
          <a:prstGeom prst="rect">
            <a:avLst/>
          </a:prstGeom>
          <a:noFill/>
          <a:ln/>
        </p:spPr>
        <p:txBody>
          <a:bodyPr wrap="square" lIns="0" tIns="0" rIns="0" bIns="0" rtlCol="0" anchor="ctr"/>
          <a:lstStyle/>
          <a:p>
            <a:pPr marL="0" indent="0">
              <a:buNone/>
            </a:pPr>
            <a:r>
              <a:rPr lang="en-US" sz="1640" b="1" dirty="0">
                <a:solidFill>
                  <a:srgbClr val="F8FAFC"/>
                </a:solidFill>
                <a:latin typeface="Aptos Display" pitchFamily="34" charset="0"/>
                <a:ea typeface="Aptos Display" pitchFamily="34" charset="-122"/>
                <a:cs typeface="Aptos Display" pitchFamily="34" charset="-120"/>
              </a:rPr>
              <a:t>S3</a:t>
            </a:r>
            <a:endParaRPr lang="en-US" sz="1640" dirty="0"/>
          </a:p>
        </p:txBody>
      </p:sp>
      <p:sp>
        <p:nvSpPr>
          <p:cNvPr id="13" name="Text 10"/>
          <p:cNvSpPr/>
          <p:nvPr/>
        </p:nvSpPr>
        <p:spPr>
          <a:xfrm>
            <a:off x="1773936" y="2395728"/>
            <a:ext cx="1993392" cy="640080"/>
          </a:xfrm>
          <a:prstGeom prst="rect">
            <a:avLst/>
          </a:prstGeom>
          <a:noFill/>
          <a:ln/>
        </p:spPr>
        <p:txBody>
          <a:bodyPr wrap="square" lIns="0" tIns="0" rIns="0" bIns="0" rtlCol="0" anchor="ctr"/>
          <a:lstStyle/>
          <a:p>
            <a:pPr marL="0" indent="0">
              <a:buNone/>
            </a:pPr>
            <a:r>
              <a:rPr lang="en-US" sz="1070" dirty="0">
                <a:solidFill>
                  <a:srgbClr val="9FB0C6"/>
                </a:solidFill>
                <a:latin typeface="Aptos" pitchFamily="34" charset="0"/>
                <a:ea typeface="Aptos" pitchFamily="34" charset="-122"/>
                <a:cs typeface="Aptos" pitchFamily="34" charset="-120"/>
              </a:rPr>
              <a:t>Un espace de stockage dans le cloud. Nous y plaçons les images, le notebook, les logs et les résultats.</a:t>
            </a:r>
            <a:endParaRPr lang="en-US" sz="1070" dirty="0"/>
          </a:p>
        </p:txBody>
      </p:sp>
      <p:sp>
        <p:nvSpPr>
          <p:cNvPr id="14" name="Shape 11"/>
          <p:cNvSpPr/>
          <p:nvPr/>
        </p:nvSpPr>
        <p:spPr>
          <a:xfrm>
            <a:off x="4517136" y="1719072"/>
            <a:ext cx="3337560" cy="1664208"/>
          </a:xfrm>
          <a:prstGeom prst="roundRect">
            <a:avLst>
              <a:gd name="adj" fmla="val 5495"/>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5" name="Shape 12"/>
          <p:cNvSpPr/>
          <p:nvPr/>
        </p:nvSpPr>
        <p:spPr>
          <a:xfrm>
            <a:off x="4526280" y="1728216"/>
            <a:ext cx="77724" cy="1645920"/>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81728" y="2029968"/>
            <a:ext cx="749808" cy="749808"/>
          </a:xfrm>
          <a:prstGeom prst="rect">
            <a:avLst/>
          </a:prstGeom>
        </p:spPr>
      </p:pic>
      <p:sp>
        <p:nvSpPr>
          <p:cNvPr id="17" name="Text 13"/>
          <p:cNvSpPr/>
          <p:nvPr/>
        </p:nvSpPr>
        <p:spPr>
          <a:xfrm>
            <a:off x="5522976" y="2029968"/>
            <a:ext cx="914400" cy="182880"/>
          </a:xfrm>
          <a:prstGeom prst="rect">
            <a:avLst/>
          </a:prstGeom>
          <a:noFill/>
          <a:ln/>
        </p:spPr>
        <p:txBody>
          <a:bodyPr wrap="square" lIns="0" tIns="0" rIns="0" bIns="0" rtlCol="0" anchor="ctr"/>
          <a:lstStyle/>
          <a:p>
            <a:pPr marL="0" indent="0">
              <a:buNone/>
            </a:pPr>
            <a:r>
              <a:rPr lang="en-US" sz="1640" b="1" dirty="0">
                <a:solidFill>
                  <a:srgbClr val="F8FAFC"/>
                </a:solidFill>
                <a:latin typeface="Aptos Display" pitchFamily="34" charset="0"/>
                <a:ea typeface="Aptos Display" pitchFamily="34" charset="-122"/>
                <a:cs typeface="Aptos Display" pitchFamily="34" charset="-120"/>
              </a:rPr>
              <a:t>EMR</a:t>
            </a:r>
            <a:endParaRPr lang="en-US" sz="1640" dirty="0"/>
          </a:p>
        </p:txBody>
      </p:sp>
      <p:sp>
        <p:nvSpPr>
          <p:cNvPr id="18" name="Text 14"/>
          <p:cNvSpPr/>
          <p:nvPr/>
        </p:nvSpPr>
        <p:spPr>
          <a:xfrm>
            <a:off x="5522976" y="2395728"/>
            <a:ext cx="1993392" cy="640080"/>
          </a:xfrm>
          <a:prstGeom prst="rect">
            <a:avLst/>
          </a:prstGeom>
          <a:noFill/>
          <a:ln/>
        </p:spPr>
        <p:txBody>
          <a:bodyPr wrap="square" lIns="0" tIns="0" rIns="0" bIns="0" rtlCol="0" anchor="ctr"/>
          <a:lstStyle/>
          <a:p>
            <a:pPr marL="0" indent="0">
              <a:buNone/>
            </a:pPr>
            <a:r>
              <a:rPr lang="en-US" sz="1070" dirty="0">
                <a:solidFill>
                  <a:srgbClr val="9FB0C6"/>
                </a:solidFill>
                <a:latin typeface="Aptos" pitchFamily="34" charset="0"/>
                <a:ea typeface="Aptos" pitchFamily="34" charset="-122"/>
                <a:cs typeface="Aptos" pitchFamily="34" charset="-120"/>
              </a:rPr>
              <a:t>Un cluster AWS prêt à exécuter Spark, sans tout installer à la main sur une machine classique.</a:t>
            </a:r>
            <a:endParaRPr lang="en-US" sz="1070" dirty="0"/>
          </a:p>
        </p:txBody>
      </p:sp>
      <p:sp>
        <p:nvSpPr>
          <p:cNvPr id="19" name="Shape 15"/>
          <p:cNvSpPr/>
          <p:nvPr/>
        </p:nvSpPr>
        <p:spPr>
          <a:xfrm>
            <a:off x="8266176" y="1719072"/>
            <a:ext cx="3337560" cy="1664208"/>
          </a:xfrm>
          <a:prstGeom prst="roundRect">
            <a:avLst>
              <a:gd name="adj" fmla="val 5495"/>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0" name="Shape 16"/>
          <p:cNvSpPr/>
          <p:nvPr/>
        </p:nvSpPr>
        <p:spPr>
          <a:xfrm>
            <a:off x="8275320" y="1728216"/>
            <a:ext cx="77724" cy="1645920"/>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pic>
        <p:nvPicPr>
          <p:cNvPr id="2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30768" y="2029968"/>
            <a:ext cx="749808" cy="749808"/>
          </a:xfrm>
          <a:prstGeom prst="rect">
            <a:avLst/>
          </a:prstGeom>
        </p:spPr>
      </p:pic>
      <p:sp>
        <p:nvSpPr>
          <p:cNvPr id="22" name="Text 17"/>
          <p:cNvSpPr/>
          <p:nvPr/>
        </p:nvSpPr>
        <p:spPr>
          <a:xfrm>
            <a:off x="9272016" y="2029968"/>
            <a:ext cx="914400" cy="182880"/>
          </a:xfrm>
          <a:prstGeom prst="rect">
            <a:avLst/>
          </a:prstGeom>
          <a:noFill/>
          <a:ln/>
        </p:spPr>
        <p:txBody>
          <a:bodyPr wrap="square" lIns="0" tIns="0" rIns="0" bIns="0" rtlCol="0" anchor="ctr"/>
          <a:lstStyle/>
          <a:p>
            <a:pPr marL="0" indent="0">
              <a:buNone/>
            </a:pPr>
            <a:r>
              <a:rPr lang="en-US" sz="1640" b="1" dirty="0">
                <a:solidFill>
                  <a:srgbClr val="F8FAFC"/>
                </a:solidFill>
                <a:latin typeface="Aptos Display" pitchFamily="34" charset="0"/>
                <a:ea typeface="Aptos Display" pitchFamily="34" charset="-122"/>
                <a:cs typeface="Aptos Display" pitchFamily="34" charset="-120"/>
              </a:rPr>
              <a:t>IAM</a:t>
            </a:r>
            <a:endParaRPr lang="en-US" sz="1640" dirty="0"/>
          </a:p>
        </p:txBody>
      </p:sp>
      <p:sp>
        <p:nvSpPr>
          <p:cNvPr id="23" name="Text 18"/>
          <p:cNvSpPr/>
          <p:nvPr/>
        </p:nvSpPr>
        <p:spPr>
          <a:xfrm>
            <a:off x="9272016" y="2395728"/>
            <a:ext cx="1993392" cy="640080"/>
          </a:xfrm>
          <a:prstGeom prst="rect">
            <a:avLst/>
          </a:prstGeom>
          <a:noFill/>
          <a:ln/>
        </p:spPr>
        <p:txBody>
          <a:bodyPr wrap="square" lIns="0" tIns="0" rIns="0" bIns="0" rtlCol="0" anchor="ctr"/>
          <a:lstStyle/>
          <a:p>
            <a:pPr marL="0" indent="0">
              <a:buNone/>
            </a:pPr>
            <a:r>
              <a:rPr lang="en-US" sz="1070" dirty="0">
                <a:solidFill>
                  <a:srgbClr val="9FB0C6"/>
                </a:solidFill>
                <a:latin typeface="Aptos" pitchFamily="34" charset="0"/>
                <a:ea typeface="Aptos" pitchFamily="34" charset="-122"/>
                <a:cs typeface="Aptos" pitchFamily="34" charset="-120"/>
              </a:rPr>
              <a:t>Le service qui gère les identités et les droits d'accès aux ressources du projet.</a:t>
            </a:r>
            <a:endParaRPr lang="en-US" sz="1070" dirty="0"/>
          </a:p>
        </p:txBody>
      </p:sp>
      <p:sp>
        <p:nvSpPr>
          <p:cNvPr id="24" name="Shape 19"/>
          <p:cNvSpPr/>
          <p:nvPr/>
        </p:nvSpPr>
        <p:spPr>
          <a:xfrm>
            <a:off x="768096" y="3822192"/>
            <a:ext cx="3337560" cy="1664208"/>
          </a:xfrm>
          <a:prstGeom prst="roundRect">
            <a:avLst>
              <a:gd name="adj" fmla="val 5495"/>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5" name="Shape 20"/>
          <p:cNvSpPr/>
          <p:nvPr/>
        </p:nvSpPr>
        <p:spPr>
          <a:xfrm>
            <a:off x="777240" y="3831336"/>
            <a:ext cx="77724" cy="1645920"/>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pic>
        <p:nvPicPr>
          <p:cNvPr id="2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2688" y="4133088"/>
            <a:ext cx="749808" cy="749808"/>
          </a:xfrm>
          <a:prstGeom prst="rect">
            <a:avLst/>
          </a:prstGeom>
        </p:spPr>
      </p:pic>
      <p:sp>
        <p:nvSpPr>
          <p:cNvPr id="27" name="Text 21"/>
          <p:cNvSpPr/>
          <p:nvPr/>
        </p:nvSpPr>
        <p:spPr>
          <a:xfrm>
            <a:off x="1773936" y="4133088"/>
            <a:ext cx="914400" cy="182880"/>
          </a:xfrm>
          <a:prstGeom prst="rect">
            <a:avLst/>
          </a:prstGeom>
          <a:noFill/>
          <a:ln/>
        </p:spPr>
        <p:txBody>
          <a:bodyPr wrap="square" lIns="0" tIns="0" rIns="0" bIns="0" rtlCol="0" anchor="ctr"/>
          <a:lstStyle/>
          <a:p>
            <a:pPr marL="0" indent="0">
              <a:buNone/>
            </a:pPr>
            <a:r>
              <a:rPr lang="en-US" sz="1640" b="1" dirty="0">
                <a:solidFill>
                  <a:srgbClr val="F8FAFC"/>
                </a:solidFill>
                <a:latin typeface="Aptos Display" pitchFamily="34" charset="0"/>
                <a:ea typeface="Aptos Display" pitchFamily="34" charset="-122"/>
                <a:cs typeface="Aptos Display" pitchFamily="34" charset="-120"/>
              </a:rPr>
              <a:t>VPC</a:t>
            </a:r>
            <a:endParaRPr lang="en-US" sz="1640" dirty="0"/>
          </a:p>
        </p:txBody>
      </p:sp>
      <p:sp>
        <p:nvSpPr>
          <p:cNvPr id="28" name="Text 22"/>
          <p:cNvSpPr/>
          <p:nvPr/>
        </p:nvSpPr>
        <p:spPr>
          <a:xfrm>
            <a:off x="1773936" y="4498848"/>
            <a:ext cx="1993392" cy="640080"/>
          </a:xfrm>
          <a:prstGeom prst="rect">
            <a:avLst/>
          </a:prstGeom>
          <a:noFill/>
          <a:ln/>
        </p:spPr>
        <p:txBody>
          <a:bodyPr wrap="square" lIns="0" tIns="0" rIns="0" bIns="0" rtlCol="0" anchor="ctr"/>
          <a:lstStyle/>
          <a:p>
            <a:pPr marL="0" indent="0">
              <a:buNone/>
            </a:pPr>
            <a:r>
              <a:rPr lang="en-US" sz="1070" dirty="0">
                <a:solidFill>
                  <a:srgbClr val="9FB0C6"/>
                </a:solidFill>
                <a:latin typeface="Aptos" pitchFamily="34" charset="0"/>
                <a:ea typeface="Aptos" pitchFamily="34" charset="-122"/>
                <a:cs typeface="Aptos" pitchFamily="34" charset="-120"/>
              </a:rPr>
              <a:t>Le réseau privé qui encadre l'environnement du cluster et ses règles de sécurité.</a:t>
            </a:r>
            <a:endParaRPr lang="en-US" sz="1070" dirty="0"/>
          </a:p>
        </p:txBody>
      </p:sp>
      <p:sp>
        <p:nvSpPr>
          <p:cNvPr id="29" name="Shape 23"/>
          <p:cNvSpPr/>
          <p:nvPr/>
        </p:nvSpPr>
        <p:spPr>
          <a:xfrm>
            <a:off x="4517136" y="3822192"/>
            <a:ext cx="3337560" cy="1664208"/>
          </a:xfrm>
          <a:prstGeom prst="roundRect">
            <a:avLst>
              <a:gd name="adj" fmla="val 5495"/>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30" name="Shape 24"/>
          <p:cNvSpPr/>
          <p:nvPr/>
        </p:nvSpPr>
        <p:spPr>
          <a:xfrm>
            <a:off x="4526280" y="3831336"/>
            <a:ext cx="77724" cy="1645920"/>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pic>
        <p:nvPicPr>
          <p:cNvPr id="3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81728" y="4133088"/>
            <a:ext cx="749808" cy="749808"/>
          </a:xfrm>
          <a:prstGeom prst="rect">
            <a:avLst/>
          </a:prstGeom>
        </p:spPr>
      </p:pic>
      <p:sp>
        <p:nvSpPr>
          <p:cNvPr id="32" name="Text 25"/>
          <p:cNvSpPr/>
          <p:nvPr/>
        </p:nvSpPr>
        <p:spPr>
          <a:xfrm>
            <a:off x="5522976" y="4133088"/>
            <a:ext cx="914400" cy="182880"/>
          </a:xfrm>
          <a:prstGeom prst="rect">
            <a:avLst/>
          </a:prstGeom>
          <a:noFill/>
          <a:ln/>
        </p:spPr>
        <p:txBody>
          <a:bodyPr wrap="square" lIns="0" tIns="0" rIns="0" bIns="0" rtlCol="0" anchor="ctr"/>
          <a:lstStyle/>
          <a:p>
            <a:pPr marL="0" indent="0">
              <a:buNone/>
            </a:pPr>
            <a:r>
              <a:rPr lang="en-US" sz="1640" b="1" dirty="0">
                <a:solidFill>
                  <a:srgbClr val="F8FAFC"/>
                </a:solidFill>
                <a:latin typeface="Aptos Display" pitchFamily="34" charset="0"/>
                <a:ea typeface="Aptos Display" pitchFamily="34" charset="-122"/>
                <a:cs typeface="Aptos Display" pitchFamily="34" charset="-120"/>
              </a:rPr>
              <a:t>Spark</a:t>
            </a:r>
            <a:endParaRPr lang="en-US" sz="1640" dirty="0"/>
          </a:p>
        </p:txBody>
      </p:sp>
      <p:sp>
        <p:nvSpPr>
          <p:cNvPr id="33" name="Text 26"/>
          <p:cNvSpPr/>
          <p:nvPr/>
        </p:nvSpPr>
        <p:spPr>
          <a:xfrm>
            <a:off x="5522976" y="4498848"/>
            <a:ext cx="1993392" cy="640080"/>
          </a:xfrm>
          <a:prstGeom prst="rect">
            <a:avLst/>
          </a:prstGeom>
          <a:noFill/>
          <a:ln/>
        </p:spPr>
        <p:txBody>
          <a:bodyPr wrap="square" lIns="0" tIns="0" rIns="0" bIns="0" rtlCol="0" anchor="ctr"/>
          <a:lstStyle/>
          <a:p>
            <a:pPr marL="0" indent="0">
              <a:buNone/>
            </a:pPr>
            <a:r>
              <a:rPr lang="en-US" sz="1070" dirty="0">
                <a:solidFill>
                  <a:srgbClr val="9FB0C6"/>
                </a:solidFill>
                <a:latin typeface="Aptos" pitchFamily="34" charset="0"/>
                <a:ea typeface="Aptos" pitchFamily="34" charset="-122"/>
                <a:cs typeface="Aptos" pitchFamily="34" charset="-120"/>
              </a:rPr>
              <a:t>Le moteur de calcul distribué qui découpe le traitement et le fait tourner en parallèle.</a:t>
            </a:r>
            <a:endParaRPr lang="en-US" sz="1070" dirty="0"/>
          </a:p>
        </p:txBody>
      </p:sp>
      <p:sp>
        <p:nvSpPr>
          <p:cNvPr id="34" name="Shape 27"/>
          <p:cNvSpPr/>
          <p:nvPr/>
        </p:nvSpPr>
        <p:spPr>
          <a:xfrm>
            <a:off x="8266176" y="3822192"/>
            <a:ext cx="3337560" cy="1664208"/>
          </a:xfrm>
          <a:prstGeom prst="roundRect">
            <a:avLst>
              <a:gd name="adj" fmla="val 5495"/>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35" name="Shape 28"/>
          <p:cNvSpPr/>
          <p:nvPr/>
        </p:nvSpPr>
        <p:spPr>
          <a:xfrm>
            <a:off x="8275320" y="3831336"/>
            <a:ext cx="77724" cy="1645920"/>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36"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30768" y="4133088"/>
            <a:ext cx="749808" cy="749808"/>
          </a:xfrm>
          <a:prstGeom prst="rect">
            <a:avLst/>
          </a:prstGeom>
        </p:spPr>
      </p:pic>
      <p:sp>
        <p:nvSpPr>
          <p:cNvPr id="37" name="Text 29"/>
          <p:cNvSpPr/>
          <p:nvPr/>
        </p:nvSpPr>
        <p:spPr>
          <a:xfrm>
            <a:off x="9272016" y="4133088"/>
            <a:ext cx="914400" cy="182880"/>
          </a:xfrm>
          <a:prstGeom prst="rect">
            <a:avLst/>
          </a:prstGeom>
          <a:noFill/>
          <a:ln/>
        </p:spPr>
        <p:txBody>
          <a:bodyPr wrap="square" lIns="0" tIns="0" rIns="0" bIns="0" rtlCol="0" anchor="ctr"/>
          <a:lstStyle/>
          <a:p>
            <a:pPr marL="0" indent="0">
              <a:buNone/>
            </a:pPr>
            <a:r>
              <a:rPr lang="en-US" sz="1640" b="1" dirty="0">
                <a:solidFill>
                  <a:srgbClr val="F8FAFC"/>
                </a:solidFill>
                <a:latin typeface="Aptos Display" pitchFamily="34" charset="0"/>
                <a:ea typeface="Aptos Display" pitchFamily="34" charset="-122"/>
                <a:cs typeface="Aptos Display" pitchFamily="34" charset="-120"/>
              </a:rPr>
              <a:t>ACP</a:t>
            </a:r>
            <a:endParaRPr lang="en-US" sz="1640" dirty="0"/>
          </a:p>
        </p:txBody>
      </p:sp>
      <p:sp>
        <p:nvSpPr>
          <p:cNvPr id="38" name="Text 30"/>
          <p:cNvSpPr/>
          <p:nvPr/>
        </p:nvSpPr>
        <p:spPr>
          <a:xfrm>
            <a:off x="9272016" y="4498848"/>
            <a:ext cx="1993392" cy="640080"/>
          </a:xfrm>
          <a:prstGeom prst="rect">
            <a:avLst/>
          </a:prstGeom>
          <a:noFill/>
          <a:ln/>
        </p:spPr>
        <p:txBody>
          <a:bodyPr wrap="square" lIns="0" tIns="0" rIns="0" bIns="0" rtlCol="0" anchor="ctr"/>
          <a:lstStyle/>
          <a:p>
            <a:pPr marL="0" indent="0">
              <a:buNone/>
            </a:pPr>
            <a:r>
              <a:rPr lang="en-US" sz="1070" dirty="0">
                <a:solidFill>
                  <a:srgbClr val="9FB0C6"/>
                </a:solidFill>
                <a:latin typeface="Aptos" pitchFamily="34" charset="0"/>
                <a:ea typeface="Aptos" pitchFamily="34" charset="-122"/>
                <a:cs typeface="Aptos" pitchFamily="34" charset="-120"/>
              </a:rPr>
              <a:t>La méthode qui compresse l'information dans un nombre plus petit de composantes.</a:t>
            </a:r>
            <a:endParaRPr lang="en-US" sz="10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CADRE DU PROJET</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Architecture de bout en bout</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stockage, le calcul et les sorties sont volontairement séparés pour rester simples à expliquer et faciles à faire évoluer.</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5</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847088"/>
            <a:ext cx="1938528" cy="1426464"/>
          </a:xfrm>
          <a:prstGeom prst="roundRect">
            <a:avLst>
              <a:gd name="adj" fmla="val 641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856232"/>
            <a:ext cx="77724" cy="1408176"/>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Text 9"/>
          <p:cNvSpPr/>
          <p:nvPr/>
        </p:nvSpPr>
        <p:spPr>
          <a:xfrm>
            <a:off x="896112" y="2176272"/>
            <a:ext cx="1682496" cy="18288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Local</a:t>
            </a:r>
            <a:endParaRPr lang="en-US" sz="1520" dirty="0"/>
          </a:p>
        </p:txBody>
      </p:sp>
      <p:sp>
        <p:nvSpPr>
          <p:cNvPr id="12" name="Text 10"/>
          <p:cNvSpPr/>
          <p:nvPr/>
        </p:nvSpPr>
        <p:spPr>
          <a:xfrm>
            <a:off x="896112" y="2542032"/>
            <a:ext cx="1682496" cy="329184"/>
          </a:xfrm>
          <a:prstGeom prst="rect">
            <a:avLst/>
          </a:prstGeom>
          <a:noFill/>
          <a:ln/>
        </p:spPr>
        <p:txBody>
          <a:bodyPr wrap="square" lIns="0" tIns="0" rIns="0" bIns="0" rtlCol="0" anchor="ctr"/>
          <a:lstStyle/>
          <a:p>
            <a:pPr marL="0" indent="0" algn="ctr">
              <a:buNone/>
            </a:pPr>
            <a:r>
              <a:rPr lang="en-US" sz="1060" dirty="0">
                <a:solidFill>
                  <a:srgbClr val="9FB0C6"/>
                </a:solidFill>
                <a:latin typeface="Aptos" pitchFamily="34" charset="0"/>
                <a:ea typeface="Aptos" pitchFamily="34" charset="-122"/>
                <a:cs typeface="Aptos" pitchFamily="34" charset="-120"/>
              </a:rPr>
              <a:t>validation</a:t>
            </a:r>
            <a:endParaRPr lang="en-US" sz="1060" dirty="0"/>
          </a:p>
          <a:p>
            <a:pPr marL="0" indent="0" algn="ctr">
              <a:buNone/>
            </a:pPr>
            <a:r>
              <a:rPr lang="en-US" sz="1060" dirty="0">
                <a:solidFill>
                  <a:srgbClr val="9FB0C6"/>
                </a:solidFill>
                <a:latin typeface="Aptos" pitchFamily="34" charset="0"/>
                <a:ea typeface="Aptos" pitchFamily="34" charset="-122"/>
                <a:cs typeface="Aptos" pitchFamily="34" charset="-120"/>
              </a:rPr>
              <a:t>complète</a:t>
            </a:r>
            <a:endParaRPr lang="en-US" sz="1060" dirty="0"/>
          </a:p>
        </p:txBody>
      </p:sp>
      <p:sp>
        <p:nvSpPr>
          <p:cNvPr id="13" name="Shape 11"/>
          <p:cNvSpPr/>
          <p:nvPr/>
        </p:nvSpPr>
        <p:spPr>
          <a:xfrm>
            <a:off x="3017520" y="1847088"/>
            <a:ext cx="1938528" cy="1426464"/>
          </a:xfrm>
          <a:prstGeom prst="roundRect">
            <a:avLst>
              <a:gd name="adj" fmla="val 641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4" name="Shape 12"/>
          <p:cNvSpPr/>
          <p:nvPr/>
        </p:nvSpPr>
        <p:spPr>
          <a:xfrm>
            <a:off x="3026664" y="1856232"/>
            <a:ext cx="77724" cy="1408176"/>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5" name="Text 13"/>
          <p:cNvSpPr/>
          <p:nvPr/>
        </p:nvSpPr>
        <p:spPr>
          <a:xfrm>
            <a:off x="3145536" y="2176272"/>
            <a:ext cx="1682496" cy="18288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S3 / Test</a:t>
            </a:r>
            <a:endParaRPr lang="en-US" sz="1520" dirty="0"/>
          </a:p>
        </p:txBody>
      </p:sp>
      <p:sp>
        <p:nvSpPr>
          <p:cNvPr id="16" name="Text 14"/>
          <p:cNvSpPr/>
          <p:nvPr/>
        </p:nvSpPr>
        <p:spPr>
          <a:xfrm>
            <a:off x="3145536" y="2542032"/>
            <a:ext cx="1682496" cy="329184"/>
          </a:xfrm>
          <a:prstGeom prst="rect">
            <a:avLst/>
          </a:prstGeom>
          <a:noFill/>
          <a:ln/>
        </p:spPr>
        <p:txBody>
          <a:bodyPr wrap="square" lIns="0" tIns="0" rIns="0" bIns="0" rtlCol="0" anchor="ctr"/>
          <a:lstStyle/>
          <a:p>
            <a:pPr marL="0" indent="0" algn="ctr">
              <a:buNone/>
            </a:pPr>
            <a:r>
              <a:rPr lang="en-US" sz="1060" dirty="0">
                <a:solidFill>
                  <a:srgbClr val="9FB0C6"/>
                </a:solidFill>
                <a:latin typeface="Aptos" pitchFamily="34" charset="0"/>
                <a:ea typeface="Aptos" pitchFamily="34" charset="-122"/>
                <a:cs typeface="Aptos" pitchFamily="34" charset="-120"/>
              </a:rPr>
              <a:t>images +</a:t>
            </a:r>
            <a:endParaRPr lang="en-US" sz="1060" dirty="0"/>
          </a:p>
          <a:p>
            <a:pPr marL="0" indent="0" algn="ctr">
              <a:buNone/>
            </a:pPr>
            <a:r>
              <a:rPr lang="en-US" sz="1060" dirty="0">
                <a:solidFill>
                  <a:srgbClr val="9FB0C6"/>
                </a:solidFill>
                <a:latin typeface="Aptos" pitchFamily="34" charset="0"/>
                <a:ea typeface="Aptos" pitchFamily="34" charset="-122"/>
                <a:cs typeface="Aptos" pitchFamily="34" charset="-120"/>
              </a:rPr>
              <a:t>structure</a:t>
            </a:r>
            <a:endParaRPr lang="en-US" sz="1060" dirty="0"/>
          </a:p>
        </p:txBody>
      </p:sp>
      <p:sp>
        <p:nvSpPr>
          <p:cNvPr id="17" name="Shape 15"/>
          <p:cNvSpPr/>
          <p:nvPr/>
        </p:nvSpPr>
        <p:spPr>
          <a:xfrm>
            <a:off x="5266944" y="1847088"/>
            <a:ext cx="1938528" cy="1426464"/>
          </a:xfrm>
          <a:prstGeom prst="roundRect">
            <a:avLst>
              <a:gd name="adj" fmla="val 641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8" name="Shape 16"/>
          <p:cNvSpPr/>
          <p:nvPr/>
        </p:nvSpPr>
        <p:spPr>
          <a:xfrm>
            <a:off x="5276088" y="1856232"/>
            <a:ext cx="77724" cy="1408176"/>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9" name="Text 17"/>
          <p:cNvSpPr/>
          <p:nvPr/>
        </p:nvSpPr>
        <p:spPr>
          <a:xfrm>
            <a:off x="5394960" y="2176272"/>
            <a:ext cx="1682496" cy="18288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EMR</a:t>
            </a:r>
            <a:endParaRPr lang="en-US" sz="1520" dirty="0"/>
          </a:p>
        </p:txBody>
      </p:sp>
      <p:sp>
        <p:nvSpPr>
          <p:cNvPr id="20" name="Text 18"/>
          <p:cNvSpPr/>
          <p:nvPr/>
        </p:nvSpPr>
        <p:spPr>
          <a:xfrm>
            <a:off x="5394960" y="2542032"/>
            <a:ext cx="1682496" cy="329184"/>
          </a:xfrm>
          <a:prstGeom prst="rect">
            <a:avLst/>
          </a:prstGeom>
          <a:noFill/>
          <a:ln/>
        </p:spPr>
        <p:txBody>
          <a:bodyPr wrap="square" lIns="0" tIns="0" rIns="0" bIns="0" rtlCol="0" anchor="ctr"/>
          <a:lstStyle/>
          <a:p>
            <a:pPr marL="0" indent="0" algn="ctr">
              <a:buNone/>
            </a:pPr>
            <a:r>
              <a:rPr lang="en-US" sz="1060" dirty="0">
                <a:solidFill>
                  <a:srgbClr val="9FB0C6"/>
                </a:solidFill>
                <a:latin typeface="Aptos" pitchFamily="34" charset="0"/>
                <a:ea typeface="Aptos" pitchFamily="34" charset="-122"/>
                <a:cs typeface="Aptos" pitchFamily="34" charset="-120"/>
              </a:rPr>
              <a:t>notebook</a:t>
            </a:r>
            <a:endParaRPr lang="en-US" sz="1060" dirty="0"/>
          </a:p>
          <a:p>
            <a:pPr marL="0" indent="0" algn="ctr">
              <a:buNone/>
            </a:pPr>
            <a:r>
              <a:rPr lang="en-US" sz="1060" dirty="0">
                <a:solidFill>
                  <a:srgbClr val="9FB0C6"/>
                </a:solidFill>
                <a:latin typeface="Aptos" pitchFamily="34" charset="0"/>
                <a:ea typeface="Aptos" pitchFamily="34" charset="-122"/>
                <a:cs typeface="Aptos" pitchFamily="34" charset="-120"/>
              </a:rPr>
              <a:t>PySpark</a:t>
            </a:r>
            <a:endParaRPr lang="en-US" sz="1060" dirty="0"/>
          </a:p>
        </p:txBody>
      </p:sp>
      <p:sp>
        <p:nvSpPr>
          <p:cNvPr id="21" name="Shape 19"/>
          <p:cNvSpPr/>
          <p:nvPr/>
        </p:nvSpPr>
        <p:spPr>
          <a:xfrm>
            <a:off x="7516368" y="1847088"/>
            <a:ext cx="1938528" cy="1426464"/>
          </a:xfrm>
          <a:prstGeom prst="roundRect">
            <a:avLst>
              <a:gd name="adj" fmla="val 641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2" name="Shape 20"/>
          <p:cNvSpPr/>
          <p:nvPr/>
        </p:nvSpPr>
        <p:spPr>
          <a:xfrm>
            <a:off x="7525512" y="1856232"/>
            <a:ext cx="77724" cy="1408176"/>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3" name="Text 21"/>
          <p:cNvSpPr/>
          <p:nvPr/>
        </p:nvSpPr>
        <p:spPr>
          <a:xfrm>
            <a:off x="7644384" y="2176272"/>
            <a:ext cx="1682496" cy="18288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Results</a:t>
            </a:r>
            <a:endParaRPr lang="en-US" sz="1520" dirty="0"/>
          </a:p>
        </p:txBody>
      </p:sp>
      <p:sp>
        <p:nvSpPr>
          <p:cNvPr id="24" name="Text 22"/>
          <p:cNvSpPr/>
          <p:nvPr/>
        </p:nvSpPr>
        <p:spPr>
          <a:xfrm>
            <a:off x="7644384" y="2542032"/>
            <a:ext cx="1682496" cy="329184"/>
          </a:xfrm>
          <a:prstGeom prst="rect">
            <a:avLst/>
          </a:prstGeom>
          <a:noFill/>
          <a:ln/>
        </p:spPr>
        <p:txBody>
          <a:bodyPr wrap="square" lIns="0" tIns="0" rIns="0" bIns="0" rtlCol="0" anchor="ctr"/>
          <a:lstStyle/>
          <a:p>
            <a:pPr marL="0" indent="0" algn="ctr">
              <a:buNone/>
            </a:pPr>
            <a:r>
              <a:rPr lang="en-US" sz="1060" dirty="0">
                <a:solidFill>
                  <a:srgbClr val="9FB0C6"/>
                </a:solidFill>
                <a:latin typeface="Aptos" pitchFamily="34" charset="0"/>
                <a:ea typeface="Aptos" pitchFamily="34" charset="-122"/>
                <a:cs typeface="Aptos" pitchFamily="34" charset="-120"/>
              </a:rPr>
              <a:t>features</a:t>
            </a:r>
            <a:endParaRPr lang="en-US" sz="1060" dirty="0"/>
          </a:p>
          <a:p>
            <a:pPr marL="0" indent="0" algn="ctr">
              <a:buNone/>
            </a:pPr>
            <a:r>
              <a:rPr lang="en-US" sz="1060" dirty="0">
                <a:solidFill>
                  <a:srgbClr val="9FB0C6"/>
                </a:solidFill>
                <a:latin typeface="Aptos" pitchFamily="34" charset="0"/>
                <a:ea typeface="Aptos" pitchFamily="34" charset="-122"/>
                <a:cs typeface="Aptos" pitchFamily="34" charset="-120"/>
              </a:rPr>
              <a:t>parquet</a:t>
            </a:r>
            <a:endParaRPr lang="en-US" sz="1060" dirty="0"/>
          </a:p>
        </p:txBody>
      </p:sp>
      <p:sp>
        <p:nvSpPr>
          <p:cNvPr id="25" name="Shape 23"/>
          <p:cNvSpPr/>
          <p:nvPr/>
        </p:nvSpPr>
        <p:spPr>
          <a:xfrm>
            <a:off x="9765792" y="1847088"/>
            <a:ext cx="1938528" cy="1426464"/>
          </a:xfrm>
          <a:prstGeom prst="roundRect">
            <a:avLst>
              <a:gd name="adj" fmla="val 641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6" name="Shape 24"/>
          <p:cNvSpPr/>
          <p:nvPr/>
        </p:nvSpPr>
        <p:spPr>
          <a:xfrm>
            <a:off x="9774936" y="1856232"/>
            <a:ext cx="77724" cy="1408176"/>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27" name="Text 25"/>
          <p:cNvSpPr/>
          <p:nvPr/>
        </p:nvSpPr>
        <p:spPr>
          <a:xfrm>
            <a:off x="9893808" y="2176272"/>
            <a:ext cx="1682496" cy="18288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Results_PCA</a:t>
            </a:r>
            <a:endParaRPr lang="en-US" sz="1520" dirty="0"/>
          </a:p>
        </p:txBody>
      </p:sp>
      <p:sp>
        <p:nvSpPr>
          <p:cNvPr id="28" name="Text 26"/>
          <p:cNvSpPr/>
          <p:nvPr/>
        </p:nvSpPr>
        <p:spPr>
          <a:xfrm>
            <a:off x="9893808" y="2542032"/>
            <a:ext cx="1682496" cy="329184"/>
          </a:xfrm>
          <a:prstGeom prst="rect">
            <a:avLst/>
          </a:prstGeom>
          <a:noFill/>
          <a:ln/>
        </p:spPr>
        <p:txBody>
          <a:bodyPr wrap="square" lIns="0" tIns="0" rIns="0" bIns="0" rtlCol="0" anchor="ctr"/>
          <a:lstStyle/>
          <a:p>
            <a:pPr marL="0" indent="0" algn="ctr">
              <a:buNone/>
            </a:pPr>
            <a:r>
              <a:rPr lang="en-US" sz="1060" dirty="0">
                <a:solidFill>
                  <a:srgbClr val="9FB0C6"/>
                </a:solidFill>
                <a:latin typeface="Aptos" pitchFamily="34" charset="0"/>
                <a:ea typeface="Aptos" pitchFamily="34" charset="-122"/>
                <a:cs typeface="Aptos" pitchFamily="34" charset="-120"/>
              </a:rPr>
              <a:t>ACP en</a:t>
            </a:r>
            <a:endParaRPr lang="en-US" sz="1060" dirty="0"/>
          </a:p>
          <a:p>
            <a:pPr marL="0" indent="0" algn="ctr">
              <a:buNone/>
            </a:pPr>
            <a:r>
              <a:rPr lang="en-US" sz="1060" dirty="0">
                <a:solidFill>
                  <a:srgbClr val="9FB0C6"/>
                </a:solidFill>
                <a:latin typeface="Aptos" pitchFamily="34" charset="0"/>
                <a:ea typeface="Aptos" pitchFamily="34" charset="-122"/>
                <a:cs typeface="Aptos" pitchFamily="34" charset="-120"/>
              </a:rPr>
              <a:t>50 dims</a:t>
            </a:r>
            <a:endParaRPr lang="en-US" sz="1060" dirty="0"/>
          </a:p>
        </p:txBody>
      </p:sp>
      <p:sp>
        <p:nvSpPr>
          <p:cNvPr id="29" name="Shape 27"/>
          <p:cNvSpPr/>
          <p:nvPr/>
        </p:nvSpPr>
        <p:spPr>
          <a:xfrm>
            <a:off x="1078992" y="4005072"/>
            <a:ext cx="4389120" cy="1298448"/>
          </a:xfrm>
          <a:prstGeom prst="roundRect">
            <a:avLst>
              <a:gd name="adj" fmla="val 7042"/>
            </a:avLst>
          </a:prstGeom>
          <a:solidFill>
            <a:srgbClr val="0F1A2B"/>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30" name="Shape 28"/>
          <p:cNvSpPr/>
          <p:nvPr/>
        </p:nvSpPr>
        <p:spPr>
          <a:xfrm>
            <a:off x="1088136" y="4014216"/>
            <a:ext cx="77724" cy="1280160"/>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31" name="Text 29"/>
          <p:cNvSpPr/>
          <p:nvPr/>
        </p:nvSpPr>
        <p:spPr>
          <a:xfrm>
            <a:off x="1335024" y="4261104"/>
            <a:ext cx="1828800" cy="164592"/>
          </a:xfrm>
          <a:prstGeom prst="rect">
            <a:avLst/>
          </a:prstGeom>
          <a:noFill/>
          <a:ln/>
        </p:spPr>
        <p:txBody>
          <a:bodyPr wrap="square" lIns="0" tIns="0" rIns="0" bIns="0" rtlCol="0" anchor="ctr"/>
          <a:lstStyle/>
          <a:p>
            <a:pPr marL="0" indent="0">
              <a:buNone/>
            </a:pPr>
            <a:r>
              <a:rPr lang="en-US" sz="1080" b="1" dirty="0">
                <a:solidFill>
                  <a:srgbClr val="60A5FA"/>
                </a:solidFill>
                <a:latin typeface="Aptos" pitchFamily="34" charset="0"/>
                <a:ea typeface="Aptos" pitchFamily="34" charset="-122"/>
                <a:cs typeface="Aptos" pitchFamily="34" charset="-120"/>
              </a:rPr>
              <a:t>Briques transverses</a:t>
            </a:r>
            <a:endParaRPr lang="en-US" sz="1080" dirty="0"/>
          </a:p>
        </p:txBody>
      </p:sp>
      <p:sp>
        <p:nvSpPr>
          <p:cNvPr id="32" name="Text 30"/>
          <p:cNvSpPr/>
          <p:nvPr/>
        </p:nvSpPr>
        <p:spPr>
          <a:xfrm>
            <a:off x="1335024" y="4572000"/>
            <a:ext cx="3749040" cy="493776"/>
          </a:xfrm>
          <a:prstGeom prst="rect">
            <a:avLst/>
          </a:prstGeom>
          <a:noFill/>
          <a:ln/>
        </p:spPr>
        <p:txBody>
          <a:bodyPr wrap="square" lIns="0" tIns="0" rIns="0" bIns="0" rtlCol="0" anchor="ctr"/>
          <a:lstStyle/>
          <a:p>
            <a:pPr marL="0" indent="0">
              <a:buNone/>
            </a:pPr>
            <a:r>
              <a:rPr lang="en-US" sz="1070" dirty="0">
                <a:solidFill>
                  <a:srgbClr val="F8FAFC"/>
                </a:solidFill>
                <a:latin typeface="Aptos" pitchFamily="34" charset="0"/>
                <a:ea typeface="Aptos" pitchFamily="34" charset="-122"/>
                <a:cs typeface="Aptos" pitchFamily="34" charset="-120"/>
              </a:rPr>
              <a:t>IAM gère les autorisations. Le VPC et les groupes de sécurité cadrent le réseau. Ces briques ne transforment pas les images, mais elles rendent l'environnement cohérent et sécurisé.</a:t>
            </a:r>
            <a:endParaRPr lang="en-US" sz="1070" dirty="0"/>
          </a:p>
        </p:txBody>
      </p:sp>
      <p:sp>
        <p:nvSpPr>
          <p:cNvPr id="33" name="Shape 31"/>
          <p:cNvSpPr/>
          <p:nvPr/>
        </p:nvSpPr>
        <p:spPr>
          <a:xfrm>
            <a:off x="5742432" y="4005072"/>
            <a:ext cx="4828032" cy="1298448"/>
          </a:xfrm>
          <a:prstGeom prst="roundRect">
            <a:avLst>
              <a:gd name="adj" fmla="val 7042"/>
            </a:avLst>
          </a:prstGeom>
          <a:solidFill>
            <a:srgbClr val="0F1A2B"/>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34" name="Shape 32"/>
          <p:cNvSpPr/>
          <p:nvPr/>
        </p:nvSpPr>
        <p:spPr>
          <a:xfrm>
            <a:off x="5751576" y="4014216"/>
            <a:ext cx="77724" cy="1280160"/>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35" name="Text 33"/>
          <p:cNvSpPr/>
          <p:nvPr/>
        </p:nvSpPr>
        <p:spPr>
          <a:xfrm>
            <a:off x="5998464" y="4261104"/>
            <a:ext cx="1554480" cy="164592"/>
          </a:xfrm>
          <a:prstGeom prst="rect">
            <a:avLst/>
          </a:prstGeom>
          <a:noFill/>
          <a:ln/>
        </p:spPr>
        <p:txBody>
          <a:bodyPr wrap="square" lIns="0" tIns="0" rIns="0" bIns="0" rtlCol="0" anchor="ctr"/>
          <a:lstStyle/>
          <a:p>
            <a:pPr marL="0" indent="0">
              <a:buNone/>
            </a:pPr>
            <a:r>
              <a:rPr lang="en-US" sz="1080" b="1" dirty="0">
                <a:solidFill>
                  <a:srgbClr val="F1A43A"/>
                </a:solidFill>
                <a:latin typeface="Aptos" pitchFamily="34" charset="0"/>
                <a:ea typeface="Aptos" pitchFamily="34" charset="-122"/>
                <a:cs typeface="Aptos" pitchFamily="34" charset="-120"/>
              </a:rPr>
              <a:t>Contrainte RGPD</a:t>
            </a:r>
            <a:endParaRPr lang="en-US" sz="1080" dirty="0"/>
          </a:p>
        </p:txBody>
      </p:sp>
      <p:sp>
        <p:nvSpPr>
          <p:cNvPr id="36" name="Text 34"/>
          <p:cNvSpPr/>
          <p:nvPr/>
        </p:nvSpPr>
        <p:spPr>
          <a:xfrm>
            <a:off x="5998464" y="4572000"/>
            <a:ext cx="3182112" cy="457200"/>
          </a:xfrm>
          <a:prstGeom prst="rect">
            <a:avLst/>
          </a:prstGeom>
          <a:noFill/>
          <a:ln/>
        </p:spPr>
        <p:txBody>
          <a:bodyPr wrap="square" lIns="0" tIns="0" rIns="0" bIns="0" rtlCol="0" anchor="ctr"/>
          <a:lstStyle/>
          <a:p>
            <a:pPr marL="0" indent="0">
              <a:buNone/>
            </a:pPr>
            <a:r>
              <a:rPr lang="en-US" sz="1070" dirty="0">
                <a:solidFill>
                  <a:srgbClr val="F8FAFC"/>
                </a:solidFill>
                <a:latin typeface="Aptos" pitchFamily="34" charset="0"/>
                <a:ea typeface="Aptos" pitchFamily="34" charset="-122"/>
                <a:cs typeface="Aptos" pitchFamily="34" charset="-120"/>
              </a:rPr>
              <a:t>Le déploiement a été effectué en Europe, en région eu-west-3. Nous gardons ainsi les ressources de démonstration sur un territoire européen.</a:t>
            </a:r>
            <a:endParaRPr lang="en-US" sz="1070" dirty="0"/>
          </a:p>
        </p:txBody>
      </p:sp>
      <p:sp>
        <p:nvSpPr>
          <p:cNvPr id="37" name="Shape 35"/>
          <p:cNvSpPr/>
          <p:nvPr/>
        </p:nvSpPr>
        <p:spPr>
          <a:xfrm>
            <a:off x="896112" y="5632704"/>
            <a:ext cx="10424160" cy="493776"/>
          </a:xfrm>
          <a:prstGeom prst="roundRect">
            <a:avLst>
              <a:gd name="adj" fmla="val 14815"/>
            </a:avLst>
          </a:prstGeom>
          <a:solidFill>
            <a:srgbClr val="0C1626"/>
          </a:solidFill>
          <a:ln w="12700">
            <a:solidFill>
              <a:srgbClr val="23344C"/>
            </a:solidFill>
            <a:prstDash val="solid"/>
          </a:ln>
        </p:spPr>
        <p:txBody>
          <a:bodyPr/>
          <a:lstStyle/>
          <a:p>
            <a:endParaRPr lang="fr-FR"/>
          </a:p>
        </p:txBody>
      </p:sp>
      <p:sp>
        <p:nvSpPr>
          <p:cNvPr id="38" name="Text 36"/>
          <p:cNvSpPr/>
          <p:nvPr/>
        </p:nvSpPr>
        <p:spPr>
          <a:xfrm>
            <a:off x="1133856" y="5779008"/>
            <a:ext cx="9930384" cy="164592"/>
          </a:xfrm>
          <a:prstGeom prst="rect">
            <a:avLst/>
          </a:prstGeom>
          <a:noFill/>
          <a:ln/>
        </p:spPr>
        <p:txBody>
          <a:bodyPr wrap="square" lIns="0" tIns="0" rIns="0" bIns="0" rtlCol="0" anchor="ctr"/>
          <a:lstStyle/>
          <a:p>
            <a:pPr marL="0" indent="0">
              <a:buNone/>
            </a:pPr>
            <a:r>
              <a:rPr lang="en-US" sz="1070" dirty="0">
                <a:solidFill>
                  <a:srgbClr val="C9D4E3"/>
                </a:solidFill>
                <a:latin typeface="Aptos" pitchFamily="34" charset="0"/>
                <a:ea typeface="Aptos" pitchFamily="34" charset="-122"/>
                <a:cs typeface="Aptos" pitchFamily="34" charset="-120"/>
              </a:rPr>
              <a:t>Lecture simple à retenir : S3 stocke, EMR calcule, puis les sorties repartent dans S3. Cette séparation correspond exactement à l'objectif du projet.</a:t>
            </a:r>
            <a:endParaRPr lang="en-US" sz="10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CADRE DU PROJET</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Pourquoi ces choix techniques ?</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Chaque brique répond à un besoin précis : stocker, calculer, réutiliser un modèle déjà entraîné, puis compresser la sortie.</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6</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719072"/>
            <a:ext cx="10661904" cy="4224528"/>
          </a:xfrm>
          <a:prstGeom prst="roundRect">
            <a:avLst>
              <a:gd name="adj" fmla="val 2165"/>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728216"/>
            <a:ext cx="77724" cy="4206240"/>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Shape 9"/>
          <p:cNvSpPr/>
          <p:nvPr/>
        </p:nvSpPr>
        <p:spPr>
          <a:xfrm>
            <a:off x="987552" y="2029968"/>
            <a:ext cx="2606040" cy="384048"/>
          </a:xfrm>
          <a:prstGeom prst="rect">
            <a:avLst/>
          </a:prstGeom>
          <a:solidFill>
            <a:srgbClr val="0B1627"/>
          </a:solidFill>
          <a:ln w="12700">
            <a:solidFill>
              <a:srgbClr val="22344D"/>
            </a:solidFill>
            <a:prstDash val="solid"/>
          </a:ln>
        </p:spPr>
        <p:txBody>
          <a:bodyPr/>
          <a:lstStyle/>
          <a:p>
            <a:endParaRPr lang="fr-FR"/>
          </a:p>
        </p:txBody>
      </p:sp>
      <p:sp>
        <p:nvSpPr>
          <p:cNvPr id="12" name="Text 10"/>
          <p:cNvSpPr/>
          <p:nvPr/>
        </p:nvSpPr>
        <p:spPr>
          <a:xfrm>
            <a:off x="1060704" y="2075688"/>
            <a:ext cx="2459736" cy="292608"/>
          </a:xfrm>
          <a:prstGeom prst="rect">
            <a:avLst/>
          </a:prstGeom>
          <a:noFill/>
          <a:ln/>
        </p:spPr>
        <p:txBody>
          <a:bodyPr wrap="square" lIns="0" tIns="0" rIns="0" bIns="0" rtlCol="0" anchor="ctr"/>
          <a:lstStyle/>
          <a:p>
            <a:pPr marL="0" indent="0">
              <a:buNone/>
            </a:pPr>
            <a:r>
              <a:rPr lang="en-US" sz="1040" b="1" dirty="0">
                <a:solidFill>
                  <a:srgbClr val="F8FAFC"/>
                </a:solidFill>
                <a:latin typeface="Aptos" pitchFamily="34" charset="0"/>
                <a:ea typeface="Aptos" pitchFamily="34" charset="-122"/>
                <a:cs typeface="Aptos" pitchFamily="34" charset="-120"/>
              </a:rPr>
              <a:t>Besoin</a:t>
            </a:r>
            <a:endParaRPr lang="en-US" sz="1040" dirty="0"/>
          </a:p>
        </p:txBody>
      </p:sp>
      <p:sp>
        <p:nvSpPr>
          <p:cNvPr id="13" name="Shape 11"/>
          <p:cNvSpPr/>
          <p:nvPr/>
        </p:nvSpPr>
        <p:spPr>
          <a:xfrm>
            <a:off x="3593592" y="2029968"/>
            <a:ext cx="1737360" cy="384048"/>
          </a:xfrm>
          <a:prstGeom prst="rect">
            <a:avLst/>
          </a:prstGeom>
          <a:solidFill>
            <a:srgbClr val="0B1627"/>
          </a:solidFill>
          <a:ln w="12700">
            <a:solidFill>
              <a:srgbClr val="22344D"/>
            </a:solidFill>
            <a:prstDash val="solid"/>
          </a:ln>
        </p:spPr>
        <p:txBody>
          <a:bodyPr/>
          <a:lstStyle/>
          <a:p>
            <a:endParaRPr lang="fr-FR"/>
          </a:p>
        </p:txBody>
      </p:sp>
      <p:sp>
        <p:nvSpPr>
          <p:cNvPr id="14" name="Text 12"/>
          <p:cNvSpPr/>
          <p:nvPr/>
        </p:nvSpPr>
        <p:spPr>
          <a:xfrm>
            <a:off x="3666744" y="2075688"/>
            <a:ext cx="1591056" cy="292608"/>
          </a:xfrm>
          <a:prstGeom prst="rect">
            <a:avLst/>
          </a:prstGeom>
          <a:noFill/>
          <a:ln/>
        </p:spPr>
        <p:txBody>
          <a:bodyPr wrap="square" lIns="0" tIns="0" rIns="0" bIns="0" rtlCol="0" anchor="ctr"/>
          <a:lstStyle/>
          <a:p>
            <a:pPr marL="0" indent="0">
              <a:buNone/>
            </a:pPr>
            <a:r>
              <a:rPr lang="en-US" sz="1040" b="1" dirty="0">
                <a:solidFill>
                  <a:srgbClr val="F8FAFC"/>
                </a:solidFill>
                <a:latin typeface="Aptos" pitchFamily="34" charset="0"/>
                <a:ea typeface="Aptos" pitchFamily="34" charset="-122"/>
                <a:cs typeface="Aptos" pitchFamily="34" charset="-120"/>
              </a:rPr>
              <a:t>Choix</a:t>
            </a:r>
            <a:endParaRPr lang="en-US" sz="1040" dirty="0"/>
          </a:p>
        </p:txBody>
      </p:sp>
      <p:sp>
        <p:nvSpPr>
          <p:cNvPr id="15" name="Shape 13"/>
          <p:cNvSpPr/>
          <p:nvPr/>
        </p:nvSpPr>
        <p:spPr>
          <a:xfrm>
            <a:off x="5330952" y="2029968"/>
            <a:ext cx="5852160" cy="384048"/>
          </a:xfrm>
          <a:prstGeom prst="rect">
            <a:avLst/>
          </a:prstGeom>
          <a:solidFill>
            <a:srgbClr val="0B1627"/>
          </a:solidFill>
          <a:ln w="12700">
            <a:solidFill>
              <a:srgbClr val="22344D"/>
            </a:solidFill>
            <a:prstDash val="solid"/>
          </a:ln>
        </p:spPr>
        <p:txBody>
          <a:bodyPr/>
          <a:lstStyle/>
          <a:p>
            <a:endParaRPr lang="fr-FR"/>
          </a:p>
        </p:txBody>
      </p:sp>
      <p:sp>
        <p:nvSpPr>
          <p:cNvPr id="16" name="Text 14"/>
          <p:cNvSpPr/>
          <p:nvPr/>
        </p:nvSpPr>
        <p:spPr>
          <a:xfrm>
            <a:off x="5404104" y="2075688"/>
            <a:ext cx="5705856" cy="292608"/>
          </a:xfrm>
          <a:prstGeom prst="rect">
            <a:avLst/>
          </a:prstGeom>
          <a:noFill/>
          <a:ln/>
        </p:spPr>
        <p:txBody>
          <a:bodyPr wrap="square" lIns="0" tIns="0" rIns="0" bIns="0" rtlCol="0" anchor="ctr"/>
          <a:lstStyle/>
          <a:p>
            <a:pPr marL="0" indent="0">
              <a:buNone/>
            </a:pPr>
            <a:r>
              <a:rPr lang="en-US" sz="1040" b="1" dirty="0">
                <a:solidFill>
                  <a:srgbClr val="F8FAFC"/>
                </a:solidFill>
                <a:latin typeface="Aptos" pitchFamily="34" charset="0"/>
                <a:ea typeface="Aptos" pitchFamily="34" charset="-122"/>
                <a:cs typeface="Aptos" pitchFamily="34" charset="-120"/>
              </a:rPr>
              <a:t>Ce que cela apporte</a:t>
            </a:r>
            <a:endParaRPr lang="en-US" sz="1040" dirty="0"/>
          </a:p>
        </p:txBody>
      </p:sp>
      <p:sp>
        <p:nvSpPr>
          <p:cNvPr id="17" name="Shape 15"/>
          <p:cNvSpPr/>
          <p:nvPr/>
        </p:nvSpPr>
        <p:spPr>
          <a:xfrm>
            <a:off x="987552" y="2414016"/>
            <a:ext cx="2606040" cy="612648"/>
          </a:xfrm>
          <a:prstGeom prst="rect">
            <a:avLst/>
          </a:prstGeom>
          <a:solidFill>
            <a:srgbClr val="12223A"/>
          </a:solidFill>
          <a:ln w="12700">
            <a:solidFill>
              <a:srgbClr val="22344D"/>
            </a:solidFill>
            <a:prstDash val="solid"/>
          </a:ln>
        </p:spPr>
        <p:txBody>
          <a:bodyPr/>
          <a:lstStyle/>
          <a:p>
            <a:endParaRPr lang="fr-FR"/>
          </a:p>
        </p:txBody>
      </p:sp>
      <p:sp>
        <p:nvSpPr>
          <p:cNvPr id="18" name="Text 16"/>
          <p:cNvSpPr/>
          <p:nvPr/>
        </p:nvSpPr>
        <p:spPr>
          <a:xfrm>
            <a:off x="1060704" y="2459736"/>
            <a:ext cx="245973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Centraliser les fichiers</a:t>
            </a:r>
            <a:endParaRPr lang="en-US" sz="1040" dirty="0"/>
          </a:p>
        </p:txBody>
      </p:sp>
      <p:sp>
        <p:nvSpPr>
          <p:cNvPr id="19" name="Shape 17"/>
          <p:cNvSpPr/>
          <p:nvPr/>
        </p:nvSpPr>
        <p:spPr>
          <a:xfrm>
            <a:off x="3593592" y="2414016"/>
            <a:ext cx="1737360" cy="612648"/>
          </a:xfrm>
          <a:prstGeom prst="rect">
            <a:avLst/>
          </a:prstGeom>
          <a:solidFill>
            <a:srgbClr val="12223A"/>
          </a:solidFill>
          <a:ln w="12700">
            <a:solidFill>
              <a:srgbClr val="22344D"/>
            </a:solidFill>
            <a:prstDash val="solid"/>
          </a:ln>
        </p:spPr>
        <p:txBody>
          <a:bodyPr/>
          <a:lstStyle/>
          <a:p>
            <a:endParaRPr lang="fr-FR"/>
          </a:p>
        </p:txBody>
      </p:sp>
      <p:sp>
        <p:nvSpPr>
          <p:cNvPr id="20" name="Text 18"/>
          <p:cNvSpPr/>
          <p:nvPr/>
        </p:nvSpPr>
        <p:spPr>
          <a:xfrm>
            <a:off x="3666744" y="2459736"/>
            <a:ext cx="15910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S3</a:t>
            </a:r>
            <a:endParaRPr lang="en-US" sz="1040" dirty="0"/>
          </a:p>
        </p:txBody>
      </p:sp>
      <p:sp>
        <p:nvSpPr>
          <p:cNvPr id="21" name="Shape 19"/>
          <p:cNvSpPr/>
          <p:nvPr/>
        </p:nvSpPr>
        <p:spPr>
          <a:xfrm>
            <a:off x="5330952" y="2414016"/>
            <a:ext cx="5852160" cy="612648"/>
          </a:xfrm>
          <a:prstGeom prst="rect">
            <a:avLst/>
          </a:prstGeom>
          <a:solidFill>
            <a:srgbClr val="12223A"/>
          </a:solidFill>
          <a:ln w="12700">
            <a:solidFill>
              <a:srgbClr val="22344D"/>
            </a:solidFill>
            <a:prstDash val="solid"/>
          </a:ln>
        </p:spPr>
        <p:txBody>
          <a:bodyPr/>
          <a:lstStyle/>
          <a:p>
            <a:endParaRPr lang="fr-FR"/>
          </a:p>
        </p:txBody>
      </p:sp>
      <p:sp>
        <p:nvSpPr>
          <p:cNvPr id="22" name="Text 20"/>
          <p:cNvSpPr/>
          <p:nvPr/>
        </p:nvSpPr>
        <p:spPr>
          <a:xfrm>
            <a:off x="5404104" y="2459736"/>
            <a:ext cx="57058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Nous gardons les images, le notebook, les logs et les sorties au même endroit.</a:t>
            </a:r>
            <a:endParaRPr lang="en-US" sz="1040" dirty="0"/>
          </a:p>
        </p:txBody>
      </p:sp>
      <p:sp>
        <p:nvSpPr>
          <p:cNvPr id="23" name="Shape 21"/>
          <p:cNvSpPr/>
          <p:nvPr/>
        </p:nvSpPr>
        <p:spPr>
          <a:xfrm>
            <a:off x="987552" y="3026664"/>
            <a:ext cx="2606040" cy="612648"/>
          </a:xfrm>
          <a:prstGeom prst="rect">
            <a:avLst/>
          </a:prstGeom>
          <a:solidFill>
            <a:srgbClr val="12223A"/>
          </a:solidFill>
          <a:ln w="12700">
            <a:solidFill>
              <a:srgbClr val="22344D"/>
            </a:solidFill>
            <a:prstDash val="solid"/>
          </a:ln>
        </p:spPr>
        <p:txBody>
          <a:bodyPr/>
          <a:lstStyle/>
          <a:p>
            <a:endParaRPr lang="fr-FR"/>
          </a:p>
        </p:txBody>
      </p:sp>
      <p:sp>
        <p:nvSpPr>
          <p:cNvPr id="24" name="Text 22"/>
          <p:cNvSpPr/>
          <p:nvPr/>
        </p:nvSpPr>
        <p:spPr>
          <a:xfrm>
            <a:off x="1060704" y="3072384"/>
            <a:ext cx="245973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Exécuter Spark dans le cloud</a:t>
            </a:r>
            <a:endParaRPr lang="en-US" sz="1040" dirty="0"/>
          </a:p>
        </p:txBody>
      </p:sp>
      <p:sp>
        <p:nvSpPr>
          <p:cNvPr id="25" name="Shape 23"/>
          <p:cNvSpPr/>
          <p:nvPr/>
        </p:nvSpPr>
        <p:spPr>
          <a:xfrm>
            <a:off x="3593592" y="3026664"/>
            <a:ext cx="1737360" cy="612648"/>
          </a:xfrm>
          <a:prstGeom prst="rect">
            <a:avLst/>
          </a:prstGeom>
          <a:solidFill>
            <a:srgbClr val="12223A"/>
          </a:solidFill>
          <a:ln w="12700">
            <a:solidFill>
              <a:srgbClr val="22344D"/>
            </a:solidFill>
            <a:prstDash val="solid"/>
          </a:ln>
        </p:spPr>
        <p:txBody>
          <a:bodyPr/>
          <a:lstStyle/>
          <a:p>
            <a:endParaRPr lang="fr-FR"/>
          </a:p>
        </p:txBody>
      </p:sp>
      <p:sp>
        <p:nvSpPr>
          <p:cNvPr id="26" name="Text 24"/>
          <p:cNvSpPr/>
          <p:nvPr/>
        </p:nvSpPr>
        <p:spPr>
          <a:xfrm>
            <a:off x="3666744" y="3072384"/>
            <a:ext cx="15910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EMR</a:t>
            </a:r>
            <a:endParaRPr lang="en-US" sz="1040" dirty="0"/>
          </a:p>
        </p:txBody>
      </p:sp>
      <p:sp>
        <p:nvSpPr>
          <p:cNvPr id="27" name="Shape 25"/>
          <p:cNvSpPr/>
          <p:nvPr/>
        </p:nvSpPr>
        <p:spPr>
          <a:xfrm>
            <a:off x="5330952" y="3026664"/>
            <a:ext cx="5852160" cy="612648"/>
          </a:xfrm>
          <a:prstGeom prst="rect">
            <a:avLst/>
          </a:prstGeom>
          <a:solidFill>
            <a:srgbClr val="12223A"/>
          </a:solidFill>
          <a:ln w="12700">
            <a:solidFill>
              <a:srgbClr val="22344D"/>
            </a:solidFill>
            <a:prstDash val="solid"/>
          </a:ln>
        </p:spPr>
        <p:txBody>
          <a:bodyPr/>
          <a:lstStyle/>
          <a:p>
            <a:endParaRPr lang="fr-FR"/>
          </a:p>
        </p:txBody>
      </p:sp>
      <p:sp>
        <p:nvSpPr>
          <p:cNvPr id="28" name="Text 26"/>
          <p:cNvSpPr/>
          <p:nvPr/>
        </p:nvSpPr>
        <p:spPr>
          <a:xfrm>
            <a:off x="5404104" y="3072384"/>
            <a:ext cx="57058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Nous obtenons un cluster prêt à l'emploi sans administrer toute l'infrastructure à la main.</a:t>
            </a:r>
            <a:endParaRPr lang="en-US" sz="1040" dirty="0"/>
          </a:p>
        </p:txBody>
      </p:sp>
      <p:sp>
        <p:nvSpPr>
          <p:cNvPr id="29" name="Shape 27"/>
          <p:cNvSpPr/>
          <p:nvPr/>
        </p:nvSpPr>
        <p:spPr>
          <a:xfrm>
            <a:off x="987552" y="3639312"/>
            <a:ext cx="2606040" cy="612648"/>
          </a:xfrm>
          <a:prstGeom prst="rect">
            <a:avLst/>
          </a:prstGeom>
          <a:solidFill>
            <a:srgbClr val="12223A"/>
          </a:solidFill>
          <a:ln w="12700">
            <a:solidFill>
              <a:srgbClr val="22344D"/>
            </a:solidFill>
            <a:prstDash val="solid"/>
          </a:ln>
        </p:spPr>
        <p:txBody>
          <a:bodyPr/>
          <a:lstStyle/>
          <a:p>
            <a:endParaRPr lang="fr-FR"/>
          </a:p>
        </p:txBody>
      </p:sp>
      <p:sp>
        <p:nvSpPr>
          <p:cNvPr id="30" name="Text 28"/>
          <p:cNvSpPr/>
          <p:nvPr/>
        </p:nvSpPr>
        <p:spPr>
          <a:xfrm>
            <a:off x="1060704" y="3685032"/>
            <a:ext cx="245973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Réutiliser un modèle image</a:t>
            </a:r>
            <a:endParaRPr lang="en-US" sz="1040" dirty="0"/>
          </a:p>
        </p:txBody>
      </p:sp>
      <p:sp>
        <p:nvSpPr>
          <p:cNvPr id="31" name="Shape 29"/>
          <p:cNvSpPr/>
          <p:nvPr/>
        </p:nvSpPr>
        <p:spPr>
          <a:xfrm>
            <a:off x="3593592" y="3639312"/>
            <a:ext cx="1737360" cy="612648"/>
          </a:xfrm>
          <a:prstGeom prst="rect">
            <a:avLst/>
          </a:prstGeom>
          <a:solidFill>
            <a:srgbClr val="12223A"/>
          </a:solidFill>
          <a:ln w="12700">
            <a:solidFill>
              <a:srgbClr val="22344D"/>
            </a:solidFill>
            <a:prstDash val="solid"/>
          </a:ln>
        </p:spPr>
        <p:txBody>
          <a:bodyPr/>
          <a:lstStyle/>
          <a:p>
            <a:endParaRPr lang="fr-FR"/>
          </a:p>
        </p:txBody>
      </p:sp>
      <p:sp>
        <p:nvSpPr>
          <p:cNvPr id="32" name="Text 30"/>
          <p:cNvSpPr/>
          <p:nvPr/>
        </p:nvSpPr>
        <p:spPr>
          <a:xfrm>
            <a:off x="3666744" y="3685032"/>
            <a:ext cx="15910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MobileNetV2</a:t>
            </a:r>
            <a:endParaRPr lang="en-US" sz="1040" dirty="0"/>
          </a:p>
        </p:txBody>
      </p:sp>
      <p:sp>
        <p:nvSpPr>
          <p:cNvPr id="33" name="Shape 31"/>
          <p:cNvSpPr/>
          <p:nvPr/>
        </p:nvSpPr>
        <p:spPr>
          <a:xfrm>
            <a:off x="5330952" y="3639312"/>
            <a:ext cx="5852160" cy="612648"/>
          </a:xfrm>
          <a:prstGeom prst="rect">
            <a:avLst/>
          </a:prstGeom>
          <a:solidFill>
            <a:srgbClr val="12223A"/>
          </a:solidFill>
          <a:ln w="12700">
            <a:solidFill>
              <a:srgbClr val="22344D"/>
            </a:solidFill>
            <a:prstDash val="solid"/>
          </a:ln>
        </p:spPr>
        <p:txBody>
          <a:bodyPr/>
          <a:lstStyle/>
          <a:p>
            <a:endParaRPr lang="fr-FR"/>
          </a:p>
        </p:txBody>
      </p:sp>
      <p:sp>
        <p:nvSpPr>
          <p:cNvPr id="34" name="Text 32"/>
          <p:cNvSpPr/>
          <p:nvPr/>
        </p:nvSpPr>
        <p:spPr>
          <a:xfrm>
            <a:off x="5404104" y="3685032"/>
            <a:ext cx="57058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Nous produisons rapidement des vecteurs utiles sans entraîner un réseau complet depuis zéro.</a:t>
            </a:r>
            <a:endParaRPr lang="en-US" sz="1040" dirty="0"/>
          </a:p>
        </p:txBody>
      </p:sp>
      <p:sp>
        <p:nvSpPr>
          <p:cNvPr id="35" name="Shape 33"/>
          <p:cNvSpPr/>
          <p:nvPr/>
        </p:nvSpPr>
        <p:spPr>
          <a:xfrm>
            <a:off x="987552" y="4251960"/>
            <a:ext cx="2606040" cy="612648"/>
          </a:xfrm>
          <a:prstGeom prst="rect">
            <a:avLst/>
          </a:prstGeom>
          <a:solidFill>
            <a:srgbClr val="12223A"/>
          </a:solidFill>
          <a:ln w="12700">
            <a:solidFill>
              <a:srgbClr val="22344D"/>
            </a:solidFill>
            <a:prstDash val="solid"/>
          </a:ln>
        </p:spPr>
        <p:txBody>
          <a:bodyPr/>
          <a:lstStyle/>
          <a:p>
            <a:endParaRPr lang="fr-FR"/>
          </a:p>
        </p:txBody>
      </p:sp>
      <p:sp>
        <p:nvSpPr>
          <p:cNvPr id="36" name="Text 34"/>
          <p:cNvSpPr/>
          <p:nvPr/>
        </p:nvSpPr>
        <p:spPr>
          <a:xfrm>
            <a:off x="1060704" y="4297680"/>
            <a:ext cx="245973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Alléger la suite du pipeline</a:t>
            </a:r>
            <a:endParaRPr lang="en-US" sz="1040" dirty="0"/>
          </a:p>
        </p:txBody>
      </p:sp>
      <p:sp>
        <p:nvSpPr>
          <p:cNvPr id="37" name="Shape 35"/>
          <p:cNvSpPr/>
          <p:nvPr/>
        </p:nvSpPr>
        <p:spPr>
          <a:xfrm>
            <a:off x="3593592" y="4251960"/>
            <a:ext cx="1737360" cy="612648"/>
          </a:xfrm>
          <a:prstGeom prst="rect">
            <a:avLst/>
          </a:prstGeom>
          <a:solidFill>
            <a:srgbClr val="12223A"/>
          </a:solidFill>
          <a:ln w="12700">
            <a:solidFill>
              <a:srgbClr val="22344D"/>
            </a:solidFill>
            <a:prstDash val="solid"/>
          </a:ln>
        </p:spPr>
        <p:txBody>
          <a:bodyPr/>
          <a:lstStyle/>
          <a:p>
            <a:endParaRPr lang="fr-FR"/>
          </a:p>
        </p:txBody>
      </p:sp>
      <p:sp>
        <p:nvSpPr>
          <p:cNvPr id="38" name="Text 36"/>
          <p:cNvSpPr/>
          <p:nvPr/>
        </p:nvSpPr>
        <p:spPr>
          <a:xfrm>
            <a:off x="3666744" y="4297680"/>
            <a:ext cx="15910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ACP</a:t>
            </a:r>
            <a:endParaRPr lang="en-US" sz="1040" dirty="0"/>
          </a:p>
        </p:txBody>
      </p:sp>
      <p:sp>
        <p:nvSpPr>
          <p:cNvPr id="39" name="Shape 37"/>
          <p:cNvSpPr/>
          <p:nvPr/>
        </p:nvSpPr>
        <p:spPr>
          <a:xfrm>
            <a:off x="5330952" y="4251960"/>
            <a:ext cx="5852160" cy="612648"/>
          </a:xfrm>
          <a:prstGeom prst="rect">
            <a:avLst/>
          </a:prstGeom>
          <a:solidFill>
            <a:srgbClr val="12223A"/>
          </a:solidFill>
          <a:ln w="12700">
            <a:solidFill>
              <a:srgbClr val="22344D"/>
            </a:solidFill>
            <a:prstDash val="solid"/>
          </a:ln>
        </p:spPr>
        <p:txBody>
          <a:bodyPr/>
          <a:lstStyle/>
          <a:p>
            <a:endParaRPr lang="fr-FR"/>
          </a:p>
        </p:txBody>
      </p:sp>
      <p:sp>
        <p:nvSpPr>
          <p:cNvPr id="40" name="Text 38"/>
          <p:cNvSpPr/>
          <p:nvPr/>
        </p:nvSpPr>
        <p:spPr>
          <a:xfrm>
            <a:off x="5404104" y="4297680"/>
            <a:ext cx="5705856" cy="521208"/>
          </a:xfrm>
          <a:prstGeom prst="rect">
            <a:avLst/>
          </a:prstGeom>
          <a:noFill/>
          <a:ln/>
        </p:spPr>
        <p:txBody>
          <a:bodyPr wrap="square" lIns="0" tIns="0" rIns="0" bIns="0" rtlCol="0" anchor="ctr"/>
          <a:lstStyle/>
          <a:p>
            <a:pPr marL="0" indent="0">
              <a:buNone/>
            </a:pPr>
            <a:r>
              <a:rPr lang="en-US" sz="1040" dirty="0">
                <a:solidFill>
                  <a:srgbClr val="F8FAFC"/>
                </a:solidFill>
                <a:latin typeface="Aptos" pitchFamily="34" charset="0"/>
                <a:ea typeface="Aptos" pitchFamily="34" charset="-122"/>
                <a:cs typeface="Aptos" pitchFamily="34" charset="-120"/>
              </a:rPr>
              <a:t>Nous passons de 1280 valeurs à 50 composantes plus simples à stocker et à exploiter.</a:t>
            </a:r>
            <a:endParaRPr lang="en-US" sz="1040" dirty="0"/>
          </a:p>
        </p:txBody>
      </p:sp>
      <p:sp>
        <p:nvSpPr>
          <p:cNvPr id="41" name="Text 39"/>
          <p:cNvSpPr/>
          <p:nvPr/>
        </p:nvSpPr>
        <p:spPr>
          <a:xfrm>
            <a:off x="1078992" y="5614416"/>
            <a:ext cx="9857232" cy="164592"/>
          </a:xfrm>
          <a:prstGeom prst="rect">
            <a:avLst/>
          </a:prstGeom>
          <a:noFill/>
          <a:ln/>
        </p:spPr>
        <p:txBody>
          <a:bodyPr wrap="square" lIns="0" tIns="0" rIns="0" bIns="0" rtlCol="0" anchor="ctr"/>
          <a:lstStyle/>
          <a:p>
            <a:pPr marL="0" indent="0">
              <a:buNone/>
            </a:pPr>
            <a:r>
              <a:rPr lang="en-US" sz="1070" dirty="0">
                <a:solidFill>
                  <a:srgbClr val="C9D4E3"/>
                </a:solidFill>
                <a:latin typeface="Aptos" pitchFamily="34" charset="0"/>
                <a:ea typeface="Aptos" pitchFamily="34" charset="-122"/>
                <a:cs typeface="Aptos" pitchFamily="34" charset="-120"/>
              </a:rPr>
              <a:t>Dans un projet étudiant, ces choix ont aussi un avantage pratique : ils restent simples à expliquer et crédibles pour une démonstration claire le jour de la soutenance.</a:t>
            </a:r>
            <a:endParaRPr lang="en-US" sz="1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PIPELINE LOCAL</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Étape 1 — ce que nous validons en local</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Avant de payer des ressources cloud, nous sécurisons la partie la plus importante : un pipeline exécutable et compréhensible sur une machine locale.</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7</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700784"/>
            <a:ext cx="224028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709928"/>
            <a:ext cx="77724" cy="85039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1" name="Text 9"/>
          <p:cNvSpPr/>
          <p:nvPr/>
        </p:nvSpPr>
        <p:spPr>
          <a:xfrm>
            <a:off x="932688" y="1810512"/>
            <a:ext cx="196596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4.1.1</a:t>
            </a:r>
            <a:endParaRPr lang="en-US" sz="2000" dirty="0"/>
          </a:p>
        </p:txBody>
      </p:sp>
      <p:sp>
        <p:nvSpPr>
          <p:cNvPr id="12" name="Text 10"/>
          <p:cNvSpPr/>
          <p:nvPr/>
        </p:nvSpPr>
        <p:spPr>
          <a:xfrm>
            <a:off x="932688" y="2130552"/>
            <a:ext cx="196596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version PySpark</a:t>
            </a:r>
            <a:endParaRPr lang="en-US" sz="1010" dirty="0"/>
          </a:p>
        </p:txBody>
      </p:sp>
      <p:sp>
        <p:nvSpPr>
          <p:cNvPr id="13" name="Shape 11"/>
          <p:cNvSpPr/>
          <p:nvPr/>
        </p:nvSpPr>
        <p:spPr>
          <a:xfrm>
            <a:off x="3182112" y="1700784"/>
            <a:ext cx="224028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4" name="Shape 12"/>
          <p:cNvSpPr/>
          <p:nvPr/>
        </p:nvSpPr>
        <p:spPr>
          <a:xfrm>
            <a:off x="3191256" y="1709928"/>
            <a:ext cx="77724" cy="85039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5" name="Text 13"/>
          <p:cNvSpPr/>
          <p:nvPr/>
        </p:nvSpPr>
        <p:spPr>
          <a:xfrm>
            <a:off x="3346704" y="1810512"/>
            <a:ext cx="196596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2.15.0</a:t>
            </a:r>
            <a:endParaRPr lang="en-US" sz="2000" dirty="0"/>
          </a:p>
        </p:txBody>
      </p:sp>
      <p:sp>
        <p:nvSpPr>
          <p:cNvPr id="16" name="Text 14"/>
          <p:cNvSpPr/>
          <p:nvPr/>
        </p:nvSpPr>
        <p:spPr>
          <a:xfrm>
            <a:off x="3346704" y="2130552"/>
            <a:ext cx="196596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version TensorFlow</a:t>
            </a:r>
            <a:endParaRPr lang="en-US" sz="1010" dirty="0"/>
          </a:p>
        </p:txBody>
      </p:sp>
      <p:sp>
        <p:nvSpPr>
          <p:cNvPr id="17" name="Shape 15"/>
          <p:cNvSpPr/>
          <p:nvPr/>
        </p:nvSpPr>
        <p:spPr>
          <a:xfrm>
            <a:off x="5596128" y="1700784"/>
            <a:ext cx="224028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8" name="Shape 16"/>
          <p:cNvSpPr/>
          <p:nvPr/>
        </p:nvSpPr>
        <p:spPr>
          <a:xfrm>
            <a:off x="5605272" y="1709928"/>
            <a:ext cx="77724" cy="850392"/>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9" name="Text 17"/>
          <p:cNvSpPr/>
          <p:nvPr/>
        </p:nvSpPr>
        <p:spPr>
          <a:xfrm>
            <a:off x="5760720" y="1810512"/>
            <a:ext cx="196596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22 688</a:t>
            </a:r>
            <a:endParaRPr lang="en-US" sz="2000" dirty="0"/>
          </a:p>
        </p:txBody>
      </p:sp>
      <p:sp>
        <p:nvSpPr>
          <p:cNvPr id="20" name="Text 18"/>
          <p:cNvSpPr/>
          <p:nvPr/>
        </p:nvSpPr>
        <p:spPr>
          <a:xfrm>
            <a:off x="5760720" y="2130552"/>
            <a:ext cx="196596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images traitées</a:t>
            </a:r>
            <a:endParaRPr lang="en-US" sz="1010" dirty="0"/>
          </a:p>
        </p:txBody>
      </p:sp>
      <p:sp>
        <p:nvSpPr>
          <p:cNvPr id="21" name="Shape 19"/>
          <p:cNvSpPr/>
          <p:nvPr/>
        </p:nvSpPr>
        <p:spPr>
          <a:xfrm>
            <a:off x="8010144" y="1700784"/>
            <a:ext cx="224028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2" name="Shape 20"/>
          <p:cNvSpPr/>
          <p:nvPr/>
        </p:nvSpPr>
        <p:spPr>
          <a:xfrm>
            <a:off x="8019288" y="1709928"/>
            <a:ext cx="77724" cy="850392"/>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3" name="Text 21"/>
          <p:cNvSpPr/>
          <p:nvPr/>
        </p:nvSpPr>
        <p:spPr>
          <a:xfrm>
            <a:off x="8174736" y="1810512"/>
            <a:ext cx="196596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1280</a:t>
            </a:r>
            <a:endParaRPr lang="en-US" sz="2000" dirty="0"/>
          </a:p>
        </p:txBody>
      </p:sp>
      <p:sp>
        <p:nvSpPr>
          <p:cNvPr id="24" name="Text 22"/>
          <p:cNvSpPr/>
          <p:nvPr/>
        </p:nvSpPr>
        <p:spPr>
          <a:xfrm>
            <a:off x="8174736" y="2130552"/>
            <a:ext cx="196596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features par image</a:t>
            </a:r>
            <a:endParaRPr lang="en-US" sz="1010" dirty="0"/>
          </a:p>
        </p:txBody>
      </p:sp>
      <p:sp>
        <p:nvSpPr>
          <p:cNvPr id="25" name="Shape 23"/>
          <p:cNvSpPr/>
          <p:nvPr/>
        </p:nvSpPr>
        <p:spPr>
          <a:xfrm>
            <a:off x="841248" y="2907792"/>
            <a:ext cx="10241280" cy="713232"/>
          </a:xfrm>
          <a:prstGeom prst="roundRect">
            <a:avLst>
              <a:gd name="adj" fmla="val 10256"/>
            </a:avLst>
          </a:prstGeom>
          <a:solidFill>
            <a:srgbClr val="0C1626"/>
          </a:solidFill>
          <a:ln w="12700">
            <a:solidFill>
              <a:srgbClr val="23344C"/>
            </a:solidFill>
            <a:prstDash val="solid"/>
          </a:ln>
        </p:spPr>
        <p:txBody>
          <a:bodyPr/>
          <a:lstStyle/>
          <a:p>
            <a:endParaRPr lang="fr-FR"/>
          </a:p>
        </p:txBody>
      </p:sp>
      <p:sp>
        <p:nvSpPr>
          <p:cNvPr id="26" name="Text 24"/>
          <p:cNvSpPr/>
          <p:nvPr/>
        </p:nvSpPr>
        <p:spPr>
          <a:xfrm>
            <a:off x="1078992" y="3127248"/>
            <a:ext cx="9765792" cy="164592"/>
          </a:xfrm>
          <a:prstGeom prst="rect">
            <a:avLst/>
          </a:prstGeom>
          <a:noFill/>
          <a:ln/>
        </p:spPr>
        <p:txBody>
          <a:bodyPr wrap="square" lIns="0" tIns="0" rIns="0" bIns="0" rtlCol="0" anchor="ctr"/>
          <a:lstStyle/>
          <a:p>
            <a:pPr marL="0" indent="0">
              <a:buNone/>
            </a:pPr>
            <a:r>
              <a:rPr lang="en-US" sz="1110" dirty="0">
                <a:solidFill>
                  <a:srgbClr val="C9D4E3"/>
                </a:solidFill>
                <a:latin typeface="Aptos" pitchFamily="34" charset="0"/>
                <a:ea typeface="Aptos" pitchFamily="34" charset="-122"/>
                <a:cs typeface="Aptos" pitchFamily="34" charset="-120"/>
              </a:rPr>
              <a:t>Le local ne remplace pas le cloud, mais il réduit fortement le risque de payer du calcul inutile pendant les mises au point du notebook.</a:t>
            </a:r>
            <a:endParaRPr lang="en-US" sz="1110" dirty="0"/>
          </a:p>
        </p:txBody>
      </p:sp>
      <p:sp>
        <p:nvSpPr>
          <p:cNvPr id="27" name="Shape 25"/>
          <p:cNvSpPr/>
          <p:nvPr/>
        </p:nvSpPr>
        <p:spPr>
          <a:xfrm>
            <a:off x="932688" y="4078224"/>
            <a:ext cx="2432304" cy="1499616"/>
          </a:xfrm>
          <a:prstGeom prst="roundRect">
            <a:avLst>
              <a:gd name="adj" fmla="val 609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8" name="Shape 26"/>
          <p:cNvSpPr/>
          <p:nvPr/>
        </p:nvSpPr>
        <p:spPr>
          <a:xfrm>
            <a:off x="941832" y="4087368"/>
            <a:ext cx="77724" cy="1481328"/>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29" name="Text 27"/>
          <p:cNvSpPr/>
          <p:nvPr/>
        </p:nvSpPr>
        <p:spPr>
          <a:xfrm>
            <a:off x="1097280" y="4352544"/>
            <a:ext cx="2048256" cy="182880"/>
          </a:xfrm>
          <a:prstGeom prst="rect">
            <a:avLst/>
          </a:prstGeom>
          <a:noFill/>
          <a:ln/>
        </p:spPr>
        <p:txBody>
          <a:bodyPr wrap="square" lIns="0" tIns="0" rIns="0" bIns="0" rtlCol="0" anchor="ctr"/>
          <a:lstStyle/>
          <a:p>
            <a:pPr marL="0" indent="0" algn="ctr">
              <a:buNone/>
            </a:pPr>
            <a:r>
              <a:rPr lang="en-US" sz="1400" b="1" dirty="0">
                <a:solidFill>
                  <a:srgbClr val="F8FAFC"/>
                </a:solidFill>
                <a:latin typeface="Aptos Display" pitchFamily="34" charset="0"/>
                <a:ea typeface="Aptos Display" pitchFamily="34" charset="-122"/>
                <a:cs typeface="Aptos Display" pitchFamily="34" charset="-120"/>
              </a:rPr>
              <a:t>Lecture images</a:t>
            </a:r>
            <a:endParaRPr lang="en-US" sz="1400" dirty="0"/>
          </a:p>
        </p:txBody>
      </p:sp>
      <p:sp>
        <p:nvSpPr>
          <p:cNvPr id="30" name="Text 28"/>
          <p:cNvSpPr/>
          <p:nvPr/>
        </p:nvSpPr>
        <p:spPr>
          <a:xfrm>
            <a:off x="1097280" y="4718304"/>
            <a:ext cx="2048256" cy="475488"/>
          </a:xfrm>
          <a:prstGeom prst="rect">
            <a:avLst/>
          </a:prstGeom>
          <a:noFill/>
          <a:ln/>
        </p:spPr>
        <p:txBody>
          <a:bodyPr wrap="square" lIns="0" tIns="0" rIns="0" bIns="0" rtlCol="0" anchor="ctr"/>
          <a:lstStyle/>
          <a:p>
            <a:pPr marL="0" indent="0" algn="ctr">
              <a:buNone/>
            </a:pPr>
            <a:r>
              <a:rPr lang="en-US" sz="1020" dirty="0">
                <a:solidFill>
                  <a:srgbClr val="9FB0C6"/>
                </a:solidFill>
                <a:latin typeface="Aptos" pitchFamily="34" charset="0"/>
                <a:ea typeface="Aptos" pitchFamily="34" charset="-122"/>
                <a:cs typeface="Aptos" pitchFamily="34" charset="-120"/>
              </a:rPr>
              <a:t>Spark lit les JPEG et prépare les labels.</a:t>
            </a:r>
            <a:endParaRPr lang="en-US" sz="1020" dirty="0"/>
          </a:p>
        </p:txBody>
      </p:sp>
      <p:sp>
        <p:nvSpPr>
          <p:cNvPr id="31" name="Shape 29"/>
          <p:cNvSpPr/>
          <p:nvPr/>
        </p:nvSpPr>
        <p:spPr>
          <a:xfrm>
            <a:off x="3694176" y="4078224"/>
            <a:ext cx="2432304" cy="1499616"/>
          </a:xfrm>
          <a:prstGeom prst="roundRect">
            <a:avLst>
              <a:gd name="adj" fmla="val 609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32" name="Shape 30"/>
          <p:cNvSpPr/>
          <p:nvPr/>
        </p:nvSpPr>
        <p:spPr>
          <a:xfrm>
            <a:off x="3703320" y="4087368"/>
            <a:ext cx="77724" cy="1481328"/>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33" name="Text 31"/>
          <p:cNvSpPr/>
          <p:nvPr/>
        </p:nvSpPr>
        <p:spPr>
          <a:xfrm>
            <a:off x="3858768" y="4352544"/>
            <a:ext cx="2048256" cy="182880"/>
          </a:xfrm>
          <a:prstGeom prst="rect">
            <a:avLst/>
          </a:prstGeom>
          <a:noFill/>
          <a:ln/>
        </p:spPr>
        <p:txBody>
          <a:bodyPr wrap="square" lIns="0" tIns="0" rIns="0" bIns="0" rtlCol="0" anchor="ctr"/>
          <a:lstStyle/>
          <a:p>
            <a:pPr marL="0" indent="0" algn="ctr">
              <a:buNone/>
            </a:pPr>
            <a:r>
              <a:rPr lang="en-US" sz="1400" b="1" dirty="0">
                <a:solidFill>
                  <a:srgbClr val="F8FAFC"/>
                </a:solidFill>
                <a:latin typeface="Aptos Display" pitchFamily="34" charset="0"/>
                <a:ea typeface="Aptos Display" pitchFamily="34" charset="-122"/>
                <a:cs typeface="Aptos Display" pitchFamily="34" charset="-120"/>
              </a:rPr>
              <a:t>Features CNN</a:t>
            </a:r>
            <a:endParaRPr lang="en-US" sz="1400" dirty="0"/>
          </a:p>
        </p:txBody>
      </p:sp>
      <p:sp>
        <p:nvSpPr>
          <p:cNvPr id="34" name="Text 32"/>
          <p:cNvSpPr/>
          <p:nvPr/>
        </p:nvSpPr>
        <p:spPr>
          <a:xfrm>
            <a:off x="3858768" y="4718304"/>
            <a:ext cx="2048256" cy="475488"/>
          </a:xfrm>
          <a:prstGeom prst="rect">
            <a:avLst/>
          </a:prstGeom>
          <a:noFill/>
          <a:ln/>
        </p:spPr>
        <p:txBody>
          <a:bodyPr wrap="square" lIns="0" tIns="0" rIns="0" bIns="0" rtlCol="0" anchor="ctr"/>
          <a:lstStyle/>
          <a:p>
            <a:pPr marL="0" indent="0" algn="ctr">
              <a:buNone/>
            </a:pPr>
            <a:r>
              <a:rPr lang="en-US" sz="1020" dirty="0">
                <a:solidFill>
                  <a:srgbClr val="9FB0C6"/>
                </a:solidFill>
                <a:latin typeface="Aptos" pitchFamily="34" charset="0"/>
                <a:ea typeface="Aptos" pitchFamily="34" charset="-122"/>
                <a:cs typeface="Aptos" pitchFamily="34" charset="-120"/>
              </a:rPr>
              <a:t>MobileNetV2 produit un vecteur par image.</a:t>
            </a:r>
            <a:endParaRPr lang="en-US" sz="1020" dirty="0"/>
          </a:p>
        </p:txBody>
      </p:sp>
      <p:sp>
        <p:nvSpPr>
          <p:cNvPr id="35" name="Shape 33"/>
          <p:cNvSpPr/>
          <p:nvPr/>
        </p:nvSpPr>
        <p:spPr>
          <a:xfrm>
            <a:off x="6455664" y="4078224"/>
            <a:ext cx="2432304" cy="1499616"/>
          </a:xfrm>
          <a:prstGeom prst="roundRect">
            <a:avLst>
              <a:gd name="adj" fmla="val 609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36" name="Shape 34"/>
          <p:cNvSpPr/>
          <p:nvPr/>
        </p:nvSpPr>
        <p:spPr>
          <a:xfrm>
            <a:off x="6464808" y="4087368"/>
            <a:ext cx="77724" cy="1481328"/>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37" name="Text 35"/>
          <p:cNvSpPr/>
          <p:nvPr/>
        </p:nvSpPr>
        <p:spPr>
          <a:xfrm>
            <a:off x="6620256" y="4352544"/>
            <a:ext cx="2048256" cy="182880"/>
          </a:xfrm>
          <a:prstGeom prst="rect">
            <a:avLst/>
          </a:prstGeom>
          <a:noFill/>
          <a:ln/>
        </p:spPr>
        <p:txBody>
          <a:bodyPr wrap="square" lIns="0" tIns="0" rIns="0" bIns="0" rtlCol="0" anchor="ctr"/>
          <a:lstStyle/>
          <a:p>
            <a:pPr marL="0" indent="0" algn="ctr">
              <a:buNone/>
            </a:pPr>
            <a:r>
              <a:rPr lang="en-US" sz="1400" b="1" dirty="0">
                <a:solidFill>
                  <a:srgbClr val="F8FAFC"/>
                </a:solidFill>
                <a:latin typeface="Aptos Display" pitchFamily="34" charset="0"/>
                <a:ea typeface="Aptos Display" pitchFamily="34" charset="-122"/>
                <a:cs typeface="Aptos Display" pitchFamily="34" charset="-120"/>
              </a:rPr>
              <a:t>Sortie parquet</a:t>
            </a:r>
            <a:endParaRPr lang="en-US" sz="1400" dirty="0"/>
          </a:p>
        </p:txBody>
      </p:sp>
      <p:sp>
        <p:nvSpPr>
          <p:cNvPr id="38" name="Text 36"/>
          <p:cNvSpPr/>
          <p:nvPr/>
        </p:nvSpPr>
        <p:spPr>
          <a:xfrm>
            <a:off x="6620256" y="4718304"/>
            <a:ext cx="2048256" cy="475488"/>
          </a:xfrm>
          <a:prstGeom prst="rect">
            <a:avLst/>
          </a:prstGeom>
          <a:noFill/>
          <a:ln/>
        </p:spPr>
        <p:txBody>
          <a:bodyPr wrap="square" lIns="0" tIns="0" rIns="0" bIns="0" rtlCol="0" anchor="ctr"/>
          <a:lstStyle/>
          <a:p>
            <a:pPr marL="0" indent="0" algn="ctr">
              <a:buNone/>
            </a:pPr>
            <a:r>
              <a:rPr lang="en-US" sz="1020" dirty="0">
                <a:solidFill>
                  <a:srgbClr val="9FB0C6"/>
                </a:solidFill>
                <a:latin typeface="Aptos" pitchFamily="34" charset="0"/>
                <a:ea typeface="Aptos" pitchFamily="34" charset="-122"/>
                <a:cs typeface="Aptos" pitchFamily="34" charset="-120"/>
              </a:rPr>
              <a:t>Les résultats intermédiaires sont enregistrés proprement.</a:t>
            </a:r>
            <a:endParaRPr lang="en-US" sz="1020" dirty="0"/>
          </a:p>
        </p:txBody>
      </p:sp>
      <p:sp>
        <p:nvSpPr>
          <p:cNvPr id="39" name="Shape 37"/>
          <p:cNvSpPr/>
          <p:nvPr/>
        </p:nvSpPr>
        <p:spPr>
          <a:xfrm>
            <a:off x="9217152" y="4078224"/>
            <a:ext cx="2432304" cy="1499616"/>
          </a:xfrm>
          <a:prstGeom prst="roundRect">
            <a:avLst>
              <a:gd name="adj" fmla="val 609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40" name="Shape 38"/>
          <p:cNvSpPr/>
          <p:nvPr/>
        </p:nvSpPr>
        <p:spPr>
          <a:xfrm>
            <a:off x="9226296" y="4087368"/>
            <a:ext cx="77724" cy="1481328"/>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41" name="Text 39"/>
          <p:cNvSpPr/>
          <p:nvPr/>
        </p:nvSpPr>
        <p:spPr>
          <a:xfrm>
            <a:off x="9381744" y="4352544"/>
            <a:ext cx="2048256" cy="182880"/>
          </a:xfrm>
          <a:prstGeom prst="rect">
            <a:avLst/>
          </a:prstGeom>
          <a:noFill/>
          <a:ln/>
        </p:spPr>
        <p:txBody>
          <a:bodyPr wrap="square" lIns="0" tIns="0" rIns="0" bIns="0" rtlCol="0" anchor="ctr"/>
          <a:lstStyle/>
          <a:p>
            <a:pPr marL="0" indent="0" algn="ctr">
              <a:buNone/>
            </a:pPr>
            <a:r>
              <a:rPr lang="en-US" sz="1400" b="1" dirty="0">
                <a:solidFill>
                  <a:srgbClr val="F8FAFC"/>
                </a:solidFill>
                <a:latin typeface="Aptos Display" pitchFamily="34" charset="0"/>
                <a:ea typeface="Aptos Display" pitchFamily="34" charset="-122"/>
                <a:cs typeface="Aptos Display" pitchFamily="34" charset="-120"/>
              </a:rPr>
              <a:t>ACP + contrôle</a:t>
            </a:r>
            <a:endParaRPr lang="en-US" sz="1400" dirty="0"/>
          </a:p>
        </p:txBody>
      </p:sp>
      <p:sp>
        <p:nvSpPr>
          <p:cNvPr id="42" name="Text 40"/>
          <p:cNvSpPr/>
          <p:nvPr/>
        </p:nvSpPr>
        <p:spPr>
          <a:xfrm>
            <a:off x="9381744" y="4718304"/>
            <a:ext cx="2048256" cy="475488"/>
          </a:xfrm>
          <a:prstGeom prst="rect">
            <a:avLst/>
          </a:prstGeom>
          <a:noFill/>
          <a:ln/>
        </p:spPr>
        <p:txBody>
          <a:bodyPr wrap="square" lIns="0" tIns="0" rIns="0" bIns="0" rtlCol="0" anchor="ctr"/>
          <a:lstStyle/>
          <a:p>
            <a:pPr marL="0" indent="0" algn="ctr">
              <a:buNone/>
            </a:pPr>
            <a:r>
              <a:rPr lang="en-US" sz="1020" dirty="0">
                <a:solidFill>
                  <a:srgbClr val="9FB0C6"/>
                </a:solidFill>
                <a:latin typeface="Aptos" pitchFamily="34" charset="0"/>
                <a:ea typeface="Aptos" pitchFamily="34" charset="-122"/>
                <a:cs typeface="Aptos" pitchFamily="34" charset="-120"/>
              </a:rPr>
              <a:t>Nous réduisons à 50 composantes puis nous analysons la sortie.</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PIPELINE LOCAL</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Prétraiter les images avec Spark</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choix de lecture en binaire simplifie le chargement des JPEG et garde la même logique entre le local et le cloud.</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8</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82496"/>
            <a:ext cx="4005072" cy="4498848"/>
          </a:xfrm>
          <a:prstGeom prst="roundRect">
            <a:avLst>
              <a:gd name="adj" fmla="val 228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91640"/>
            <a:ext cx="77724" cy="4480560"/>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1" name="Text 9"/>
          <p:cNvSpPr/>
          <p:nvPr/>
        </p:nvSpPr>
        <p:spPr>
          <a:xfrm>
            <a:off x="1024128" y="1938528"/>
            <a:ext cx="2194560" cy="164592"/>
          </a:xfrm>
          <a:prstGeom prst="rect">
            <a:avLst/>
          </a:prstGeom>
          <a:noFill/>
          <a:ln/>
        </p:spPr>
        <p:txBody>
          <a:bodyPr wrap="square" lIns="0" tIns="0" rIns="0" bIns="0" rtlCol="0" anchor="ctr"/>
          <a:lstStyle/>
          <a:p>
            <a:pPr marL="0" indent="0">
              <a:buNone/>
            </a:pPr>
            <a:r>
              <a:rPr lang="en-US" sz="1100" b="1" dirty="0">
                <a:solidFill>
                  <a:srgbClr val="60A5FA"/>
                </a:solidFill>
                <a:latin typeface="Aptos" pitchFamily="34" charset="0"/>
                <a:ea typeface="Aptos" pitchFamily="34" charset="-122"/>
                <a:cs typeface="Aptos" pitchFamily="34" charset="-120"/>
              </a:rPr>
              <a:t>Trois idées à retenir</a:t>
            </a:r>
            <a:endParaRPr lang="en-US" sz="1100" dirty="0"/>
          </a:p>
        </p:txBody>
      </p:sp>
      <p:sp>
        <p:nvSpPr>
          <p:cNvPr id="12" name="Shape 10"/>
          <p:cNvSpPr/>
          <p:nvPr/>
        </p:nvSpPr>
        <p:spPr>
          <a:xfrm>
            <a:off x="1024128" y="2359152"/>
            <a:ext cx="310896" cy="310896"/>
          </a:xfrm>
          <a:prstGeom prst="ellipse">
            <a:avLst/>
          </a:prstGeom>
          <a:solidFill>
            <a:srgbClr val="60A5FA">
              <a:alpha val="24000"/>
            </a:srgbClr>
          </a:solidFill>
          <a:ln w="12700">
            <a:solidFill>
              <a:srgbClr val="60A5FA"/>
            </a:solidFill>
            <a:prstDash val="solid"/>
          </a:ln>
        </p:spPr>
        <p:txBody>
          <a:bodyPr/>
          <a:lstStyle/>
          <a:p>
            <a:endParaRPr lang="fr-FR"/>
          </a:p>
        </p:txBody>
      </p:sp>
      <p:sp>
        <p:nvSpPr>
          <p:cNvPr id="13" name="Text 11"/>
          <p:cNvSpPr/>
          <p:nvPr/>
        </p:nvSpPr>
        <p:spPr>
          <a:xfrm>
            <a:off x="1024128" y="2386584"/>
            <a:ext cx="310896" cy="201168"/>
          </a:xfrm>
          <a:prstGeom prst="rect">
            <a:avLst/>
          </a:prstGeom>
          <a:noFill/>
          <a:ln/>
        </p:spPr>
        <p:txBody>
          <a:bodyPr wrap="square" lIns="0" tIns="0" rIns="0" bIns="0" rtlCol="0" anchor="ctr"/>
          <a:lstStyle/>
          <a:p>
            <a:pPr marL="0" indent="0" algn="ctr">
              <a:buNone/>
            </a:pPr>
            <a:r>
              <a:rPr lang="en-US" sz="1070" b="1" dirty="0">
                <a:solidFill>
                  <a:srgbClr val="60A5FA"/>
                </a:solidFill>
                <a:latin typeface="Aptos" pitchFamily="34" charset="0"/>
                <a:ea typeface="Aptos" pitchFamily="34" charset="-122"/>
                <a:cs typeface="Aptos" pitchFamily="34" charset="-120"/>
              </a:rPr>
              <a:t>1</a:t>
            </a:r>
            <a:endParaRPr lang="en-US" sz="1070" dirty="0"/>
          </a:p>
        </p:txBody>
      </p:sp>
      <p:sp>
        <p:nvSpPr>
          <p:cNvPr id="14" name="Text 12"/>
          <p:cNvSpPr/>
          <p:nvPr/>
        </p:nvSpPr>
        <p:spPr>
          <a:xfrm>
            <a:off x="1444752" y="2377440"/>
            <a:ext cx="2907792" cy="384048"/>
          </a:xfrm>
          <a:prstGeom prst="rect">
            <a:avLst/>
          </a:prstGeom>
          <a:noFill/>
          <a:ln/>
        </p:spPr>
        <p:txBody>
          <a:bodyPr wrap="square" lIns="0" tIns="0" rIns="0" bIns="0" rtlCol="0" anchor="ctr"/>
          <a:lstStyle/>
          <a:p>
            <a:pPr marL="0" indent="0">
              <a:buNone/>
            </a:pPr>
            <a:r>
              <a:rPr lang="en-US" sz="1150" dirty="0">
                <a:solidFill>
                  <a:srgbClr val="F8FAFC"/>
                </a:solidFill>
                <a:latin typeface="Aptos" pitchFamily="34" charset="0"/>
                <a:ea typeface="Aptos" pitchFamily="34" charset="-122"/>
                <a:cs typeface="Aptos" pitchFamily="34" charset="-120"/>
              </a:rPr>
              <a:t>Spark lit les images comme des fichiers binaires.</a:t>
            </a:r>
            <a:endParaRPr lang="en-US" sz="1150" dirty="0"/>
          </a:p>
        </p:txBody>
      </p:sp>
      <p:sp>
        <p:nvSpPr>
          <p:cNvPr id="15" name="Shape 13"/>
          <p:cNvSpPr/>
          <p:nvPr/>
        </p:nvSpPr>
        <p:spPr>
          <a:xfrm>
            <a:off x="1024128" y="3319272"/>
            <a:ext cx="310896" cy="310896"/>
          </a:xfrm>
          <a:prstGeom prst="ellipse">
            <a:avLst/>
          </a:prstGeom>
          <a:solidFill>
            <a:srgbClr val="19B67A">
              <a:alpha val="24000"/>
            </a:srgbClr>
          </a:solidFill>
          <a:ln w="12700">
            <a:solidFill>
              <a:srgbClr val="19B67A"/>
            </a:solidFill>
            <a:prstDash val="solid"/>
          </a:ln>
        </p:spPr>
        <p:txBody>
          <a:bodyPr/>
          <a:lstStyle/>
          <a:p>
            <a:endParaRPr lang="fr-FR"/>
          </a:p>
        </p:txBody>
      </p:sp>
      <p:sp>
        <p:nvSpPr>
          <p:cNvPr id="16" name="Text 14"/>
          <p:cNvSpPr/>
          <p:nvPr/>
        </p:nvSpPr>
        <p:spPr>
          <a:xfrm>
            <a:off x="1024128" y="3346704"/>
            <a:ext cx="310896" cy="201168"/>
          </a:xfrm>
          <a:prstGeom prst="rect">
            <a:avLst/>
          </a:prstGeom>
          <a:noFill/>
          <a:ln/>
        </p:spPr>
        <p:txBody>
          <a:bodyPr wrap="square" lIns="0" tIns="0" rIns="0" bIns="0" rtlCol="0" anchor="ctr"/>
          <a:lstStyle/>
          <a:p>
            <a:pPr marL="0" indent="0" algn="ctr">
              <a:buNone/>
            </a:pPr>
            <a:r>
              <a:rPr lang="en-US" sz="1070" b="1" dirty="0">
                <a:solidFill>
                  <a:srgbClr val="19B67A"/>
                </a:solidFill>
                <a:latin typeface="Aptos" pitchFamily="34" charset="0"/>
                <a:ea typeface="Aptos" pitchFamily="34" charset="-122"/>
                <a:cs typeface="Aptos" pitchFamily="34" charset="-120"/>
              </a:rPr>
              <a:t>2</a:t>
            </a:r>
            <a:endParaRPr lang="en-US" sz="1070" dirty="0"/>
          </a:p>
        </p:txBody>
      </p:sp>
      <p:sp>
        <p:nvSpPr>
          <p:cNvPr id="17" name="Text 15"/>
          <p:cNvSpPr/>
          <p:nvPr/>
        </p:nvSpPr>
        <p:spPr>
          <a:xfrm>
            <a:off x="1444752" y="3337560"/>
            <a:ext cx="2907792" cy="384048"/>
          </a:xfrm>
          <a:prstGeom prst="rect">
            <a:avLst/>
          </a:prstGeom>
          <a:noFill/>
          <a:ln/>
        </p:spPr>
        <p:txBody>
          <a:bodyPr wrap="square" lIns="0" tIns="0" rIns="0" bIns="0" rtlCol="0" anchor="ctr"/>
          <a:lstStyle/>
          <a:p>
            <a:pPr marL="0" indent="0">
              <a:buNone/>
            </a:pPr>
            <a:r>
              <a:rPr lang="en-US" sz="1150" dirty="0">
                <a:solidFill>
                  <a:srgbClr val="F8FAFC"/>
                </a:solidFill>
                <a:latin typeface="Aptos" pitchFamily="34" charset="0"/>
                <a:ea typeface="Aptos" pitchFamily="34" charset="-122"/>
                <a:cs typeface="Aptos" pitchFamily="34" charset="-120"/>
              </a:rPr>
              <a:t>Le label est récupéré directement depuis le dossier parent.</a:t>
            </a:r>
            <a:endParaRPr lang="en-US" sz="1150" dirty="0"/>
          </a:p>
        </p:txBody>
      </p:sp>
      <p:sp>
        <p:nvSpPr>
          <p:cNvPr id="18" name="Shape 16"/>
          <p:cNvSpPr/>
          <p:nvPr/>
        </p:nvSpPr>
        <p:spPr>
          <a:xfrm>
            <a:off x="1024128" y="4279392"/>
            <a:ext cx="310896" cy="310896"/>
          </a:xfrm>
          <a:prstGeom prst="ellipse">
            <a:avLst/>
          </a:prstGeom>
          <a:solidFill>
            <a:srgbClr val="F1A43A">
              <a:alpha val="24000"/>
            </a:srgbClr>
          </a:solidFill>
          <a:ln w="12700">
            <a:solidFill>
              <a:srgbClr val="F1A43A"/>
            </a:solidFill>
            <a:prstDash val="solid"/>
          </a:ln>
        </p:spPr>
        <p:txBody>
          <a:bodyPr/>
          <a:lstStyle/>
          <a:p>
            <a:endParaRPr lang="fr-FR"/>
          </a:p>
        </p:txBody>
      </p:sp>
      <p:sp>
        <p:nvSpPr>
          <p:cNvPr id="19" name="Text 17"/>
          <p:cNvSpPr/>
          <p:nvPr/>
        </p:nvSpPr>
        <p:spPr>
          <a:xfrm>
            <a:off x="1024128" y="4306824"/>
            <a:ext cx="310896" cy="201168"/>
          </a:xfrm>
          <a:prstGeom prst="rect">
            <a:avLst/>
          </a:prstGeom>
          <a:noFill/>
          <a:ln/>
        </p:spPr>
        <p:txBody>
          <a:bodyPr wrap="square" lIns="0" tIns="0" rIns="0" bIns="0" rtlCol="0" anchor="ctr"/>
          <a:lstStyle/>
          <a:p>
            <a:pPr marL="0" indent="0" algn="ctr">
              <a:buNone/>
            </a:pPr>
            <a:r>
              <a:rPr lang="en-US" sz="1070" b="1" dirty="0">
                <a:solidFill>
                  <a:srgbClr val="F1A43A"/>
                </a:solidFill>
                <a:latin typeface="Aptos" pitchFamily="34" charset="0"/>
                <a:ea typeface="Aptos" pitchFamily="34" charset="-122"/>
                <a:cs typeface="Aptos" pitchFamily="34" charset="-120"/>
              </a:rPr>
              <a:t>3</a:t>
            </a:r>
            <a:endParaRPr lang="en-US" sz="1070" dirty="0"/>
          </a:p>
        </p:txBody>
      </p:sp>
      <p:sp>
        <p:nvSpPr>
          <p:cNvPr id="20" name="Text 18"/>
          <p:cNvSpPr/>
          <p:nvPr/>
        </p:nvSpPr>
        <p:spPr>
          <a:xfrm>
            <a:off x="1444752" y="4297680"/>
            <a:ext cx="2907792" cy="384048"/>
          </a:xfrm>
          <a:prstGeom prst="rect">
            <a:avLst/>
          </a:prstGeom>
          <a:noFill/>
          <a:ln/>
        </p:spPr>
        <p:txBody>
          <a:bodyPr wrap="square" lIns="0" tIns="0" rIns="0" bIns="0" rtlCol="0" anchor="ctr"/>
          <a:lstStyle/>
          <a:p>
            <a:pPr marL="0" indent="0">
              <a:buNone/>
            </a:pPr>
            <a:r>
              <a:rPr lang="en-US" sz="1150" dirty="0">
                <a:solidFill>
                  <a:srgbClr val="F8FAFC"/>
                </a:solidFill>
                <a:latin typeface="Aptos" pitchFamily="34" charset="0"/>
                <a:ea typeface="Aptos" pitchFamily="34" charset="-122"/>
                <a:cs typeface="Aptos" pitchFamily="34" charset="-120"/>
              </a:rPr>
              <a:t>Chaque image est redimensionnée en 224 × 224 puis normalisée.</a:t>
            </a:r>
            <a:endParaRPr lang="en-US" sz="1150" dirty="0"/>
          </a:p>
        </p:txBody>
      </p:sp>
      <p:sp>
        <p:nvSpPr>
          <p:cNvPr id="21" name="Shape 19"/>
          <p:cNvSpPr/>
          <p:nvPr/>
        </p:nvSpPr>
        <p:spPr>
          <a:xfrm>
            <a:off x="5047488" y="1682496"/>
            <a:ext cx="6364224" cy="4498848"/>
          </a:xfrm>
          <a:prstGeom prst="roundRect">
            <a:avLst>
              <a:gd name="adj" fmla="val 203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2" name="Shape 20"/>
          <p:cNvSpPr/>
          <p:nvPr/>
        </p:nvSpPr>
        <p:spPr>
          <a:xfrm>
            <a:off x="5056632" y="1691640"/>
            <a:ext cx="77724" cy="4480560"/>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23" name="Text 21"/>
          <p:cNvSpPr/>
          <p:nvPr/>
        </p:nvSpPr>
        <p:spPr>
          <a:xfrm>
            <a:off x="5321808" y="1938528"/>
            <a:ext cx="1828800" cy="164592"/>
          </a:xfrm>
          <a:prstGeom prst="rect">
            <a:avLst/>
          </a:prstGeom>
          <a:noFill/>
          <a:ln/>
        </p:spPr>
        <p:txBody>
          <a:bodyPr wrap="square" lIns="0" tIns="0" rIns="0" bIns="0" rtlCol="0" anchor="ctr"/>
          <a:lstStyle/>
          <a:p>
            <a:pPr marL="0" indent="0">
              <a:buNone/>
            </a:pPr>
            <a:r>
              <a:rPr lang="en-US" sz="1100" b="1" dirty="0">
                <a:solidFill>
                  <a:srgbClr val="19B67A"/>
                </a:solidFill>
                <a:latin typeface="Aptos" pitchFamily="34" charset="0"/>
                <a:ea typeface="Aptos" pitchFamily="34" charset="-122"/>
                <a:cs typeface="Aptos" pitchFamily="34" charset="-120"/>
              </a:rPr>
              <a:t>Exemple concret</a:t>
            </a:r>
            <a:endParaRPr lang="en-US" sz="1100" dirty="0"/>
          </a:p>
        </p:txBody>
      </p:sp>
      <p:sp>
        <p:nvSpPr>
          <p:cNvPr id="24" name="Shape 22"/>
          <p:cNvSpPr/>
          <p:nvPr/>
        </p:nvSpPr>
        <p:spPr>
          <a:xfrm>
            <a:off x="5358384" y="2377440"/>
            <a:ext cx="5650992" cy="1042416"/>
          </a:xfrm>
          <a:prstGeom prst="roundRect">
            <a:avLst>
              <a:gd name="adj" fmla="val 7018"/>
            </a:avLst>
          </a:prstGeom>
          <a:solidFill>
            <a:srgbClr val="0C1626"/>
          </a:solidFill>
          <a:ln w="12700">
            <a:solidFill>
              <a:srgbClr val="23344C"/>
            </a:solidFill>
            <a:prstDash val="solid"/>
          </a:ln>
        </p:spPr>
        <p:txBody>
          <a:bodyPr/>
          <a:lstStyle/>
          <a:p>
            <a:endParaRPr lang="fr-FR"/>
          </a:p>
        </p:txBody>
      </p:sp>
      <p:sp>
        <p:nvSpPr>
          <p:cNvPr id="25" name="Text 23"/>
          <p:cNvSpPr/>
          <p:nvPr/>
        </p:nvSpPr>
        <p:spPr>
          <a:xfrm>
            <a:off x="5596128" y="2706624"/>
            <a:ext cx="4974336" cy="182880"/>
          </a:xfrm>
          <a:prstGeom prst="rect">
            <a:avLst/>
          </a:prstGeom>
          <a:noFill/>
          <a:ln/>
        </p:spPr>
        <p:txBody>
          <a:bodyPr wrap="square" lIns="0" tIns="0" rIns="0" bIns="0" rtlCol="0" anchor="ctr"/>
          <a:lstStyle/>
          <a:p>
            <a:pPr marL="0" indent="0">
              <a:buNone/>
            </a:pPr>
            <a:r>
              <a:rPr lang="en-US" sz="1500" b="1" dirty="0">
                <a:solidFill>
                  <a:srgbClr val="C9D4E3"/>
                </a:solidFill>
                <a:latin typeface="Consolas" pitchFamily="34" charset="0"/>
                <a:ea typeface="Consolas" pitchFamily="34" charset="-122"/>
                <a:cs typeface="Consolas" pitchFamily="34" charset="-120"/>
              </a:rPr>
              <a:t>Test/Watermelon/r_106_100.jpg</a:t>
            </a:r>
            <a:endParaRPr lang="en-US" sz="1500" dirty="0"/>
          </a:p>
        </p:txBody>
      </p:sp>
      <p:sp>
        <p:nvSpPr>
          <p:cNvPr id="26" name="Text 24"/>
          <p:cNvSpPr/>
          <p:nvPr/>
        </p:nvSpPr>
        <p:spPr>
          <a:xfrm>
            <a:off x="5596128" y="2999232"/>
            <a:ext cx="2011680" cy="146304"/>
          </a:xfrm>
          <a:prstGeom prst="rect">
            <a:avLst/>
          </a:prstGeom>
          <a:noFill/>
          <a:ln/>
        </p:spPr>
        <p:txBody>
          <a:bodyPr wrap="square" lIns="0" tIns="0" rIns="0" bIns="0" rtlCol="0" anchor="ctr"/>
          <a:lstStyle/>
          <a:p>
            <a:pPr marL="0" indent="0">
              <a:buNone/>
            </a:pPr>
            <a:r>
              <a:rPr lang="en-US" sz="1100" b="1" dirty="0">
                <a:solidFill>
                  <a:srgbClr val="F1A43A"/>
                </a:solidFill>
                <a:latin typeface="Aptos" pitchFamily="34" charset="0"/>
                <a:ea typeface="Aptos" pitchFamily="34" charset="-122"/>
                <a:cs typeface="Aptos" pitchFamily="34" charset="-120"/>
              </a:rPr>
              <a:t>Label extrait : Watermelon</a:t>
            </a:r>
            <a:endParaRPr lang="en-US" sz="1100" dirty="0"/>
          </a:p>
        </p:txBody>
      </p:sp>
      <p:sp>
        <p:nvSpPr>
          <p:cNvPr id="27" name="Shape 25"/>
          <p:cNvSpPr/>
          <p:nvPr/>
        </p:nvSpPr>
        <p:spPr>
          <a:xfrm>
            <a:off x="5358384" y="3840480"/>
            <a:ext cx="1042416" cy="292608"/>
          </a:xfrm>
          <a:prstGeom prst="roundRect">
            <a:avLst>
              <a:gd name="adj" fmla="val 28125"/>
            </a:avLst>
          </a:prstGeom>
          <a:solidFill>
            <a:srgbClr val="12223A"/>
          </a:solidFill>
          <a:ln w="12700">
            <a:solidFill>
              <a:srgbClr val="60A5FA"/>
            </a:solidFill>
            <a:prstDash val="solid"/>
          </a:ln>
        </p:spPr>
        <p:txBody>
          <a:bodyPr/>
          <a:lstStyle/>
          <a:p>
            <a:endParaRPr lang="fr-FR"/>
          </a:p>
        </p:txBody>
      </p:sp>
      <p:sp>
        <p:nvSpPr>
          <p:cNvPr id="28" name="Text 26"/>
          <p:cNvSpPr/>
          <p:nvPr/>
        </p:nvSpPr>
        <p:spPr>
          <a:xfrm>
            <a:off x="5358384" y="3867912"/>
            <a:ext cx="1042416" cy="201168"/>
          </a:xfrm>
          <a:prstGeom prst="rect">
            <a:avLst/>
          </a:prstGeom>
          <a:noFill/>
          <a:ln/>
        </p:spPr>
        <p:txBody>
          <a:bodyPr wrap="square" lIns="0" tIns="0" rIns="0" bIns="0" rtlCol="0" anchor="ctr"/>
          <a:lstStyle/>
          <a:p>
            <a:pPr marL="0" indent="0" algn="ctr">
              <a:buNone/>
            </a:pPr>
            <a:r>
              <a:rPr lang="en-US" sz="1000" b="1" dirty="0">
                <a:solidFill>
                  <a:srgbClr val="60A5FA"/>
                </a:solidFill>
                <a:latin typeface="Aptos" pitchFamily="34" charset="0"/>
                <a:ea typeface="Aptos" pitchFamily="34" charset="-122"/>
                <a:cs typeface="Aptos" pitchFamily="34" charset="-120"/>
              </a:rPr>
              <a:t>binaryFile</a:t>
            </a:r>
            <a:endParaRPr lang="en-US" sz="1000" dirty="0"/>
          </a:p>
        </p:txBody>
      </p:sp>
      <p:sp>
        <p:nvSpPr>
          <p:cNvPr id="29" name="Shape 27"/>
          <p:cNvSpPr/>
          <p:nvPr/>
        </p:nvSpPr>
        <p:spPr>
          <a:xfrm>
            <a:off x="6528816" y="3840480"/>
            <a:ext cx="1444752" cy="292608"/>
          </a:xfrm>
          <a:prstGeom prst="roundRect">
            <a:avLst>
              <a:gd name="adj" fmla="val 28125"/>
            </a:avLst>
          </a:prstGeom>
          <a:solidFill>
            <a:srgbClr val="12223A"/>
          </a:solidFill>
          <a:ln w="12700">
            <a:solidFill>
              <a:srgbClr val="19B67A"/>
            </a:solidFill>
            <a:prstDash val="solid"/>
          </a:ln>
        </p:spPr>
        <p:txBody>
          <a:bodyPr/>
          <a:lstStyle/>
          <a:p>
            <a:endParaRPr lang="fr-FR"/>
          </a:p>
        </p:txBody>
      </p:sp>
      <p:sp>
        <p:nvSpPr>
          <p:cNvPr id="30" name="Text 28"/>
          <p:cNvSpPr/>
          <p:nvPr/>
        </p:nvSpPr>
        <p:spPr>
          <a:xfrm>
            <a:off x="6528816" y="3867912"/>
            <a:ext cx="1444752" cy="201168"/>
          </a:xfrm>
          <a:prstGeom prst="rect">
            <a:avLst/>
          </a:prstGeom>
          <a:noFill/>
          <a:ln/>
        </p:spPr>
        <p:txBody>
          <a:bodyPr wrap="square" lIns="0" tIns="0" rIns="0" bIns="0" rtlCol="0" anchor="ctr"/>
          <a:lstStyle/>
          <a:p>
            <a:pPr marL="0" indent="0" algn="ctr">
              <a:buNone/>
            </a:pPr>
            <a:r>
              <a:rPr lang="en-US" sz="1000" b="1" dirty="0">
                <a:solidFill>
                  <a:srgbClr val="19B67A"/>
                </a:solidFill>
                <a:latin typeface="Aptos" pitchFamily="34" charset="0"/>
                <a:ea typeface="Aptos" pitchFamily="34" charset="-122"/>
                <a:cs typeface="Aptos" pitchFamily="34" charset="-120"/>
              </a:rPr>
              <a:t>DataFrame Spark</a:t>
            </a:r>
            <a:endParaRPr lang="en-US" sz="1000" dirty="0"/>
          </a:p>
        </p:txBody>
      </p:sp>
      <p:sp>
        <p:nvSpPr>
          <p:cNvPr id="31" name="Shape 29"/>
          <p:cNvSpPr/>
          <p:nvPr/>
        </p:nvSpPr>
        <p:spPr>
          <a:xfrm>
            <a:off x="8119872" y="3840480"/>
            <a:ext cx="932688" cy="292608"/>
          </a:xfrm>
          <a:prstGeom prst="roundRect">
            <a:avLst>
              <a:gd name="adj" fmla="val 28125"/>
            </a:avLst>
          </a:prstGeom>
          <a:solidFill>
            <a:srgbClr val="12223A"/>
          </a:solidFill>
          <a:ln w="12700">
            <a:solidFill>
              <a:srgbClr val="F1A43A"/>
            </a:solidFill>
            <a:prstDash val="solid"/>
          </a:ln>
        </p:spPr>
        <p:txBody>
          <a:bodyPr/>
          <a:lstStyle/>
          <a:p>
            <a:endParaRPr lang="fr-FR"/>
          </a:p>
        </p:txBody>
      </p:sp>
      <p:sp>
        <p:nvSpPr>
          <p:cNvPr id="32" name="Text 30"/>
          <p:cNvSpPr/>
          <p:nvPr/>
        </p:nvSpPr>
        <p:spPr>
          <a:xfrm>
            <a:off x="8119872" y="3867912"/>
            <a:ext cx="932688" cy="201168"/>
          </a:xfrm>
          <a:prstGeom prst="rect">
            <a:avLst/>
          </a:prstGeom>
          <a:noFill/>
          <a:ln/>
        </p:spPr>
        <p:txBody>
          <a:bodyPr wrap="square" lIns="0" tIns="0" rIns="0" bIns="0" rtlCol="0" anchor="ctr"/>
          <a:lstStyle/>
          <a:p>
            <a:pPr marL="0" indent="0" algn="ctr">
              <a:buNone/>
            </a:pPr>
            <a:r>
              <a:rPr lang="en-US" sz="1000" b="1" dirty="0">
                <a:solidFill>
                  <a:srgbClr val="F1A43A"/>
                </a:solidFill>
                <a:latin typeface="Aptos" pitchFamily="34" charset="0"/>
                <a:ea typeface="Aptos" pitchFamily="34" charset="-122"/>
                <a:cs typeface="Aptos" pitchFamily="34" charset="-120"/>
              </a:rPr>
              <a:t>224 × 224</a:t>
            </a:r>
            <a:endParaRPr lang="en-US" sz="1000" dirty="0"/>
          </a:p>
        </p:txBody>
      </p:sp>
      <p:sp>
        <p:nvSpPr>
          <p:cNvPr id="33" name="Text 31"/>
          <p:cNvSpPr/>
          <p:nvPr/>
        </p:nvSpPr>
        <p:spPr>
          <a:xfrm>
            <a:off x="5358384" y="4553712"/>
            <a:ext cx="5632704" cy="694944"/>
          </a:xfrm>
          <a:prstGeom prst="rect">
            <a:avLst/>
          </a:prstGeom>
          <a:noFill/>
          <a:ln/>
        </p:spPr>
        <p:txBody>
          <a:bodyPr wrap="square" lIns="0" tIns="0" rIns="0" bIns="0" rtlCol="0" anchor="ctr"/>
          <a:lstStyle/>
          <a:p>
            <a:pPr marL="0" indent="0">
              <a:buNone/>
            </a:pPr>
            <a:r>
              <a:rPr lang="en-US" sz="1110" dirty="0">
                <a:solidFill>
                  <a:srgbClr val="F8FAFC"/>
                </a:solidFill>
                <a:latin typeface="Aptos" pitchFamily="34" charset="0"/>
                <a:ea typeface="Aptos" pitchFamily="34" charset="-122"/>
                <a:cs typeface="Aptos" pitchFamily="34" charset="-120"/>
              </a:rPr>
              <a:t>Nous n'avons donc pas besoin d'une table de correspondance séparée : le chemin du fichier donne déjà la classe, et Spark garde le résultat dans un DataFrame distribué.</a:t>
            </a:r>
            <a:endParaRPr lang="en-US" sz="11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PIPELINE LOCAL</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Extraire des caractéristiques avec le transfert learning</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transfert learning consiste à réutiliser un modèle déjà entraîné au lieu de repartir de zéro.</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9</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3913632" cy="4498848"/>
          </a:xfrm>
          <a:prstGeom prst="roundRect">
            <a:avLst>
              <a:gd name="adj" fmla="val 233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80560"/>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1" name="Text 9"/>
          <p:cNvSpPr/>
          <p:nvPr/>
        </p:nvSpPr>
        <p:spPr>
          <a:xfrm>
            <a:off x="1024128" y="1938528"/>
            <a:ext cx="2286000" cy="164592"/>
          </a:xfrm>
          <a:prstGeom prst="rect">
            <a:avLst/>
          </a:prstGeom>
          <a:noFill/>
          <a:ln/>
        </p:spPr>
        <p:txBody>
          <a:bodyPr wrap="square" lIns="0" tIns="0" rIns="0" bIns="0" rtlCol="0" anchor="ctr"/>
          <a:lstStyle/>
          <a:p>
            <a:pPr marL="0" indent="0">
              <a:buNone/>
            </a:pPr>
            <a:r>
              <a:rPr lang="en-US" sz="1100" b="1" dirty="0">
                <a:solidFill>
                  <a:srgbClr val="F1A43A"/>
                </a:solidFill>
                <a:latin typeface="Aptos" pitchFamily="34" charset="0"/>
                <a:ea typeface="Aptos" pitchFamily="34" charset="-122"/>
                <a:cs typeface="Aptos" pitchFamily="34" charset="-120"/>
              </a:rPr>
              <a:t>Ce que nous faisons vraiment</a:t>
            </a:r>
            <a:endParaRPr lang="en-US" sz="1100" dirty="0"/>
          </a:p>
        </p:txBody>
      </p:sp>
      <p:sp>
        <p:nvSpPr>
          <p:cNvPr id="12" name="Text 10"/>
          <p:cNvSpPr/>
          <p:nvPr/>
        </p:nvSpPr>
        <p:spPr>
          <a:xfrm>
            <a:off x="1024128" y="2267712"/>
            <a:ext cx="3401568" cy="932688"/>
          </a:xfrm>
          <a:prstGeom prst="rect">
            <a:avLst/>
          </a:prstGeom>
          <a:noFill/>
          <a:ln/>
        </p:spPr>
        <p:txBody>
          <a:bodyPr wrap="square" lIns="0" tIns="0" rIns="0" bIns="0" rtlCol="0" anchor="ctr"/>
          <a:lstStyle/>
          <a:p>
            <a:pPr marL="0" indent="0">
              <a:buNone/>
            </a:pPr>
            <a:r>
              <a:rPr lang="en-US" sz="1200" dirty="0">
                <a:solidFill>
                  <a:srgbClr val="F8FAFC"/>
                </a:solidFill>
                <a:latin typeface="Aptos" pitchFamily="34" charset="0"/>
                <a:ea typeface="Aptos" pitchFamily="34" charset="-122"/>
                <a:cs typeface="Aptos" pitchFamily="34" charset="-120"/>
              </a:rPr>
              <a:t>Nous utilisons MobileNetV2, un réseau léger déjà entraîné sur ImageNet. Nous retirons sa couche finale pour ne garder qu'une représentation numérique riche de chaque image.</a:t>
            </a:r>
            <a:endParaRPr lang="en-US" sz="1200" dirty="0"/>
          </a:p>
        </p:txBody>
      </p:sp>
      <p:sp>
        <p:nvSpPr>
          <p:cNvPr id="13" name="Text 11"/>
          <p:cNvSpPr/>
          <p:nvPr/>
        </p:nvSpPr>
        <p:spPr>
          <a:xfrm>
            <a:off x="1024128" y="3657600"/>
            <a:ext cx="3401568" cy="786384"/>
          </a:xfrm>
          <a:prstGeom prst="rect">
            <a:avLst/>
          </a:prstGeom>
          <a:noFill/>
          <a:ln/>
        </p:spPr>
        <p:txBody>
          <a:bodyPr wrap="square" lIns="0" tIns="0" rIns="0" bIns="0" rtlCol="0" anchor="ctr"/>
          <a:lstStyle/>
          <a:p>
            <a:pPr marL="0" indent="0">
              <a:buNone/>
            </a:pPr>
            <a:r>
              <a:rPr lang="en-US" sz="1140" dirty="0">
                <a:solidFill>
                  <a:srgbClr val="9FB0C6"/>
                </a:solidFill>
                <a:latin typeface="Aptos" pitchFamily="34" charset="0"/>
                <a:ea typeface="Aptos" pitchFamily="34" charset="-122"/>
                <a:cs typeface="Aptos" pitchFamily="34" charset="-120"/>
              </a:rPr>
              <a:t>Le modèle ne décide pas encore quel fruit c'est. Il transforme d'abord l'image en un vecteur de 1280 valeurs, plus simple à réutiliser ensuite.</a:t>
            </a:r>
            <a:endParaRPr lang="en-US" sz="1140" dirty="0"/>
          </a:p>
        </p:txBody>
      </p:sp>
      <p:sp>
        <p:nvSpPr>
          <p:cNvPr id="14" name="Shape 12"/>
          <p:cNvSpPr/>
          <p:nvPr/>
        </p:nvSpPr>
        <p:spPr>
          <a:xfrm>
            <a:off x="5102352" y="2322576"/>
            <a:ext cx="1847088" cy="1938528"/>
          </a:xfrm>
          <a:prstGeom prst="roundRect">
            <a:avLst>
              <a:gd name="adj" fmla="val 495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5" name="Shape 13"/>
          <p:cNvSpPr/>
          <p:nvPr/>
        </p:nvSpPr>
        <p:spPr>
          <a:xfrm>
            <a:off x="5111496" y="2331720"/>
            <a:ext cx="77724" cy="1920240"/>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6" name="Text 14"/>
          <p:cNvSpPr/>
          <p:nvPr/>
        </p:nvSpPr>
        <p:spPr>
          <a:xfrm>
            <a:off x="5248656" y="2743200"/>
            <a:ext cx="1554480" cy="182880"/>
          </a:xfrm>
          <a:prstGeom prst="rect">
            <a:avLst/>
          </a:prstGeom>
          <a:noFill/>
          <a:ln/>
        </p:spPr>
        <p:txBody>
          <a:bodyPr wrap="square" lIns="0" tIns="0" rIns="0" bIns="0" rtlCol="0" anchor="ctr"/>
          <a:lstStyle/>
          <a:p>
            <a:pPr marL="0" indent="0" algn="ctr">
              <a:buNone/>
            </a:pPr>
            <a:r>
              <a:rPr lang="en-US" sz="1560" b="1" dirty="0">
                <a:solidFill>
                  <a:srgbClr val="F8FAFC"/>
                </a:solidFill>
                <a:latin typeface="Aptos Display" pitchFamily="34" charset="0"/>
                <a:ea typeface="Aptos Display" pitchFamily="34" charset="-122"/>
                <a:cs typeface="Aptos Display" pitchFamily="34" charset="-120"/>
              </a:rPr>
              <a:t>Image</a:t>
            </a:r>
            <a:endParaRPr lang="en-US" sz="1560" dirty="0"/>
          </a:p>
        </p:txBody>
      </p:sp>
      <p:sp>
        <p:nvSpPr>
          <p:cNvPr id="17" name="Text 15"/>
          <p:cNvSpPr/>
          <p:nvPr/>
        </p:nvSpPr>
        <p:spPr>
          <a:xfrm>
            <a:off x="5248656" y="3108960"/>
            <a:ext cx="1554480" cy="329184"/>
          </a:xfrm>
          <a:prstGeom prst="rect">
            <a:avLst/>
          </a:prstGeom>
          <a:noFill/>
          <a:ln/>
        </p:spPr>
        <p:txBody>
          <a:bodyPr wrap="square" lIns="0" tIns="0" rIns="0" bIns="0" rtlCol="0" anchor="ctr"/>
          <a:lstStyle/>
          <a:p>
            <a:pPr marL="0" indent="0" algn="ctr">
              <a:buNone/>
            </a:pPr>
            <a:r>
              <a:rPr lang="en-US" sz="1080" dirty="0">
                <a:solidFill>
                  <a:srgbClr val="9FB0C6"/>
                </a:solidFill>
                <a:latin typeface="Aptos" pitchFamily="34" charset="0"/>
                <a:ea typeface="Aptos" pitchFamily="34" charset="-122"/>
                <a:cs typeface="Aptos" pitchFamily="34" charset="-120"/>
              </a:rPr>
              <a:t>224 × 224</a:t>
            </a:r>
            <a:endParaRPr lang="en-US" sz="1080" dirty="0"/>
          </a:p>
        </p:txBody>
      </p:sp>
      <p:sp>
        <p:nvSpPr>
          <p:cNvPr id="18" name="Shape 16"/>
          <p:cNvSpPr/>
          <p:nvPr/>
        </p:nvSpPr>
        <p:spPr>
          <a:xfrm>
            <a:off x="7187184" y="2322576"/>
            <a:ext cx="1847088" cy="1938528"/>
          </a:xfrm>
          <a:prstGeom prst="roundRect">
            <a:avLst>
              <a:gd name="adj" fmla="val 495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9" name="Shape 17"/>
          <p:cNvSpPr/>
          <p:nvPr/>
        </p:nvSpPr>
        <p:spPr>
          <a:xfrm>
            <a:off x="7196328" y="2331720"/>
            <a:ext cx="77724" cy="1920240"/>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20" name="Text 18"/>
          <p:cNvSpPr/>
          <p:nvPr/>
        </p:nvSpPr>
        <p:spPr>
          <a:xfrm>
            <a:off x="7333488" y="2743200"/>
            <a:ext cx="1554480" cy="182880"/>
          </a:xfrm>
          <a:prstGeom prst="rect">
            <a:avLst/>
          </a:prstGeom>
          <a:noFill/>
          <a:ln/>
        </p:spPr>
        <p:txBody>
          <a:bodyPr wrap="square" lIns="0" tIns="0" rIns="0" bIns="0" rtlCol="0" anchor="ctr"/>
          <a:lstStyle/>
          <a:p>
            <a:pPr marL="0" indent="0" algn="ctr">
              <a:buNone/>
            </a:pPr>
            <a:r>
              <a:rPr lang="en-US" sz="1560" b="1" dirty="0">
                <a:solidFill>
                  <a:srgbClr val="F8FAFC"/>
                </a:solidFill>
                <a:latin typeface="Aptos Display" pitchFamily="34" charset="0"/>
                <a:ea typeface="Aptos Display" pitchFamily="34" charset="-122"/>
                <a:cs typeface="Aptos Display" pitchFamily="34" charset="-120"/>
              </a:rPr>
              <a:t>MobileNetV2</a:t>
            </a:r>
            <a:endParaRPr lang="en-US" sz="1560" dirty="0"/>
          </a:p>
        </p:txBody>
      </p:sp>
      <p:sp>
        <p:nvSpPr>
          <p:cNvPr id="21" name="Text 19"/>
          <p:cNvSpPr/>
          <p:nvPr/>
        </p:nvSpPr>
        <p:spPr>
          <a:xfrm>
            <a:off x="7333488" y="3108960"/>
            <a:ext cx="1554480" cy="329184"/>
          </a:xfrm>
          <a:prstGeom prst="rect">
            <a:avLst/>
          </a:prstGeom>
          <a:noFill/>
          <a:ln/>
        </p:spPr>
        <p:txBody>
          <a:bodyPr wrap="square" lIns="0" tIns="0" rIns="0" bIns="0" rtlCol="0" anchor="ctr"/>
          <a:lstStyle/>
          <a:p>
            <a:pPr marL="0" indent="0" algn="ctr">
              <a:buNone/>
            </a:pPr>
            <a:r>
              <a:rPr lang="en-US" sz="1080" dirty="0">
                <a:solidFill>
                  <a:srgbClr val="9FB0C6"/>
                </a:solidFill>
                <a:latin typeface="Aptos" pitchFamily="34" charset="0"/>
                <a:ea typeface="Aptos" pitchFamily="34" charset="-122"/>
                <a:cs typeface="Aptos" pitchFamily="34" charset="-120"/>
              </a:rPr>
              <a:t>sans couche finale</a:t>
            </a:r>
            <a:endParaRPr lang="en-US" sz="1080" dirty="0"/>
          </a:p>
        </p:txBody>
      </p:sp>
      <p:sp>
        <p:nvSpPr>
          <p:cNvPr id="22" name="Shape 20"/>
          <p:cNvSpPr/>
          <p:nvPr/>
        </p:nvSpPr>
        <p:spPr>
          <a:xfrm>
            <a:off x="9272016" y="2322576"/>
            <a:ext cx="1847088" cy="1938528"/>
          </a:xfrm>
          <a:prstGeom prst="roundRect">
            <a:avLst>
              <a:gd name="adj" fmla="val 495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3" name="Shape 21"/>
          <p:cNvSpPr/>
          <p:nvPr/>
        </p:nvSpPr>
        <p:spPr>
          <a:xfrm>
            <a:off x="9281160" y="2331720"/>
            <a:ext cx="77724" cy="1920240"/>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4" name="Text 22"/>
          <p:cNvSpPr/>
          <p:nvPr/>
        </p:nvSpPr>
        <p:spPr>
          <a:xfrm>
            <a:off x="9418320" y="2743200"/>
            <a:ext cx="1554480" cy="182880"/>
          </a:xfrm>
          <a:prstGeom prst="rect">
            <a:avLst/>
          </a:prstGeom>
          <a:noFill/>
          <a:ln/>
        </p:spPr>
        <p:txBody>
          <a:bodyPr wrap="square" lIns="0" tIns="0" rIns="0" bIns="0" rtlCol="0" anchor="ctr"/>
          <a:lstStyle/>
          <a:p>
            <a:pPr marL="0" indent="0" algn="ctr">
              <a:buNone/>
            </a:pPr>
            <a:r>
              <a:rPr lang="en-US" sz="1560" b="1" dirty="0">
                <a:solidFill>
                  <a:srgbClr val="F8FAFC"/>
                </a:solidFill>
                <a:latin typeface="Aptos Display" pitchFamily="34" charset="0"/>
                <a:ea typeface="Aptos Display" pitchFamily="34" charset="-122"/>
                <a:cs typeface="Aptos Display" pitchFamily="34" charset="-120"/>
              </a:rPr>
              <a:t>Vecteur</a:t>
            </a:r>
            <a:endParaRPr lang="en-US" sz="1560" dirty="0"/>
          </a:p>
        </p:txBody>
      </p:sp>
      <p:sp>
        <p:nvSpPr>
          <p:cNvPr id="25" name="Text 23"/>
          <p:cNvSpPr/>
          <p:nvPr/>
        </p:nvSpPr>
        <p:spPr>
          <a:xfrm>
            <a:off x="9418320" y="3108960"/>
            <a:ext cx="1554480" cy="329184"/>
          </a:xfrm>
          <a:prstGeom prst="rect">
            <a:avLst/>
          </a:prstGeom>
          <a:noFill/>
          <a:ln/>
        </p:spPr>
        <p:txBody>
          <a:bodyPr wrap="square" lIns="0" tIns="0" rIns="0" bIns="0" rtlCol="0" anchor="ctr"/>
          <a:lstStyle/>
          <a:p>
            <a:pPr marL="0" indent="0" algn="ctr">
              <a:buNone/>
            </a:pPr>
            <a:r>
              <a:rPr lang="en-US" sz="1080" dirty="0">
                <a:solidFill>
                  <a:srgbClr val="9FB0C6"/>
                </a:solidFill>
                <a:latin typeface="Aptos" pitchFamily="34" charset="0"/>
                <a:ea typeface="Aptos" pitchFamily="34" charset="-122"/>
                <a:cs typeface="Aptos" pitchFamily="34" charset="-120"/>
              </a:rPr>
              <a:t>1280 dimensions</a:t>
            </a:r>
            <a:endParaRPr lang="en-US" sz="1080" dirty="0"/>
          </a:p>
        </p:txBody>
      </p:sp>
      <p:sp>
        <p:nvSpPr>
          <p:cNvPr id="26" name="Shape 24"/>
          <p:cNvSpPr/>
          <p:nvPr/>
        </p:nvSpPr>
        <p:spPr>
          <a:xfrm>
            <a:off x="5102352" y="4663440"/>
            <a:ext cx="5504688" cy="786384"/>
          </a:xfrm>
          <a:prstGeom prst="roundRect">
            <a:avLst>
              <a:gd name="adj" fmla="val 9302"/>
            </a:avLst>
          </a:prstGeom>
          <a:solidFill>
            <a:srgbClr val="0C1626"/>
          </a:solidFill>
          <a:ln w="12700">
            <a:solidFill>
              <a:srgbClr val="23344C"/>
            </a:solidFill>
            <a:prstDash val="solid"/>
          </a:ln>
        </p:spPr>
        <p:txBody>
          <a:bodyPr/>
          <a:lstStyle/>
          <a:p>
            <a:endParaRPr lang="fr-FR"/>
          </a:p>
        </p:txBody>
      </p:sp>
      <p:sp>
        <p:nvSpPr>
          <p:cNvPr id="27" name="Text 25"/>
          <p:cNvSpPr/>
          <p:nvPr/>
        </p:nvSpPr>
        <p:spPr>
          <a:xfrm>
            <a:off x="5340096" y="4864608"/>
            <a:ext cx="5029200" cy="347472"/>
          </a:xfrm>
          <a:prstGeom prst="rect">
            <a:avLst/>
          </a:prstGeom>
          <a:noFill/>
          <a:ln/>
        </p:spPr>
        <p:txBody>
          <a:bodyPr wrap="square" lIns="0" tIns="0" rIns="0" bIns="0" rtlCol="0" anchor="ctr"/>
          <a:lstStyle/>
          <a:p>
            <a:pPr marL="0" indent="0">
              <a:buNone/>
            </a:pPr>
            <a:r>
              <a:rPr lang="en-US" sz="1090" dirty="0">
                <a:solidFill>
                  <a:srgbClr val="C9D4E3"/>
                </a:solidFill>
                <a:latin typeface="Aptos" pitchFamily="34" charset="0"/>
                <a:ea typeface="Aptos" pitchFamily="34" charset="-122"/>
                <a:cs typeface="Aptos" pitchFamily="34" charset="-120"/>
              </a:rPr>
              <a:t>Point important pour la soutenance : nous ne cherchons pas encore la prédiction finale. Nous préparons d'abord une représentation compacte et exploitable de l'image.</a:t>
            </a:r>
            <a:endParaRPr lang="en-US" sz="10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PIPELINE LOCAL</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Complément demandé : diffuser les poids du modèle</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notebook d'origine oubliait de diffuser correctement les poids du modèle sur les workers du cluster.</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10</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82496"/>
            <a:ext cx="4169664" cy="4498848"/>
          </a:xfrm>
          <a:prstGeom prst="roundRect">
            <a:avLst>
              <a:gd name="adj" fmla="val 219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91640"/>
            <a:ext cx="77724" cy="4480560"/>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1" name="Text 9"/>
          <p:cNvSpPr/>
          <p:nvPr/>
        </p:nvSpPr>
        <p:spPr>
          <a:xfrm>
            <a:off x="1024128" y="1938528"/>
            <a:ext cx="2103120" cy="164592"/>
          </a:xfrm>
          <a:prstGeom prst="rect">
            <a:avLst/>
          </a:prstGeom>
          <a:noFill/>
          <a:ln/>
        </p:spPr>
        <p:txBody>
          <a:bodyPr wrap="square" lIns="0" tIns="0" rIns="0" bIns="0" rtlCol="0" anchor="ctr"/>
          <a:lstStyle/>
          <a:p>
            <a:pPr marL="0" indent="0">
              <a:buNone/>
            </a:pPr>
            <a:r>
              <a:rPr lang="en-US" sz="1100" b="1" dirty="0">
                <a:solidFill>
                  <a:srgbClr val="F1A43A"/>
                </a:solidFill>
                <a:latin typeface="Aptos" pitchFamily="34" charset="0"/>
                <a:ea typeface="Aptos" pitchFamily="34" charset="-122"/>
                <a:cs typeface="Aptos" pitchFamily="34" charset="-120"/>
              </a:rPr>
              <a:t>Ce que nous ajoutons</a:t>
            </a:r>
            <a:endParaRPr lang="en-US" sz="1100" dirty="0"/>
          </a:p>
        </p:txBody>
      </p:sp>
      <p:sp>
        <p:nvSpPr>
          <p:cNvPr id="12" name="Text 10"/>
          <p:cNvSpPr/>
          <p:nvPr/>
        </p:nvSpPr>
        <p:spPr>
          <a:xfrm>
            <a:off x="1024128" y="2267712"/>
            <a:ext cx="3657600" cy="1115568"/>
          </a:xfrm>
          <a:prstGeom prst="rect">
            <a:avLst/>
          </a:prstGeom>
          <a:noFill/>
          <a:ln/>
        </p:spPr>
        <p:txBody>
          <a:bodyPr wrap="square" lIns="0" tIns="0" rIns="0" bIns="0" rtlCol="0" anchor="ctr"/>
          <a:lstStyle/>
          <a:p>
            <a:pPr marL="0" indent="0">
              <a:buNone/>
            </a:pPr>
            <a:r>
              <a:rPr lang="en-US" sz="1190" dirty="0">
                <a:solidFill>
                  <a:srgbClr val="F8FAFC"/>
                </a:solidFill>
                <a:latin typeface="Aptos" pitchFamily="34" charset="0"/>
                <a:ea typeface="Aptos" pitchFamily="34" charset="-122"/>
                <a:cs typeface="Aptos" pitchFamily="34" charset="-120"/>
              </a:rPr>
              <a:t>Nous envoyons une seule copie des poids depuis le driver. Chaque worker reconstruit ensuite le même modèle localement avant de calculer les caractéristiques. L'exécution distribuée devient ainsi plus propre et plus cohérente.</a:t>
            </a:r>
            <a:endParaRPr lang="en-US" sz="1190" dirty="0"/>
          </a:p>
        </p:txBody>
      </p:sp>
      <p:sp>
        <p:nvSpPr>
          <p:cNvPr id="13" name="Shape 11"/>
          <p:cNvSpPr/>
          <p:nvPr/>
        </p:nvSpPr>
        <p:spPr>
          <a:xfrm>
            <a:off x="1024128" y="3858768"/>
            <a:ext cx="3657600" cy="1078992"/>
          </a:xfrm>
          <a:prstGeom prst="roundRect">
            <a:avLst>
              <a:gd name="adj" fmla="val 6780"/>
            </a:avLst>
          </a:prstGeom>
          <a:solidFill>
            <a:srgbClr val="0C1626"/>
          </a:solidFill>
          <a:ln w="12700">
            <a:solidFill>
              <a:srgbClr val="23344C"/>
            </a:solidFill>
            <a:prstDash val="solid"/>
          </a:ln>
        </p:spPr>
        <p:txBody>
          <a:bodyPr/>
          <a:lstStyle/>
          <a:p>
            <a:endParaRPr lang="fr-FR"/>
          </a:p>
        </p:txBody>
      </p:sp>
      <p:sp>
        <p:nvSpPr>
          <p:cNvPr id="14" name="Text 12"/>
          <p:cNvSpPr/>
          <p:nvPr/>
        </p:nvSpPr>
        <p:spPr>
          <a:xfrm>
            <a:off x="1261872" y="4059936"/>
            <a:ext cx="1371600" cy="146304"/>
          </a:xfrm>
          <a:prstGeom prst="rect">
            <a:avLst/>
          </a:prstGeom>
          <a:noFill/>
          <a:ln/>
        </p:spPr>
        <p:txBody>
          <a:bodyPr wrap="square" lIns="0" tIns="0" rIns="0" bIns="0" rtlCol="0" anchor="ctr"/>
          <a:lstStyle/>
          <a:p>
            <a:pPr marL="0" indent="0">
              <a:buNone/>
            </a:pPr>
            <a:r>
              <a:rPr lang="en-US" sz="1060" b="1" dirty="0">
                <a:solidFill>
                  <a:srgbClr val="60A5FA"/>
                </a:solidFill>
                <a:latin typeface="Aptos" pitchFamily="34" charset="0"/>
                <a:ea typeface="Aptos" pitchFamily="34" charset="-122"/>
                <a:cs typeface="Aptos" pitchFamily="34" charset="-120"/>
              </a:rPr>
              <a:t>Définition rapide</a:t>
            </a:r>
            <a:endParaRPr lang="en-US" sz="1060" dirty="0"/>
          </a:p>
        </p:txBody>
      </p:sp>
      <p:sp>
        <p:nvSpPr>
          <p:cNvPr id="15" name="Text 13"/>
          <p:cNvSpPr/>
          <p:nvPr/>
        </p:nvSpPr>
        <p:spPr>
          <a:xfrm>
            <a:off x="1261872" y="4315968"/>
            <a:ext cx="3163824" cy="384048"/>
          </a:xfrm>
          <a:prstGeom prst="rect">
            <a:avLst/>
          </a:prstGeom>
          <a:noFill/>
          <a:ln/>
        </p:spPr>
        <p:txBody>
          <a:bodyPr wrap="square" lIns="0" tIns="0" rIns="0" bIns="0" rtlCol="0" anchor="ctr"/>
          <a:lstStyle/>
          <a:p>
            <a:pPr marL="0" indent="0">
              <a:buNone/>
            </a:pPr>
            <a:r>
              <a:rPr lang="en-US" sz="1040" dirty="0">
                <a:solidFill>
                  <a:srgbClr val="C9D4E3"/>
                </a:solidFill>
                <a:latin typeface="Aptos" pitchFamily="34" charset="0"/>
                <a:ea typeface="Aptos" pitchFamily="34" charset="-122"/>
                <a:cs typeface="Aptos" pitchFamily="34" charset="-120"/>
              </a:rPr>
              <a:t>Le driver pilote le travail Spark. Les workers exécutent les tâches en parallèle sur les données.</a:t>
            </a:r>
            <a:endParaRPr lang="en-US" sz="1040" dirty="0"/>
          </a:p>
        </p:txBody>
      </p:sp>
      <p:sp>
        <p:nvSpPr>
          <p:cNvPr id="16" name="Shape 14"/>
          <p:cNvSpPr/>
          <p:nvPr/>
        </p:nvSpPr>
        <p:spPr>
          <a:xfrm>
            <a:off x="5321808" y="2304288"/>
            <a:ext cx="1755648" cy="2084832"/>
          </a:xfrm>
          <a:prstGeom prst="roundRect">
            <a:avLst>
              <a:gd name="adj" fmla="val 520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7" name="Shape 15"/>
          <p:cNvSpPr/>
          <p:nvPr/>
        </p:nvSpPr>
        <p:spPr>
          <a:xfrm>
            <a:off x="5330952" y="2313432"/>
            <a:ext cx="77724" cy="2066544"/>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8" name="Text 16"/>
          <p:cNvSpPr/>
          <p:nvPr/>
        </p:nvSpPr>
        <p:spPr>
          <a:xfrm>
            <a:off x="5468112" y="2688336"/>
            <a:ext cx="1426464" cy="164592"/>
          </a:xfrm>
          <a:prstGeom prst="rect">
            <a:avLst/>
          </a:prstGeom>
          <a:noFill/>
          <a:ln/>
        </p:spPr>
        <p:txBody>
          <a:bodyPr wrap="square" lIns="0" tIns="0" rIns="0" bIns="0" rtlCol="0" anchor="ctr"/>
          <a:lstStyle/>
          <a:p>
            <a:pPr marL="0" indent="0" algn="ctr">
              <a:buNone/>
            </a:pPr>
            <a:r>
              <a:rPr lang="en-US" sz="1480" b="1" dirty="0">
                <a:solidFill>
                  <a:srgbClr val="F8FAFC"/>
                </a:solidFill>
                <a:latin typeface="Aptos Display" pitchFamily="34" charset="0"/>
                <a:ea typeface="Aptos Display" pitchFamily="34" charset="-122"/>
                <a:cs typeface="Aptos Display" pitchFamily="34" charset="-120"/>
              </a:rPr>
              <a:t>Driver</a:t>
            </a:r>
            <a:endParaRPr lang="en-US" sz="1480" dirty="0"/>
          </a:p>
        </p:txBody>
      </p:sp>
      <p:sp>
        <p:nvSpPr>
          <p:cNvPr id="19" name="Text 17"/>
          <p:cNvSpPr/>
          <p:nvPr/>
        </p:nvSpPr>
        <p:spPr>
          <a:xfrm>
            <a:off x="5468112" y="3054096"/>
            <a:ext cx="1426464" cy="493776"/>
          </a:xfrm>
          <a:prstGeom prst="rect">
            <a:avLst/>
          </a:prstGeom>
          <a:noFill/>
          <a:ln/>
        </p:spPr>
        <p:txBody>
          <a:bodyPr wrap="square" lIns="0" tIns="0" rIns="0" bIns="0" rtlCol="0" anchor="ctr"/>
          <a:lstStyle/>
          <a:p>
            <a:pPr marL="0" indent="0" algn="ctr">
              <a:buNone/>
            </a:pPr>
            <a:r>
              <a:rPr lang="en-US" sz="1040" dirty="0">
                <a:solidFill>
                  <a:srgbClr val="9FB0C6"/>
                </a:solidFill>
                <a:latin typeface="Aptos" pitchFamily="34" charset="0"/>
                <a:ea typeface="Aptos" pitchFamily="34" charset="-122"/>
                <a:cs typeface="Aptos" pitchFamily="34" charset="-120"/>
              </a:rPr>
              <a:t>charge les poids</a:t>
            </a:r>
            <a:endParaRPr lang="en-US" sz="1040" dirty="0"/>
          </a:p>
          <a:p>
            <a:pPr marL="0" indent="0" algn="ctr">
              <a:buNone/>
            </a:pPr>
            <a:r>
              <a:rPr lang="en-US" sz="1040" dirty="0">
                <a:solidFill>
                  <a:srgbClr val="9FB0C6"/>
                </a:solidFill>
                <a:latin typeface="Aptos" pitchFamily="34" charset="0"/>
                <a:ea typeface="Aptos" pitchFamily="34" charset="-122"/>
                <a:cs typeface="Aptos" pitchFamily="34" charset="-120"/>
              </a:rPr>
              <a:t>une seule fois</a:t>
            </a:r>
            <a:endParaRPr lang="en-US" sz="1040" dirty="0"/>
          </a:p>
        </p:txBody>
      </p:sp>
      <p:sp>
        <p:nvSpPr>
          <p:cNvPr id="20" name="Shape 18"/>
          <p:cNvSpPr/>
          <p:nvPr/>
        </p:nvSpPr>
        <p:spPr>
          <a:xfrm>
            <a:off x="7315200" y="2304288"/>
            <a:ext cx="1755648" cy="2084832"/>
          </a:xfrm>
          <a:prstGeom prst="roundRect">
            <a:avLst>
              <a:gd name="adj" fmla="val 520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1" name="Shape 19"/>
          <p:cNvSpPr/>
          <p:nvPr/>
        </p:nvSpPr>
        <p:spPr>
          <a:xfrm>
            <a:off x="7324344" y="2313432"/>
            <a:ext cx="77724" cy="2066544"/>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22" name="Text 20"/>
          <p:cNvSpPr/>
          <p:nvPr/>
        </p:nvSpPr>
        <p:spPr>
          <a:xfrm>
            <a:off x="7461504" y="2688336"/>
            <a:ext cx="1426464" cy="164592"/>
          </a:xfrm>
          <a:prstGeom prst="rect">
            <a:avLst/>
          </a:prstGeom>
          <a:noFill/>
          <a:ln/>
        </p:spPr>
        <p:txBody>
          <a:bodyPr wrap="square" lIns="0" tIns="0" rIns="0" bIns="0" rtlCol="0" anchor="ctr"/>
          <a:lstStyle/>
          <a:p>
            <a:pPr marL="0" indent="0" algn="ctr">
              <a:buNone/>
            </a:pPr>
            <a:r>
              <a:rPr lang="en-US" sz="1480" b="1" dirty="0">
                <a:solidFill>
                  <a:srgbClr val="F8FAFC"/>
                </a:solidFill>
                <a:latin typeface="Aptos Display" pitchFamily="34" charset="0"/>
                <a:ea typeface="Aptos Display" pitchFamily="34" charset="-122"/>
                <a:cs typeface="Aptos Display" pitchFamily="34" charset="-120"/>
              </a:rPr>
              <a:t>Workers</a:t>
            </a:r>
            <a:endParaRPr lang="en-US" sz="1480" dirty="0"/>
          </a:p>
        </p:txBody>
      </p:sp>
      <p:sp>
        <p:nvSpPr>
          <p:cNvPr id="23" name="Text 21"/>
          <p:cNvSpPr/>
          <p:nvPr/>
        </p:nvSpPr>
        <p:spPr>
          <a:xfrm>
            <a:off x="7461504" y="3054096"/>
            <a:ext cx="1426464" cy="493776"/>
          </a:xfrm>
          <a:prstGeom prst="rect">
            <a:avLst/>
          </a:prstGeom>
          <a:noFill/>
          <a:ln/>
        </p:spPr>
        <p:txBody>
          <a:bodyPr wrap="square" lIns="0" tIns="0" rIns="0" bIns="0" rtlCol="0" anchor="ctr"/>
          <a:lstStyle/>
          <a:p>
            <a:pPr marL="0" indent="0" algn="ctr">
              <a:buNone/>
            </a:pPr>
            <a:r>
              <a:rPr lang="en-US" sz="1040" dirty="0">
                <a:solidFill>
                  <a:srgbClr val="9FB0C6"/>
                </a:solidFill>
                <a:latin typeface="Aptos" pitchFamily="34" charset="0"/>
                <a:ea typeface="Aptos" pitchFamily="34" charset="-122"/>
                <a:cs typeface="Aptos" pitchFamily="34" charset="-120"/>
              </a:rPr>
              <a:t>reconstruisent le</a:t>
            </a:r>
            <a:endParaRPr lang="en-US" sz="1040" dirty="0"/>
          </a:p>
          <a:p>
            <a:pPr marL="0" indent="0" algn="ctr">
              <a:buNone/>
            </a:pPr>
            <a:r>
              <a:rPr lang="en-US" sz="1040" dirty="0">
                <a:solidFill>
                  <a:srgbClr val="9FB0C6"/>
                </a:solidFill>
                <a:latin typeface="Aptos" pitchFamily="34" charset="0"/>
                <a:ea typeface="Aptos" pitchFamily="34" charset="-122"/>
                <a:cs typeface="Aptos" pitchFamily="34" charset="-120"/>
              </a:rPr>
              <a:t>modèle localement</a:t>
            </a:r>
            <a:endParaRPr lang="en-US" sz="1040" dirty="0"/>
          </a:p>
        </p:txBody>
      </p:sp>
      <p:sp>
        <p:nvSpPr>
          <p:cNvPr id="24" name="Shape 22"/>
          <p:cNvSpPr/>
          <p:nvPr/>
        </p:nvSpPr>
        <p:spPr>
          <a:xfrm>
            <a:off x="9308592" y="2304288"/>
            <a:ext cx="1755648" cy="2084832"/>
          </a:xfrm>
          <a:prstGeom prst="roundRect">
            <a:avLst>
              <a:gd name="adj" fmla="val 520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5" name="Shape 23"/>
          <p:cNvSpPr/>
          <p:nvPr/>
        </p:nvSpPr>
        <p:spPr>
          <a:xfrm>
            <a:off x="9317736" y="2313432"/>
            <a:ext cx="77724" cy="2066544"/>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6" name="Text 24"/>
          <p:cNvSpPr/>
          <p:nvPr/>
        </p:nvSpPr>
        <p:spPr>
          <a:xfrm>
            <a:off x="9454896" y="2688336"/>
            <a:ext cx="1426464" cy="164592"/>
          </a:xfrm>
          <a:prstGeom prst="rect">
            <a:avLst/>
          </a:prstGeom>
          <a:noFill/>
          <a:ln/>
        </p:spPr>
        <p:txBody>
          <a:bodyPr wrap="square" lIns="0" tIns="0" rIns="0" bIns="0" rtlCol="0" anchor="ctr"/>
          <a:lstStyle/>
          <a:p>
            <a:pPr marL="0" indent="0" algn="ctr">
              <a:buNone/>
            </a:pPr>
            <a:r>
              <a:rPr lang="en-US" sz="1480" b="1" dirty="0">
                <a:solidFill>
                  <a:srgbClr val="F8FAFC"/>
                </a:solidFill>
                <a:latin typeface="Aptos Display" pitchFamily="34" charset="0"/>
                <a:ea typeface="Aptos Display" pitchFamily="34" charset="-122"/>
                <a:cs typeface="Aptos Display" pitchFamily="34" charset="-120"/>
              </a:rPr>
              <a:t>Résultat</a:t>
            </a:r>
            <a:endParaRPr lang="en-US" sz="1480" dirty="0"/>
          </a:p>
        </p:txBody>
      </p:sp>
      <p:sp>
        <p:nvSpPr>
          <p:cNvPr id="27" name="Text 25"/>
          <p:cNvSpPr/>
          <p:nvPr/>
        </p:nvSpPr>
        <p:spPr>
          <a:xfrm>
            <a:off x="9454896" y="3054096"/>
            <a:ext cx="1426464" cy="493776"/>
          </a:xfrm>
          <a:prstGeom prst="rect">
            <a:avLst/>
          </a:prstGeom>
          <a:noFill/>
          <a:ln/>
        </p:spPr>
        <p:txBody>
          <a:bodyPr wrap="square" lIns="0" tIns="0" rIns="0" bIns="0" rtlCol="0" anchor="ctr"/>
          <a:lstStyle/>
          <a:p>
            <a:pPr marL="0" indent="0" algn="ctr">
              <a:buNone/>
            </a:pPr>
            <a:r>
              <a:rPr lang="en-US" sz="1040" dirty="0">
                <a:solidFill>
                  <a:srgbClr val="9FB0C6"/>
                </a:solidFill>
                <a:latin typeface="Aptos" pitchFamily="34" charset="0"/>
                <a:ea typeface="Aptos" pitchFamily="34" charset="-122"/>
                <a:cs typeface="Aptos" pitchFamily="34" charset="-120"/>
              </a:rPr>
              <a:t>la featurisation reste</a:t>
            </a:r>
            <a:endParaRPr lang="en-US" sz="1040" dirty="0"/>
          </a:p>
          <a:p>
            <a:pPr marL="0" indent="0" algn="ctr">
              <a:buNone/>
            </a:pPr>
            <a:r>
              <a:rPr lang="en-US" sz="1040" dirty="0">
                <a:solidFill>
                  <a:srgbClr val="9FB0C6"/>
                </a:solidFill>
                <a:latin typeface="Aptos" pitchFamily="34" charset="0"/>
                <a:ea typeface="Aptos" pitchFamily="34" charset="-122"/>
                <a:cs typeface="Aptos" pitchFamily="34" charset="-120"/>
              </a:rPr>
              <a:t>homogène partout</a:t>
            </a:r>
            <a:endParaRPr lang="en-US" sz="1040" dirty="0"/>
          </a:p>
        </p:txBody>
      </p:sp>
      <p:sp>
        <p:nvSpPr>
          <p:cNvPr id="28" name="Shape 26"/>
          <p:cNvSpPr/>
          <p:nvPr/>
        </p:nvSpPr>
        <p:spPr>
          <a:xfrm>
            <a:off x="5321808" y="4754880"/>
            <a:ext cx="5413248" cy="749808"/>
          </a:xfrm>
          <a:prstGeom prst="roundRect">
            <a:avLst>
              <a:gd name="adj" fmla="val 9756"/>
            </a:avLst>
          </a:prstGeom>
          <a:solidFill>
            <a:srgbClr val="0C1626"/>
          </a:solidFill>
          <a:ln w="12700">
            <a:solidFill>
              <a:srgbClr val="23344C"/>
            </a:solidFill>
            <a:prstDash val="solid"/>
          </a:ln>
        </p:spPr>
        <p:txBody>
          <a:bodyPr/>
          <a:lstStyle/>
          <a:p>
            <a:endParaRPr lang="fr-FR"/>
          </a:p>
        </p:txBody>
      </p:sp>
      <p:sp>
        <p:nvSpPr>
          <p:cNvPr id="29" name="Text 27"/>
          <p:cNvSpPr/>
          <p:nvPr/>
        </p:nvSpPr>
        <p:spPr>
          <a:xfrm>
            <a:off x="5559552" y="4956048"/>
            <a:ext cx="4937760" cy="310896"/>
          </a:xfrm>
          <a:prstGeom prst="rect">
            <a:avLst/>
          </a:prstGeom>
          <a:noFill/>
          <a:ln/>
        </p:spPr>
        <p:txBody>
          <a:bodyPr wrap="square" lIns="0" tIns="0" rIns="0" bIns="0" rtlCol="0" anchor="ctr"/>
          <a:lstStyle/>
          <a:p>
            <a:pPr marL="0" indent="0">
              <a:buNone/>
            </a:pPr>
            <a:r>
              <a:rPr lang="en-US" sz="1080" dirty="0">
                <a:solidFill>
                  <a:srgbClr val="C9D4E3"/>
                </a:solidFill>
                <a:latin typeface="Aptos" pitchFamily="34" charset="0"/>
                <a:ea typeface="Aptos" pitchFamily="34" charset="-122"/>
                <a:cs typeface="Aptos" pitchFamily="34" charset="-120"/>
              </a:rPr>
              <a:t>Cette étape n'améliore pas la précision à elle seule. En revanche, elle rend le déploiement distribué cohérent, ce qui était précisément demandé dans le projet.</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PIPELINE LOCAL</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Pourquoi ajouter une ACP après la featurisation ?</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L'ACP résume l'information utile dans un espace plus compact et plus simple à exploiter.</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11</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5760720" cy="4498848"/>
          </a:xfrm>
          <a:prstGeom prst="roundRect">
            <a:avLst>
              <a:gd name="adj" fmla="val 203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80560"/>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11" name="Image 0" descr="/mnt/data/ppt_v3_assets/charts/dimensions_reduction.png"/>
          <p:cNvPicPr>
            <a:picLocks noChangeAspect="1"/>
          </p:cNvPicPr>
          <p:nvPr/>
        </p:nvPicPr>
        <p:blipFill>
          <a:blip r:embed="rId3"/>
          <a:stretch>
            <a:fillRect/>
          </a:stretch>
        </p:blipFill>
        <p:spPr>
          <a:xfrm>
            <a:off x="987552" y="2441944"/>
            <a:ext cx="5285232" cy="2760497"/>
          </a:xfrm>
          <a:prstGeom prst="rect">
            <a:avLst/>
          </a:prstGeom>
        </p:spPr>
      </p:pic>
      <p:sp>
        <p:nvSpPr>
          <p:cNvPr id="12" name="Shape 9"/>
          <p:cNvSpPr/>
          <p:nvPr/>
        </p:nvSpPr>
        <p:spPr>
          <a:xfrm>
            <a:off x="6784848" y="1664208"/>
            <a:ext cx="4626864" cy="4498848"/>
          </a:xfrm>
          <a:prstGeom prst="roundRect">
            <a:avLst>
              <a:gd name="adj" fmla="val 203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3" name="Shape 10"/>
          <p:cNvSpPr/>
          <p:nvPr/>
        </p:nvSpPr>
        <p:spPr>
          <a:xfrm>
            <a:off x="6793992" y="1673352"/>
            <a:ext cx="77724" cy="4480560"/>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14" name="Text 11"/>
          <p:cNvSpPr/>
          <p:nvPr/>
        </p:nvSpPr>
        <p:spPr>
          <a:xfrm>
            <a:off x="7040880" y="1920240"/>
            <a:ext cx="1828800" cy="164592"/>
          </a:xfrm>
          <a:prstGeom prst="rect">
            <a:avLst/>
          </a:prstGeom>
          <a:noFill/>
          <a:ln/>
        </p:spPr>
        <p:txBody>
          <a:bodyPr wrap="square" lIns="0" tIns="0" rIns="0" bIns="0" rtlCol="0" anchor="ctr"/>
          <a:lstStyle/>
          <a:p>
            <a:pPr marL="0" indent="0">
              <a:buNone/>
            </a:pPr>
            <a:r>
              <a:rPr lang="en-US" sz="1100" b="1" dirty="0">
                <a:solidFill>
                  <a:srgbClr val="A78BFA"/>
                </a:solidFill>
                <a:latin typeface="Aptos" pitchFamily="34" charset="0"/>
                <a:ea typeface="Aptos" pitchFamily="34" charset="-122"/>
                <a:cs typeface="Aptos" pitchFamily="34" charset="-120"/>
              </a:rPr>
              <a:t>Définition simple</a:t>
            </a:r>
            <a:endParaRPr lang="en-US" sz="1100" dirty="0"/>
          </a:p>
        </p:txBody>
      </p:sp>
      <p:sp>
        <p:nvSpPr>
          <p:cNvPr id="15" name="Text 12"/>
          <p:cNvSpPr/>
          <p:nvPr/>
        </p:nvSpPr>
        <p:spPr>
          <a:xfrm>
            <a:off x="7040880" y="2267712"/>
            <a:ext cx="3840480" cy="914400"/>
          </a:xfrm>
          <a:prstGeom prst="rect">
            <a:avLst/>
          </a:prstGeom>
          <a:noFill/>
          <a:ln/>
        </p:spPr>
        <p:txBody>
          <a:bodyPr wrap="square" lIns="0" tIns="0" rIns="0" bIns="0" rtlCol="0" anchor="ctr"/>
          <a:lstStyle/>
          <a:p>
            <a:pPr marL="0" indent="0">
              <a:buNone/>
            </a:pPr>
            <a:r>
              <a:rPr lang="en-US" sz="1170" dirty="0">
                <a:solidFill>
                  <a:srgbClr val="F8FAFC"/>
                </a:solidFill>
                <a:latin typeface="Aptos" pitchFamily="34" charset="0"/>
                <a:ea typeface="Aptos" pitchFamily="34" charset="-122"/>
                <a:cs typeface="Aptos" pitchFamily="34" charset="-120"/>
              </a:rPr>
              <a:t>Après MobileNetV2, chaque image est décrite par 1280 valeurs. L'ACP garde l'essentiel de la variance dans un nombre plus petit d'axes. Ici, nous retenons 50 composantes.</a:t>
            </a:r>
            <a:endParaRPr lang="en-US" sz="1170" dirty="0"/>
          </a:p>
        </p:txBody>
      </p:sp>
      <p:sp>
        <p:nvSpPr>
          <p:cNvPr id="16" name="Shape 13"/>
          <p:cNvSpPr/>
          <p:nvPr/>
        </p:nvSpPr>
        <p:spPr>
          <a:xfrm>
            <a:off x="7040880" y="3611880"/>
            <a:ext cx="100584" cy="100584"/>
          </a:xfrm>
          <a:prstGeom prst="ellipse">
            <a:avLst/>
          </a:prstGeom>
          <a:solidFill>
            <a:srgbClr val="19B67A">
              <a:alpha val="28000"/>
            </a:srgbClr>
          </a:solidFill>
          <a:ln w="12700">
            <a:solidFill>
              <a:srgbClr val="19B67A"/>
            </a:solidFill>
            <a:prstDash val="solid"/>
          </a:ln>
        </p:spPr>
        <p:txBody>
          <a:bodyPr/>
          <a:lstStyle/>
          <a:p>
            <a:endParaRPr lang="fr-FR"/>
          </a:p>
        </p:txBody>
      </p:sp>
      <p:sp>
        <p:nvSpPr>
          <p:cNvPr id="17" name="Text 14"/>
          <p:cNvSpPr/>
          <p:nvPr/>
        </p:nvSpPr>
        <p:spPr>
          <a:xfrm>
            <a:off x="7223760" y="3566160"/>
            <a:ext cx="3493008" cy="201168"/>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Nous stockons moins d’information pour la suite du pipeline.</a:t>
            </a:r>
            <a:endParaRPr lang="en-US" sz="1080" dirty="0"/>
          </a:p>
        </p:txBody>
      </p:sp>
      <p:sp>
        <p:nvSpPr>
          <p:cNvPr id="18" name="Shape 15"/>
          <p:cNvSpPr/>
          <p:nvPr/>
        </p:nvSpPr>
        <p:spPr>
          <a:xfrm>
            <a:off x="7040880" y="3959352"/>
            <a:ext cx="100584" cy="100584"/>
          </a:xfrm>
          <a:prstGeom prst="ellipse">
            <a:avLst/>
          </a:prstGeom>
          <a:solidFill>
            <a:srgbClr val="60A5FA">
              <a:alpha val="28000"/>
            </a:srgbClr>
          </a:solidFill>
          <a:ln w="12700">
            <a:solidFill>
              <a:srgbClr val="60A5FA"/>
            </a:solidFill>
            <a:prstDash val="solid"/>
          </a:ln>
        </p:spPr>
        <p:txBody>
          <a:bodyPr/>
          <a:lstStyle/>
          <a:p>
            <a:endParaRPr lang="fr-FR"/>
          </a:p>
        </p:txBody>
      </p:sp>
      <p:sp>
        <p:nvSpPr>
          <p:cNvPr id="19" name="Text 16"/>
          <p:cNvSpPr/>
          <p:nvPr/>
        </p:nvSpPr>
        <p:spPr>
          <a:xfrm>
            <a:off x="7223760" y="3913632"/>
            <a:ext cx="3493008" cy="201168"/>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Nous visualisons plus facilement la structure des données.</a:t>
            </a:r>
            <a:endParaRPr lang="en-US" sz="1080" dirty="0"/>
          </a:p>
        </p:txBody>
      </p:sp>
      <p:sp>
        <p:nvSpPr>
          <p:cNvPr id="20" name="Shape 17"/>
          <p:cNvSpPr/>
          <p:nvPr/>
        </p:nvSpPr>
        <p:spPr>
          <a:xfrm>
            <a:off x="7040880" y="4306824"/>
            <a:ext cx="100584" cy="100584"/>
          </a:xfrm>
          <a:prstGeom prst="ellipse">
            <a:avLst/>
          </a:prstGeom>
          <a:solidFill>
            <a:srgbClr val="F1A43A">
              <a:alpha val="28000"/>
            </a:srgbClr>
          </a:solidFill>
          <a:ln w="12700">
            <a:solidFill>
              <a:srgbClr val="F1A43A"/>
            </a:solidFill>
            <a:prstDash val="solid"/>
          </a:ln>
        </p:spPr>
        <p:txBody>
          <a:bodyPr/>
          <a:lstStyle/>
          <a:p>
            <a:endParaRPr lang="fr-FR"/>
          </a:p>
        </p:txBody>
      </p:sp>
      <p:sp>
        <p:nvSpPr>
          <p:cNvPr id="21" name="Text 18"/>
          <p:cNvSpPr/>
          <p:nvPr/>
        </p:nvSpPr>
        <p:spPr>
          <a:xfrm>
            <a:off x="7223760" y="4261104"/>
            <a:ext cx="3493008" cy="201168"/>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Nous préparons un espace de travail plus léger pour un futur modèle.</a:t>
            </a:r>
            <a:endParaRPr lang="en-US" sz="1080" dirty="0"/>
          </a:p>
        </p:txBody>
      </p:sp>
      <p:sp>
        <p:nvSpPr>
          <p:cNvPr id="22" name="Shape 19"/>
          <p:cNvSpPr/>
          <p:nvPr/>
        </p:nvSpPr>
        <p:spPr>
          <a:xfrm>
            <a:off x="7040880" y="4974336"/>
            <a:ext cx="3675888" cy="694944"/>
          </a:xfrm>
          <a:prstGeom prst="roundRect">
            <a:avLst>
              <a:gd name="adj" fmla="val 10526"/>
            </a:avLst>
          </a:prstGeom>
          <a:solidFill>
            <a:srgbClr val="0C1626"/>
          </a:solidFill>
          <a:ln w="12700">
            <a:solidFill>
              <a:srgbClr val="23344C"/>
            </a:solidFill>
            <a:prstDash val="solid"/>
          </a:ln>
        </p:spPr>
        <p:txBody>
          <a:bodyPr/>
          <a:lstStyle/>
          <a:p>
            <a:endParaRPr lang="fr-FR"/>
          </a:p>
        </p:txBody>
      </p:sp>
      <p:sp>
        <p:nvSpPr>
          <p:cNvPr id="23" name="Text 20"/>
          <p:cNvSpPr/>
          <p:nvPr/>
        </p:nvSpPr>
        <p:spPr>
          <a:xfrm>
            <a:off x="7278624" y="5157216"/>
            <a:ext cx="3200400" cy="292608"/>
          </a:xfrm>
          <a:prstGeom prst="rect">
            <a:avLst/>
          </a:prstGeom>
          <a:noFill/>
          <a:ln/>
        </p:spPr>
        <p:txBody>
          <a:bodyPr wrap="square" lIns="0" tIns="0" rIns="0" bIns="0" rtlCol="0" anchor="ctr"/>
          <a:lstStyle/>
          <a:p>
            <a:pPr marL="0" indent="0">
              <a:buNone/>
            </a:pPr>
            <a:r>
              <a:rPr lang="en-US" sz="1040" dirty="0">
                <a:solidFill>
                  <a:srgbClr val="C9D4E3"/>
                </a:solidFill>
                <a:latin typeface="Aptos" pitchFamily="34" charset="0"/>
                <a:ea typeface="Aptos" pitchFamily="34" charset="-122"/>
                <a:cs typeface="Aptos" pitchFamily="34" charset="-120"/>
              </a:rPr>
              <a:t>Point de méthode : l'ACP ne remplace pas un classifieur. Elle prépare simplement une représentation plus compacte et plus exploitable.</a:t>
            </a:r>
            <a:endParaRPr lang="en-US" sz="10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PIPELINE LOCAL</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Résultat local — la réduction reste informative</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volume complet local montre que l'ACP conserve une partie importante de l'information, même après une réduction forte.</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12</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22860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85039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Text 9"/>
          <p:cNvSpPr/>
          <p:nvPr/>
        </p:nvSpPr>
        <p:spPr>
          <a:xfrm>
            <a:off x="932688" y="1773936"/>
            <a:ext cx="20116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22 688</a:t>
            </a:r>
            <a:endParaRPr lang="en-US" sz="2000" dirty="0"/>
          </a:p>
        </p:txBody>
      </p:sp>
      <p:sp>
        <p:nvSpPr>
          <p:cNvPr id="12" name="Text 10"/>
          <p:cNvSpPr/>
          <p:nvPr/>
        </p:nvSpPr>
        <p:spPr>
          <a:xfrm>
            <a:off x="932688" y="2093976"/>
            <a:ext cx="20116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images analysées en local</a:t>
            </a:r>
            <a:endParaRPr lang="en-US" sz="1010" dirty="0"/>
          </a:p>
        </p:txBody>
      </p:sp>
      <p:sp>
        <p:nvSpPr>
          <p:cNvPr id="13" name="Shape 11"/>
          <p:cNvSpPr/>
          <p:nvPr/>
        </p:nvSpPr>
        <p:spPr>
          <a:xfrm>
            <a:off x="3273552" y="1664208"/>
            <a:ext cx="22860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4" name="Shape 12"/>
          <p:cNvSpPr/>
          <p:nvPr/>
        </p:nvSpPr>
        <p:spPr>
          <a:xfrm>
            <a:off x="3282696" y="1673352"/>
            <a:ext cx="77724" cy="85039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5" name="Text 13"/>
          <p:cNvSpPr/>
          <p:nvPr/>
        </p:nvSpPr>
        <p:spPr>
          <a:xfrm>
            <a:off x="3438144" y="1773936"/>
            <a:ext cx="20116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50</a:t>
            </a:r>
            <a:endParaRPr lang="en-US" sz="2000" dirty="0"/>
          </a:p>
        </p:txBody>
      </p:sp>
      <p:sp>
        <p:nvSpPr>
          <p:cNvPr id="16" name="Text 14"/>
          <p:cNvSpPr/>
          <p:nvPr/>
        </p:nvSpPr>
        <p:spPr>
          <a:xfrm>
            <a:off x="3438144" y="2093976"/>
            <a:ext cx="20116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composantes PCA</a:t>
            </a:r>
            <a:endParaRPr lang="en-US" sz="1010" dirty="0"/>
          </a:p>
        </p:txBody>
      </p:sp>
      <p:sp>
        <p:nvSpPr>
          <p:cNvPr id="17" name="Shape 15"/>
          <p:cNvSpPr/>
          <p:nvPr/>
        </p:nvSpPr>
        <p:spPr>
          <a:xfrm>
            <a:off x="5779008" y="1664208"/>
            <a:ext cx="22860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8" name="Shape 16"/>
          <p:cNvSpPr/>
          <p:nvPr/>
        </p:nvSpPr>
        <p:spPr>
          <a:xfrm>
            <a:off x="5788152" y="1673352"/>
            <a:ext cx="77724" cy="850392"/>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9" name="Text 17"/>
          <p:cNvSpPr/>
          <p:nvPr/>
        </p:nvSpPr>
        <p:spPr>
          <a:xfrm>
            <a:off x="5943600" y="1773936"/>
            <a:ext cx="20116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73,18 %</a:t>
            </a:r>
            <a:endParaRPr lang="en-US" sz="2000" dirty="0"/>
          </a:p>
        </p:txBody>
      </p:sp>
      <p:sp>
        <p:nvSpPr>
          <p:cNvPr id="20" name="Text 18"/>
          <p:cNvSpPr/>
          <p:nvPr/>
        </p:nvSpPr>
        <p:spPr>
          <a:xfrm>
            <a:off x="5943600" y="2093976"/>
            <a:ext cx="20116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variance cumulée</a:t>
            </a:r>
            <a:endParaRPr lang="en-US" sz="1010" dirty="0"/>
          </a:p>
        </p:txBody>
      </p:sp>
      <p:sp>
        <p:nvSpPr>
          <p:cNvPr id="21" name="Shape 19"/>
          <p:cNvSpPr/>
          <p:nvPr/>
        </p:nvSpPr>
        <p:spPr>
          <a:xfrm>
            <a:off x="768096" y="2761488"/>
            <a:ext cx="5257800" cy="3090672"/>
          </a:xfrm>
          <a:prstGeom prst="roundRect">
            <a:avLst>
              <a:gd name="adj" fmla="val 2959"/>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2" name="Shape 20"/>
          <p:cNvSpPr/>
          <p:nvPr/>
        </p:nvSpPr>
        <p:spPr>
          <a:xfrm>
            <a:off x="777240" y="2770632"/>
            <a:ext cx="77724" cy="3072384"/>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pic>
        <p:nvPicPr>
          <p:cNvPr id="23" name="Image 0" descr="/mnt/data/user-QVqjKnO5gsmGm3p3eBQjpH6E/0c9cd4afc4b34440ac909d70717e134c/mnt/data/plots/cell54_plot0.png"/>
          <p:cNvPicPr>
            <a:picLocks noChangeAspect="1"/>
          </p:cNvPicPr>
          <p:nvPr/>
        </p:nvPicPr>
        <p:blipFill>
          <a:blip r:embed="rId3"/>
          <a:stretch>
            <a:fillRect/>
          </a:stretch>
        </p:blipFill>
        <p:spPr>
          <a:xfrm>
            <a:off x="1764822" y="2926080"/>
            <a:ext cx="3264348" cy="2578608"/>
          </a:xfrm>
          <a:prstGeom prst="rect">
            <a:avLst/>
          </a:prstGeom>
        </p:spPr>
      </p:pic>
      <p:sp>
        <p:nvSpPr>
          <p:cNvPr id="24" name="Text 21"/>
          <p:cNvSpPr/>
          <p:nvPr/>
        </p:nvSpPr>
        <p:spPr>
          <a:xfrm>
            <a:off x="932688" y="5596128"/>
            <a:ext cx="4928616"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Variance expliquée par composante.</a:t>
            </a:r>
            <a:endParaRPr lang="en-US" sz="1000" dirty="0"/>
          </a:p>
        </p:txBody>
      </p:sp>
      <p:sp>
        <p:nvSpPr>
          <p:cNvPr id="25" name="Shape 22"/>
          <p:cNvSpPr/>
          <p:nvPr/>
        </p:nvSpPr>
        <p:spPr>
          <a:xfrm>
            <a:off x="6181344" y="2761488"/>
            <a:ext cx="5257800" cy="3090672"/>
          </a:xfrm>
          <a:prstGeom prst="roundRect">
            <a:avLst>
              <a:gd name="adj" fmla="val 2959"/>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6" name="Shape 23"/>
          <p:cNvSpPr/>
          <p:nvPr/>
        </p:nvSpPr>
        <p:spPr>
          <a:xfrm>
            <a:off x="6190488" y="2770632"/>
            <a:ext cx="77724" cy="3072384"/>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27" name="Image 1" descr="/mnt/data/user-QVqjKnO5gsmGm3p3eBQjpH6E/0c9cd4afc4b34440ac909d70717e134c/mnt/data/plots/cell54_plot1.png"/>
          <p:cNvPicPr>
            <a:picLocks noChangeAspect="1"/>
          </p:cNvPicPr>
          <p:nvPr/>
        </p:nvPicPr>
        <p:blipFill>
          <a:blip r:embed="rId4"/>
          <a:stretch>
            <a:fillRect/>
          </a:stretch>
        </p:blipFill>
        <p:spPr>
          <a:xfrm>
            <a:off x="7203573" y="2926080"/>
            <a:ext cx="3213342" cy="2578608"/>
          </a:xfrm>
          <a:prstGeom prst="rect">
            <a:avLst/>
          </a:prstGeom>
        </p:spPr>
      </p:pic>
      <p:sp>
        <p:nvSpPr>
          <p:cNvPr id="28" name="Text 24"/>
          <p:cNvSpPr/>
          <p:nvPr/>
        </p:nvSpPr>
        <p:spPr>
          <a:xfrm>
            <a:off x="6345936" y="5596128"/>
            <a:ext cx="4928616"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La variance cumulée progresse jusqu’à ~73 %.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PIPELINE LOCAL</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Résultat local — la lecture devient plus visuelle</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Les projections 2D et 3D ne séparent pas parfaitement toutes les classes, mais elles montrent déjà une structure plus lisible.</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13</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5285232" cy="4023360"/>
          </a:xfrm>
          <a:prstGeom prst="roundRect">
            <a:avLst>
              <a:gd name="adj" fmla="val 227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00507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pic>
        <p:nvPicPr>
          <p:cNvPr id="11" name="Image 0" descr="/mnt/data/user-QVqjKnO5gsmGm3p3eBQjpH6E/0c9cd4afc4b34440ac909d70717e134c/mnt/data/plots/cell54_plot2.png"/>
          <p:cNvPicPr>
            <a:picLocks noChangeAspect="1"/>
          </p:cNvPicPr>
          <p:nvPr/>
        </p:nvPicPr>
        <p:blipFill>
          <a:blip r:embed="rId3"/>
          <a:stretch>
            <a:fillRect/>
          </a:stretch>
        </p:blipFill>
        <p:spPr>
          <a:xfrm>
            <a:off x="1230622" y="1828800"/>
            <a:ext cx="4360181" cy="3511296"/>
          </a:xfrm>
          <a:prstGeom prst="rect">
            <a:avLst/>
          </a:prstGeom>
        </p:spPr>
      </p:pic>
      <p:sp>
        <p:nvSpPr>
          <p:cNvPr id="12" name="Text 9"/>
          <p:cNvSpPr/>
          <p:nvPr/>
        </p:nvSpPr>
        <p:spPr>
          <a:xfrm>
            <a:off x="932688" y="5431536"/>
            <a:ext cx="4956048"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Projection PCA 2D (PC1 vs PC2).</a:t>
            </a:r>
            <a:endParaRPr lang="en-US" sz="1000" dirty="0"/>
          </a:p>
        </p:txBody>
      </p:sp>
      <p:sp>
        <p:nvSpPr>
          <p:cNvPr id="13" name="Shape 10"/>
          <p:cNvSpPr/>
          <p:nvPr/>
        </p:nvSpPr>
        <p:spPr>
          <a:xfrm>
            <a:off x="6144768" y="1664208"/>
            <a:ext cx="5266944" cy="4023360"/>
          </a:xfrm>
          <a:prstGeom prst="roundRect">
            <a:avLst>
              <a:gd name="adj" fmla="val 227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4" name="Shape 11"/>
          <p:cNvSpPr/>
          <p:nvPr/>
        </p:nvSpPr>
        <p:spPr>
          <a:xfrm>
            <a:off x="6153912" y="1673352"/>
            <a:ext cx="77724" cy="400507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15" name="Image 1" descr="/mnt/data/user-QVqjKnO5gsmGm3p3eBQjpH6E/0c9cd4afc4b34440ac909d70717e134c/mnt/data/plots/cell54_plot3.png"/>
          <p:cNvPicPr>
            <a:picLocks noChangeAspect="1"/>
          </p:cNvPicPr>
          <p:nvPr/>
        </p:nvPicPr>
        <p:blipFill>
          <a:blip r:embed="rId4"/>
          <a:stretch>
            <a:fillRect/>
          </a:stretch>
        </p:blipFill>
        <p:spPr>
          <a:xfrm>
            <a:off x="7072753" y="1828800"/>
            <a:ext cx="3410973" cy="3511296"/>
          </a:xfrm>
          <a:prstGeom prst="rect">
            <a:avLst/>
          </a:prstGeom>
        </p:spPr>
      </p:pic>
      <p:sp>
        <p:nvSpPr>
          <p:cNvPr id="16" name="Text 12"/>
          <p:cNvSpPr/>
          <p:nvPr/>
        </p:nvSpPr>
        <p:spPr>
          <a:xfrm>
            <a:off x="6309360" y="5431536"/>
            <a:ext cx="4937760"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Projection PCA 3D.</a:t>
            </a:r>
            <a:endParaRPr lang="en-US" sz="1000" dirty="0"/>
          </a:p>
        </p:txBody>
      </p:sp>
      <p:sp>
        <p:nvSpPr>
          <p:cNvPr id="17" name="Shape 13"/>
          <p:cNvSpPr/>
          <p:nvPr/>
        </p:nvSpPr>
        <p:spPr>
          <a:xfrm>
            <a:off x="969264" y="5797296"/>
            <a:ext cx="10277856" cy="420624"/>
          </a:xfrm>
          <a:prstGeom prst="roundRect">
            <a:avLst>
              <a:gd name="adj" fmla="val 17391"/>
            </a:avLst>
          </a:prstGeom>
          <a:solidFill>
            <a:srgbClr val="0C1626"/>
          </a:solidFill>
          <a:ln w="12700">
            <a:solidFill>
              <a:srgbClr val="23344C"/>
            </a:solidFill>
            <a:prstDash val="solid"/>
          </a:ln>
        </p:spPr>
        <p:txBody>
          <a:bodyPr/>
          <a:lstStyle/>
          <a:p>
            <a:endParaRPr lang="fr-FR"/>
          </a:p>
        </p:txBody>
      </p:sp>
      <p:sp>
        <p:nvSpPr>
          <p:cNvPr id="18" name="Text 14"/>
          <p:cNvSpPr/>
          <p:nvPr/>
        </p:nvSpPr>
        <p:spPr>
          <a:xfrm>
            <a:off x="1207008" y="5916168"/>
            <a:ext cx="9802368" cy="146304"/>
          </a:xfrm>
          <a:prstGeom prst="rect">
            <a:avLst/>
          </a:prstGeom>
          <a:noFill/>
          <a:ln/>
        </p:spPr>
        <p:txBody>
          <a:bodyPr wrap="square" lIns="0" tIns="0" rIns="0" bIns="0" rtlCol="0" anchor="ctr"/>
          <a:lstStyle/>
          <a:p>
            <a:pPr marL="0" indent="0">
              <a:buNone/>
            </a:pPr>
            <a:r>
              <a:rPr lang="en-US" sz="1060" dirty="0">
                <a:solidFill>
                  <a:srgbClr val="C9D4E3"/>
                </a:solidFill>
                <a:latin typeface="Aptos" pitchFamily="34" charset="0"/>
                <a:ea typeface="Aptos" pitchFamily="34" charset="-122"/>
                <a:cs typeface="Aptos" pitchFamily="34" charset="-120"/>
              </a:rPr>
              <a:t>À retenir pour la soutenance : nous ne cherchons pas encore la meilleure classification finale. Nous montrons d'abord que la chaîne produit une représentation plus compacte et plus exploitable.</a:t>
            </a:r>
            <a:endParaRPr lang="en-US" sz="10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DÉPLOIEMENT AWS</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Préparer AWS : identité, réseau et stockage</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Avant même d'exécuter Spark, nous devons sécuriser qui accède à quoi, dans quel réseau, et où les données sont stockées.</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14</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896112" y="1956816"/>
            <a:ext cx="3273552" cy="3163824"/>
          </a:xfrm>
          <a:prstGeom prst="roundRect">
            <a:avLst>
              <a:gd name="adj" fmla="val 289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905256" y="1965960"/>
            <a:ext cx="77724" cy="3145536"/>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pic>
        <p:nvPicPr>
          <p:cNvPr id="11"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7280" y="2359152"/>
            <a:ext cx="822960" cy="822960"/>
          </a:xfrm>
          <a:prstGeom prst="rect">
            <a:avLst/>
          </a:prstGeom>
        </p:spPr>
      </p:pic>
      <p:sp>
        <p:nvSpPr>
          <p:cNvPr id="12" name="Text 9"/>
          <p:cNvSpPr/>
          <p:nvPr/>
        </p:nvSpPr>
        <p:spPr>
          <a:xfrm>
            <a:off x="1993392" y="2395728"/>
            <a:ext cx="914400" cy="164592"/>
          </a:xfrm>
          <a:prstGeom prst="rect">
            <a:avLst/>
          </a:prstGeom>
          <a:noFill/>
          <a:ln/>
        </p:spPr>
        <p:txBody>
          <a:bodyPr wrap="square" lIns="0" tIns="0" rIns="0" bIns="0" rtlCol="0" anchor="ctr"/>
          <a:lstStyle/>
          <a:p>
            <a:pPr marL="0" indent="0">
              <a:buNone/>
            </a:pPr>
            <a:r>
              <a:rPr lang="en-US" sz="1800" b="1" dirty="0">
                <a:solidFill>
                  <a:srgbClr val="F8FAFC"/>
                </a:solidFill>
                <a:latin typeface="Aptos Display" pitchFamily="34" charset="0"/>
                <a:ea typeface="Aptos Display" pitchFamily="34" charset="-122"/>
                <a:cs typeface="Aptos Display" pitchFamily="34" charset="-120"/>
              </a:rPr>
              <a:t>IAM</a:t>
            </a:r>
            <a:endParaRPr lang="en-US" sz="1800" dirty="0"/>
          </a:p>
        </p:txBody>
      </p:sp>
      <p:sp>
        <p:nvSpPr>
          <p:cNvPr id="13" name="Text 10"/>
          <p:cNvSpPr/>
          <p:nvPr/>
        </p:nvSpPr>
        <p:spPr>
          <a:xfrm>
            <a:off x="1097280" y="3456432"/>
            <a:ext cx="2761488" cy="694944"/>
          </a:xfrm>
          <a:prstGeom prst="rect">
            <a:avLst/>
          </a:prstGeom>
          <a:noFill/>
          <a:ln/>
        </p:spPr>
        <p:txBody>
          <a:bodyPr wrap="square" lIns="0" tIns="0" rIns="0" bIns="0" rtlCol="0" anchor="ctr"/>
          <a:lstStyle/>
          <a:p>
            <a:pPr marL="0" indent="0">
              <a:buNone/>
            </a:pPr>
            <a:r>
              <a:rPr lang="en-US" sz="1150" dirty="0">
                <a:solidFill>
                  <a:srgbClr val="F8FAFC"/>
                </a:solidFill>
                <a:latin typeface="Aptos" pitchFamily="34" charset="0"/>
                <a:ea typeface="Aptos" pitchFamily="34" charset="-122"/>
                <a:cs typeface="Aptos" pitchFamily="34" charset="-120"/>
              </a:rPr>
              <a:t>IAM définit les autorisations de l'utilisateur et des rôles associés au projet.</a:t>
            </a:r>
            <a:endParaRPr lang="en-US" sz="1150" dirty="0"/>
          </a:p>
        </p:txBody>
      </p:sp>
      <p:sp>
        <p:nvSpPr>
          <p:cNvPr id="14" name="Shape 11"/>
          <p:cNvSpPr/>
          <p:nvPr/>
        </p:nvSpPr>
        <p:spPr>
          <a:xfrm>
            <a:off x="4645152" y="1956816"/>
            <a:ext cx="3273552" cy="3163824"/>
          </a:xfrm>
          <a:prstGeom prst="roundRect">
            <a:avLst>
              <a:gd name="adj" fmla="val 289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5" name="Shape 12"/>
          <p:cNvSpPr/>
          <p:nvPr/>
        </p:nvSpPr>
        <p:spPr>
          <a:xfrm>
            <a:off x="4654296" y="1965960"/>
            <a:ext cx="77724" cy="3145536"/>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46320" y="2359152"/>
            <a:ext cx="822960" cy="822960"/>
          </a:xfrm>
          <a:prstGeom prst="rect">
            <a:avLst/>
          </a:prstGeom>
        </p:spPr>
      </p:pic>
      <p:sp>
        <p:nvSpPr>
          <p:cNvPr id="17" name="Text 13"/>
          <p:cNvSpPr/>
          <p:nvPr/>
        </p:nvSpPr>
        <p:spPr>
          <a:xfrm>
            <a:off x="5742432" y="2395728"/>
            <a:ext cx="914400" cy="164592"/>
          </a:xfrm>
          <a:prstGeom prst="rect">
            <a:avLst/>
          </a:prstGeom>
          <a:noFill/>
          <a:ln/>
        </p:spPr>
        <p:txBody>
          <a:bodyPr wrap="square" lIns="0" tIns="0" rIns="0" bIns="0" rtlCol="0" anchor="ctr"/>
          <a:lstStyle/>
          <a:p>
            <a:pPr marL="0" indent="0">
              <a:buNone/>
            </a:pPr>
            <a:r>
              <a:rPr lang="en-US" sz="1800" b="1" dirty="0">
                <a:solidFill>
                  <a:srgbClr val="F8FAFC"/>
                </a:solidFill>
                <a:latin typeface="Aptos Display" pitchFamily="34" charset="0"/>
                <a:ea typeface="Aptos Display" pitchFamily="34" charset="-122"/>
                <a:cs typeface="Aptos Display" pitchFamily="34" charset="-120"/>
              </a:rPr>
              <a:t>VPC</a:t>
            </a:r>
            <a:endParaRPr lang="en-US" sz="1800" dirty="0"/>
          </a:p>
        </p:txBody>
      </p:sp>
      <p:sp>
        <p:nvSpPr>
          <p:cNvPr id="18" name="Text 14"/>
          <p:cNvSpPr/>
          <p:nvPr/>
        </p:nvSpPr>
        <p:spPr>
          <a:xfrm>
            <a:off x="4846320" y="3456432"/>
            <a:ext cx="2761488" cy="694944"/>
          </a:xfrm>
          <a:prstGeom prst="rect">
            <a:avLst/>
          </a:prstGeom>
          <a:noFill/>
          <a:ln/>
        </p:spPr>
        <p:txBody>
          <a:bodyPr wrap="square" lIns="0" tIns="0" rIns="0" bIns="0" rtlCol="0" anchor="ctr"/>
          <a:lstStyle/>
          <a:p>
            <a:pPr marL="0" indent="0">
              <a:buNone/>
            </a:pPr>
            <a:r>
              <a:rPr lang="en-US" sz="1150" dirty="0">
                <a:solidFill>
                  <a:srgbClr val="F8FAFC"/>
                </a:solidFill>
                <a:latin typeface="Aptos" pitchFamily="34" charset="0"/>
                <a:ea typeface="Aptos" pitchFamily="34" charset="-122"/>
                <a:cs typeface="Aptos" pitchFamily="34" charset="-120"/>
              </a:rPr>
              <a:t>Le VPC et ses sous-réseaux structurent l'environnement réseau du cluster EMR.</a:t>
            </a:r>
            <a:endParaRPr lang="en-US" sz="1150" dirty="0"/>
          </a:p>
        </p:txBody>
      </p:sp>
      <p:sp>
        <p:nvSpPr>
          <p:cNvPr id="19" name="Shape 15"/>
          <p:cNvSpPr/>
          <p:nvPr/>
        </p:nvSpPr>
        <p:spPr>
          <a:xfrm>
            <a:off x="8394192" y="1956816"/>
            <a:ext cx="3273552" cy="3163824"/>
          </a:xfrm>
          <a:prstGeom prst="roundRect">
            <a:avLst>
              <a:gd name="adj" fmla="val 289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0" name="Shape 16"/>
          <p:cNvSpPr/>
          <p:nvPr/>
        </p:nvSpPr>
        <p:spPr>
          <a:xfrm>
            <a:off x="8403336" y="1965960"/>
            <a:ext cx="77724" cy="3145536"/>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pic>
        <p:nvPicPr>
          <p:cNvPr id="2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95360" y="2359152"/>
            <a:ext cx="822960" cy="822960"/>
          </a:xfrm>
          <a:prstGeom prst="rect">
            <a:avLst/>
          </a:prstGeom>
        </p:spPr>
      </p:pic>
      <p:sp>
        <p:nvSpPr>
          <p:cNvPr id="22" name="Text 17"/>
          <p:cNvSpPr/>
          <p:nvPr/>
        </p:nvSpPr>
        <p:spPr>
          <a:xfrm>
            <a:off x="9491472" y="2395728"/>
            <a:ext cx="914400" cy="164592"/>
          </a:xfrm>
          <a:prstGeom prst="rect">
            <a:avLst/>
          </a:prstGeom>
          <a:noFill/>
          <a:ln/>
        </p:spPr>
        <p:txBody>
          <a:bodyPr wrap="square" lIns="0" tIns="0" rIns="0" bIns="0" rtlCol="0" anchor="ctr"/>
          <a:lstStyle/>
          <a:p>
            <a:pPr marL="0" indent="0">
              <a:buNone/>
            </a:pPr>
            <a:r>
              <a:rPr lang="en-US" sz="1800" b="1" dirty="0">
                <a:solidFill>
                  <a:srgbClr val="F8FAFC"/>
                </a:solidFill>
                <a:latin typeface="Aptos Display" pitchFamily="34" charset="0"/>
                <a:ea typeface="Aptos Display" pitchFamily="34" charset="-122"/>
                <a:cs typeface="Aptos Display" pitchFamily="34" charset="-120"/>
              </a:rPr>
              <a:t>S3</a:t>
            </a:r>
            <a:endParaRPr lang="en-US" sz="1800" dirty="0"/>
          </a:p>
        </p:txBody>
      </p:sp>
      <p:sp>
        <p:nvSpPr>
          <p:cNvPr id="23" name="Text 18"/>
          <p:cNvSpPr/>
          <p:nvPr/>
        </p:nvSpPr>
        <p:spPr>
          <a:xfrm>
            <a:off x="8595360" y="3456432"/>
            <a:ext cx="2761488" cy="694944"/>
          </a:xfrm>
          <a:prstGeom prst="rect">
            <a:avLst/>
          </a:prstGeom>
          <a:noFill/>
          <a:ln/>
        </p:spPr>
        <p:txBody>
          <a:bodyPr wrap="square" lIns="0" tIns="0" rIns="0" bIns="0" rtlCol="0" anchor="ctr"/>
          <a:lstStyle/>
          <a:p>
            <a:pPr marL="0" indent="0">
              <a:buNone/>
            </a:pPr>
            <a:r>
              <a:rPr lang="en-US" sz="1150" dirty="0">
                <a:solidFill>
                  <a:srgbClr val="F8FAFC"/>
                </a:solidFill>
                <a:latin typeface="Aptos" pitchFamily="34" charset="0"/>
                <a:ea typeface="Aptos" pitchFamily="34" charset="-122"/>
                <a:cs typeface="Aptos" pitchFamily="34" charset="-120"/>
              </a:rPr>
              <a:t>S3 devient le point central pour les données, le notebook, les journaux et les résultats.</a:t>
            </a:r>
            <a:endParaRPr lang="en-US" sz="1150" dirty="0"/>
          </a:p>
        </p:txBody>
      </p:sp>
      <p:sp>
        <p:nvSpPr>
          <p:cNvPr id="24" name="Shape 19"/>
          <p:cNvSpPr/>
          <p:nvPr/>
        </p:nvSpPr>
        <p:spPr>
          <a:xfrm>
            <a:off x="1115568" y="5486400"/>
            <a:ext cx="9948672" cy="512064"/>
          </a:xfrm>
          <a:prstGeom prst="roundRect">
            <a:avLst>
              <a:gd name="adj" fmla="val 14286"/>
            </a:avLst>
          </a:prstGeom>
          <a:solidFill>
            <a:srgbClr val="0C1626"/>
          </a:solidFill>
          <a:ln w="12700">
            <a:solidFill>
              <a:srgbClr val="23344C"/>
            </a:solidFill>
            <a:prstDash val="solid"/>
          </a:ln>
        </p:spPr>
        <p:txBody>
          <a:bodyPr/>
          <a:lstStyle/>
          <a:p>
            <a:endParaRPr lang="fr-FR"/>
          </a:p>
        </p:txBody>
      </p:sp>
      <p:sp>
        <p:nvSpPr>
          <p:cNvPr id="25" name="Text 20"/>
          <p:cNvSpPr/>
          <p:nvPr/>
        </p:nvSpPr>
        <p:spPr>
          <a:xfrm>
            <a:off x="1353312" y="5632704"/>
            <a:ext cx="9473184" cy="182880"/>
          </a:xfrm>
          <a:prstGeom prst="rect">
            <a:avLst/>
          </a:prstGeom>
          <a:noFill/>
          <a:ln/>
        </p:spPr>
        <p:txBody>
          <a:bodyPr wrap="square" lIns="0" tIns="0" rIns="0" bIns="0" rtlCol="0" anchor="ctr"/>
          <a:lstStyle/>
          <a:p>
            <a:pPr marL="0" indent="0">
              <a:buNone/>
            </a:pPr>
            <a:r>
              <a:rPr lang="en-US" sz="1070" dirty="0">
                <a:solidFill>
                  <a:srgbClr val="C9D4E3"/>
                </a:solidFill>
                <a:latin typeface="Aptos" pitchFamily="34" charset="0"/>
                <a:ea typeface="Aptos" pitchFamily="34" charset="-122"/>
                <a:cs typeface="Aptos" pitchFamily="34" charset="-120"/>
              </a:rPr>
              <a:t>Lecture simple : ces briques ne font pas tourner le modèle directement, mais elles rendent l'environnement cohérent, sécurisé et démontrable. Le déploiement reste en région eu-west-3, cohérente avec la contrainte RGPD.</a:t>
            </a:r>
            <a:endParaRPr lang="en-US" sz="1070" dirty="0"/>
          </a:p>
        </p:txBody>
      </p:sp>
      <p:sp>
        <p:nvSpPr>
          <p:cNvPr id="26" name="Shape 21"/>
          <p:cNvSpPr/>
          <p:nvPr/>
        </p:nvSpPr>
        <p:spPr>
          <a:xfrm>
            <a:off x="9400032" y="1572768"/>
            <a:ext cx="1024128" cy="292608"/>
          </a:xfrm>
          <a:prstGeom prst="roundRect">
            <a:avLst>
              <a:gd name="adj" fmla="val 28125"/>
            </a:avLst>
          </a:prstGeom>
          <a:solidFill>
            <a:srgbClr val="12223A"/>
          </a:solidFill>
          <a:ln w="12700">
            <a:solidFill>
              <a:srgbClr val="60A5FA"/>
            </a:solidFill>
            <a:prstDash val="solid"/>
          </a:ln>
        </p:spPr>
        <p:txBody>
          <a:bodyPr/>
          <a:lstStyle/>
          <a:p>
            <a:endParaRPr lang="fr-FR"/>
          </a:p>
        </p:txBody>
      </p:sp>
      <p:sp>
        <p:nvSpPr>
          <p:cNvPr id="27" name="Text 22"/>
          <p:cNvSpPr/>
          <p:nvPr/>
        </p:nvSpPr>
        <p:spPr>
          <a:xfrm>
            <a:off x="9400032" y="1600200"/>
            <a:ext cx="1024128" cy="201168"/>
          </a:xfrm>
          <a:prstGeom prst="rect">
            <a:avLst/>
          </a:prstGeom>
          <a:noFill/>
          <a:ln/>
        </p:spPr>
        <p:txBody>
          <a:bodyPr wrap="square" lIns="0" tIns="0" rIns="0" bIns="0" rtlCol="0" anchor="ctr"/>
          <a:lstStyle/>
          <a:p>
            <a:pPr marL="0" indent="0" algn="ctr">
              <a:buNone/>
            </a:pPr>
            <a:r>
              <a:rPr lang="en-US" sz="1000" b="1" dirty="0">
                <a:solidFill>
                  <a:srgbClr val="60A5FA"/>
                </a:solidFill>
                <a:latin typeface="Aptos" pitchFamily="34" charset="0"/>
                <a:ea typeface="Aptos" pitchFamily="34" charset="-122"/>
                <a:cs typeface="Aptos" pitchFamily="34" charset="-120"/>
              </a:rPr>
              <a:t>eu-west-3</a:t>
            </a:r>
            <a:endParaRPr lang="en-US" sz="1000" dirty="0"/>
          </a:p>
        </p:txBody>
      </p:sp>
      <p:sp>
        <p:nvSpPr>
          <p:cNvPr id="28" name="Shape 23"/>
          <p:cNvSpPr/>
          <p:nvPr/>
        </p:nvSpPr>
        <p:spPr>
          <a:xfrm>
            <a:off x="10533888" y="1572768"/>
            <a:ext cx="731520" cy="292608"/>
          </a:xfrm>
          <a:prstGeom prst="roundRect">
            <a:avLst>
              <a:gd name="adj" fmla="val 28125"/>
            </a:avLst>
          </a:prstGeom>
          <a:solidFill>
            <a:srgbClr val="12223A"/>
          </a:solidFill>
          <a:ln w="12700">
            <a:solidFill>
              <a:srgbClr val="19B67A"/>
            </a:solidFill>
            <a:prstDash val="solid"/>
          </a:ln>
        </p:spPr>
        <p:txBody>
          <a:bodyPr/>
          <a:lstStyle/>
          <a:p>
            <a:endParaRPr lang="fr-FR"/>
          </a:p>
        </p:txBody>
      </p:sp>
      <p:sp>
        <p:nvSpPr>
          <p:cNvPr id="29" name="Text 24"/>
          <p:cNvSpPr/>
          <p:nvPr/>
        </p:nvSpPr>
        <p:spPr>
          <a:xfrm>
            <a:off x="10533888" y="1600200"/>
            <a:ext cx="731520" cy="201168"/>
          </a:xfrm>
          <a:prstGeom prst="rect">
            <a:avLst/>
          </a:prstGeom>
          <a:noFill/>
          <a:ln/>
        </p:spPr>
        <p:txBody>
          <a:bodyPr wrap="square" lIns="0" tIns="0" rIns="0" bIns="0" rtlCol="0" anchor="ctr"/>
          <a:lstStyle/>
          <a:p>
            <a:pPr marL="0" indent="0" algn="ctr">
              <a:buNone/>
            </a:pPr>
            <a:r>
              <a:rPr lang="en-US" sz="1000" b="1" dirty="0">
                <a:solidFill>
                  <a:srgbClr val="19B67A"/>
                </a:solidFill>
                <a:latin typeface="Aptos" pitchFamily="34" charset="0"/>
                <a:ea typeface="Aptos" pitchFamily="34" charset="-122"/>
                <a:cs typeface="Aptos" pitchFamily="34" charset="-120"/>
              </a:rPr>
              <a:t>RGPD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DÉPLOIEMENT AWS</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Organiser le bucket S3 du projet</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bucket n'est pas un simple dossier de dépôt : il sert de colonne vertébrale au projet, car il rassemble données, notebook, logs et sorties.</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15</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3730752" cy="4480560"/>
          </a:xfrm>
          <a:prstGeom prst="roundRect">
            <a:avLst>
              <a:gd name="adj" fmla="val 245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6227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Text 9"/>
          <p:cNvSpPr/>
          <p:nvPr/>
        </p:nvSpPr>
        <p:spPr>
          <a:xfrm>
            <a:off x="1024128" y="1920240"/>
            <a:ext cx="1828800" cy="164592"/>
          </a:xfrm>
          <a:prstGeom prst="rect">
            <a:avLst/>
          </a:prstGeom>
          <a:noFill/>
          <a:ln/>
        </p:spPr>
        <p:txBody>
          <a:bodyPr wrap="square" lIns="0" tIns="0" rIns="0" bIns="0" rtlCol="0" anchor="ctr"/>
          <a:lstStyle/>
          <a:p>
            <a:pPr marL="0" indent="0">
              <a:buNone/>
            </a:pPr>
            <a:r>
              <a:rPr lang="en-US" sz="1100" b="1" dirty="0">
                <a:solidFill>
                  <a:srgbClr val="19B67A"/>
                </a:solidFill>
                <a:latin typeface="Aptos" pitchFamily="34" charset="0"/>
                <a:ea typeface="Aptos" pitchFamily="34" charset="-122"/>
                <a:cs typeface="Aptos" pitchFamily="34" charset="-120"/>
              </a:rPr>
              <a:t>Structure logique</a:t>
            </a:r>
            <a:endParaRPr lang="en-US" sz="1100" dirty="0"/>
          </a:p>
        </p:txBody>
      </p:sp>
      <p:sp>
        <p:nvSpPr>
          <p:cNvPr id="12" name="Text 10"/>
          <p:cNvSpPr/>
          <p:nvPr/>
        </p:nvSpPr>
        <p:spPr>
          <a:xfrm>
            <a:off x="1152144" y="2322576"/>
            <a:ext cx="2651760" cy="2103120"/>
          </a:xfrm>
          <a:prstGeom prst="rect">
            <a:avLst/>
          </a:prstGeom>
          <a:noFill/>
          <a:ln/>
        </p:spPr>
        <p:txBody>
          <a:bodyPr wrap="square" lIns="0" tIns="0" rIns="0" bIns="0" rtlCol="0" anchor="ctr"/>
          <a:lstStyle/>
          <a:p>
            <a:pPr marL="0" indent="0">
              <a:buNone/>
            </a:pPr>
            <a:r>
              <a:rPr lang="en-US" sz="1520" b="1" dirty="0">
                <a:solidFill>
                  <a:srgbClr val="C9D4E3"/>
                </a:solidFill>
                <a:latin typeface="Consolas" pitchFamily="34" charset="0"/>
                <a:ea typeface="Consolas" pitchFamily="34" charset="-122"/>
                <a:cs typeface="Consolas" pitchFamily="34" charset="-120"/>
              </a:rPr>
              <a:t>p11oc-victor/</a:t>
            </a:r>
            <a:endParaRPr lang="en-US" sz="1520" dirty="0"/>
          </a:p>
          <a:p>
            <a:pPr marL="0" indent="0">
              <a:buNone/>
            </a:pPr>
            <a:r>
              <a:rPr lang="en-US" sz="1520" b="1" dirty="0">
                <a:solidFill>
                  <a:srgbClr val="C9D4E3"/>
                </a:solidFill>
                <a:latin typeface="Consolas" pitchFamily="34" charset="0"/>
                <a:ea typeface="Consolas" pitchFamily="34" charset="-122"/>
                <a:cs typeface="Consolas" pitchFamily="34" charset="-120"/>
              </a:rPr>
              <a:t>  Test/</a:t>
            </a:r>
            <a:endParaRPr lang="en-US" sz="1520" dirty="0"/>
          </a:p>
          <a:p>
            <a:pPr marL="0" indent="0">
              <a:buNone/>
            </a:pPr>
            <a:r>
              <a:rPr lang="en-US" sz="1520" b="1" dirty="0">
                <a:solidFill>
                  <a:srgbClr val="C9D4E3"/>
                </a:solidFill>
                <a:latin typeface="Consolas" pitchFamily="34" charset="0"/>
                <a:ea typeface="Consolas" pitchFamily="34" charset="-122"/>
                <a:cs typeface="Consolas" pitchFamily="34" charset="-120"/>
              </a:rPr>
              <a:t>  jovyan/</a:t>
            </a:r>
            <a:endParaRPr lang="en-US" sz="1520" dirty="0"/>
          </a:p>
          <a:p>
            <a:pPr marL="0" indent="0">
              <a:buNone/>
            </a:pPr>
            <a:r>
              <a:rPr lang="en-US" sz="1520" b="1" dirty="0">
                <a:solidFill>
                  <a:srgbClr val="C9D4E3"/>
                </a:solidFill>
                <a:latin typeface="Consolas" pitchFamily="34" charset="0"/>
                <a:ea typeface="Consolas" pitchFamily="34" charset="-122"/>
                <a:cs typeface="Consolas" pitchFamily="34" charset="-120"/>
              </a:rPr>
              <a:t>  Results/</a:t>
            </a:r>
            <a:endParaRPr lang="en-US" sz="1520" dirty="0"/>
          </a:p>
          <a:p>
            <a:pPr marL="0" indent="0">
              <a:buNone/>
            </a:pPr>
            <a:r>
              <a:rPr lang="en-US" sz="1520" b="1" dirty="0">
                <a:solidFill>
                  <a:srgbClr val="C9D4E3"/>
                </a:solidFill>
                <a:latin typeface="Consolas" pitchFamily="34" charset="0"/>
                <a:ea typeface="Consolas" pitchFamily="34" charset="-122"/>
                <a:cs typeface="Consolas" pitchFamily="34" charset="-120"/>
              </a:rPr>
              <a:t>  Results_PCA/</a:t>
            </a:r>
            <a:endParaRPr lang="en-US" sz="1520" dirty="0"/>
          </a:p>
          <a:p>
            <a:pPr marL="0" indent="0">
              <a:buNone/>
            </a:pPr>
            <a:r>
              <a:rPr lang="en-US" sz="1520" b="1" dirty="0">
                <a:solidFill>
                  <a:srgbClr val="C9D4E3"/>
                </a:solidFill>
                <a:latin typeface="Consolas" pitchFamily="34" charset="0"/>
                <a:ea typeface="Consolas" pitchFamily="34" charset="-122"/>
                <a:cs typeface="Consolas" pitchFamily="34" charset="-120"/>
              </a:rPr>
              <a:t>  logs/</a:t>
            </a:r>
            <a:endParaRPr lang="en-US" sz="1520" dirty="0"/>
          </a:p>
          <a:p>
            <a:pPr marL="0" indent="0">
              <a:buNone/>
            </a:pPr>
            <a:r>
              <a:rPr lang="en-US" sz="1520" b="1" dirty="0">
                <a:solidFill>
                  <a:srgbClr val="C9D4E3"/>
                </a:solidFill>
                <a:latin typeface="Consolas" pitchFamily="34" charset="0"/>
                <a:ea typeface="Consolas" pitchFamily="34" charset="-122"/>
                <a:cs typeface="Consolas" pitchFamily="34" charset="-120"/>
              </a:rPr>
              <a:t>  bootstrap-emr.sh</a:t>
            </a:r>
            <a:endParaRPr lang="en-US" sz="1520" dirty="0"/>
          </a:p>
        </p:txBody>
      </p:sp>
      <p:sp>
        <p:nvSpPr>
          <p:cNvPr id="13" name="Text 11"/>
          <p:cNvSpPr/>
          <p:nvPr/>
        </p:nvSpPr>
        <p:spPr>
          <a:xfrm>
            <a:off x="1024128" y="4974336"/>
            <a:ext cx="3108960" cy="768096"/>
          </a:xfrm>
          <a:prstGeom prst="rect">
            <a:avLst/>
          </a:prstGeom>
          <a:noFill/>
          <a:ln/>
        </p:spPr>
        <p:txBody>
          <a:bodyPr wrap="square" lIns="0" tIns="0" rIns="0" bIns="0" rtlCol="0" anchor="ctr"/>
          <a:lstStyle/>
          <a:p>
            <a:pPr marL="0" indent="0">
              <a:buNone/>
            </a:pPr>
            <a:r>
              <a:rPr lang="en-US" sz="1100" dirty="0">
                <a:solidFill>
                  <a:srgbClr val="F8FAFC"/>
                </a:solidFill>
                <a:latin typeface="Aptos" pitchFamily="34" charset="0"/>
                <a:ea typeface="Aptos" pitchFamily="34" charset="-122"/>
                <a:cs typeface="Aptos" pitchFamily="34" charset="-120"/>
              </a:rPr>
              <a:t>Chaque dossier a un rôle précis : Test contient les images, jovyan le notebook, Results et Results_PCA les sorties parquet, et logs les journaux du cluster.</a:t>
            </a:r>
            <a:endParaRPr lang="en-US" sz="1100" dirty="0"/>
          </a:p>
        </p:txBody>
      </p:sp>
      <p:sp>
        <p:nvSpPr>
          <p:cNvPr id="14" name="Shape 12"/>
          <p:cNvSpPr/>
          <p:nvPr/>
        </p:nvSpPr>
        <p:spPr>
          <a:xfrm>
            <a:off x="4736592" y="1664208"/>
            <a:ext cx="6675120" cy="4480560"/>
          </a:xfrm>
          <a:prstGeom prst="roundRect">
            <a:avLst>
              <a:gd name="adj" fmla="val 204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5" name="Shape 13"/>
          <p:cNvSpPr/>
          <p:nvPr/>
        </p:nvSpPr>
        <p:spPr>
          <a:xfrm>
            <a:off x="4745736" y="1673352"/>
            <a:ext cx="77724" cy="446227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16" name="Image 0" descr="/mnt/data/user-QVqjKnO5gsmGm3p3eBQjpH6E/5431f6fb2c5b4046a5800bec227439ae/mnt/data/awsp11deck/AWS PATH P11/path_9.png"/>
          <p:cNvPicPr>
            <a:picLocks noChangeAspect="1"/>
          </p:cNvPicPr>
          <p:nvPr/>
        </p:nvPicPr>
        <p:blipFill>
          <a:blip r:embed="rId3"/>
          <a:stretch>
            <a:fillRect/>
          </a:stretch>
        </p:blipFill>
        <p:spPr>
          <a:xfrm>
            <a:off x="4901184" y="2703501"/>
            <a:ext cx="6345936" cy="2219094"/>
          </a:xfrm>
          <a:prstGeom prst="rect">
            <a:avLst/>
          </a:prstGeom>
        </p:spPr>
      </p:pic>
      <p:sp>
        <p:nvSpPr>
          <p:cNvPr id="17" name="Text 14"/>
          <p:cNvSpPr/>
          <p:nvPr/>
        </p:nvSpPr>
        <p:spPr>
          <a:xfrm>
            <a:off x="4901184" y="5888736"/>
            <a:ext cx="6345936"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Vue racine du bucket p11oc-victor.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DÉPLOIEMENT AWS</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Installer l’environnement EMR grâce au bootstrap</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Un bootstrap est un script exécuté automatiquement au démarrage du cluster pour installer les dépendances utiles une seule fois.</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16</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3913632" cy="4498848"/>
          </a:xfrm>
          <a:prstGeom prst="roundRect">
            <a:avLst>
              <a:gd name="adj" fmla="val 233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80560"/>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11" name="Text 9"/>
          <p:cNvSpPr/>
          <p:nvPr/>
        </p:nvSpPr>
        <p:spPr>
          <a:xfrm>
            <a:off x="1024128" y="1920240"/>
            <a:ext cx="2103120" cy="164592"/>
          </a:xfrm>
          <a:prstGeom prst="rect">
            <a:avLst/>
          </a:prstGeom>
          <a:noFill/>
          <a:ln/>
        </p:spPr>
        <p:txBody>
          <a:bodyPr wrap="square" lIns="0" tIns="0" rIns="0" bIns="0" rtlCol="0" anchor="ctr"/>
          <a:lstStyle/>
          <a:p>
            <a:pPr marL="0" indent="0">
              <a:buNone/>
            </a:pPr>
            <a:r>
              <a:rPr lang="en-US" sz="1100" b="1" dirty="0">
                <a:solidFill>
                  <a:srgbClr val="F1A43A"/>
                </a:solidFill>
                <a:latin typeface="Aptos" pitchFamily="34" charset="0"/>
                <a:ea typeface="Aptos" pitchFamily="34" charset="-122"/>
                <a:cs typeface="Aptos" pitchFamily="34" charset="-120"/>
              </a:rPr>
              <a:t>Pourquoi cette étape compte</a:t>
            </a:r>
            <a:endParaRPr lang="en-US" sz="1100" dirty="0"/>
          </a:p>
        </p:txBody>
      </p:sp>
      <p:sp>
        <p:nvSpPr>
          <p:cNvPr id="12" name="Text 10"/>
          <p:cNvSpPr/>
          <p:nvPr/>
        </p:nvSpPr>
        <p:spPr>
          <a:xfrm>
            <a:off x="1024128" y="2267712"/>
            <a:ext cx="3438144" cy="731520"/>
          </a:xfrm>
          <a:prstGeom prst="rect">
            <a:avLst/>
          </a:prstGeom>
          <a:noFill/>
          <a:ln/>
        </p:spPr>
        <p:txBody>
          <a:bodyPr wrap="square" lIns="0" tIns="0" rIns="0" bIns="0" rtlCol="0" anchor="ctr"/>
          <a:lstStyle/>
          <a:p>
            <a:pPr marL="0" indent="0">
              <a:buNone/>
            </a:pPr>
            <a:r>
              <a:rPr lang="en-US" sz="1180" dirty="0">
                <a:solidFill>
                  <a:srgbClr val="F8FAFC"/>
                </a:solidFill>
                <a:latin typeface="Aptos" pitchFamily="34" charset="0"/>
                <a:ea typeface="Aptos" pitchFamily="34" charset="-122"/>
                <a:cs typeface="Aptos" pitchFamily="34" charset="-120"/>
              </a:rPr>
              <a:t>Nous évitons de reconfigurer le cluster à la main après chaque création. Le script prépare directement l'environnement nécessaire au notebook cloud.</a:t>
            </a:r>
            <a:endParaRPr lang="en-US" sz="1180" dirty="0"/>
          </a:p>
        </p:txBody>
      </p:sp>
      <p:sp>
        <p:nvSpPr>
          <p:cNvPr id="13" name="Shape 11"/>
          <p:cNvSpPr/>
          <p:nvPr/>
        </p:nvSpPr>
        <p:spPr>
          <a:xfrm>
            <a:off x="1024128" y="3456432"/>
            <a:ext cx="3438144" cy="1335024"/>
          </a:xfrm>
          <a:prstGeom prst="roundRect">
            <a:avLst>
              <a:gd name="adj" fmla="val 5479"/>
            </a:avLst>
          </a:prstGeom>
          <a:solidFill>
            <a:srgbClr val="0C1626"/>
          </a:solidFill>
          <a:ln w="12700">
            <a:solidFill>
              <a:srgbClr val="23344C"/>
            </a:solidFill>
            <a:prstDash val="solid"/>
          </a:ln>
        </p:spPr>
        <p:txBody>
          <a:bodyPr/>
          <a:lstStyle/>
          <a:p>
            <a:endParaRPr lang="fr-FR"/>
          </a:p>
        </p:txBody>
      </p:sp>
      <p:sp>
        <p:nvSpPr>
          <p:cNvPr id="14" name="Text 12"/>
          <p:cNvSpPr/>
          <p:nvPr/>
        </p:nvSpPr>
        <p:spPr>
          <a:xfrm>
            <a:off x="1261872" y="3657600"/>
            <a:ext cx="1371600" cy="146304"/>
          </a:xfrm>
          <a:prstGeom prst="rect">
            <a:avLst/>
          </a:prstGeom>
          <a:noFill/>
          <a:ln/>
        </p:spPr>
        <p:txBody>
          <a:bodyPr wrap="square" lIns="0" tIns="0" rIns="0" bIns="0" rtlCol="0" anchor="ctr"/>
          <a:lstStyle/>
          <a:p>
            <a:pPr marL="0" indent="0">
              <a:buNone/>
            </a:pPr>
            <a:r>
              <a:rPr lang="en-US" sz="1060" b="1" dirty="0">
                <a:solidFill>
                  <a:srgbClr val="60A5FA"/>
                </a:solidFill>
                <a:latin typeface="Aptos" pitchFamily="34" charset="0"/>
                <a:ea typeface="Aptos" pitchFamily="34" charset="-122"/>
                <a:cs typeface="Aptos" pitchFamily="34" charset="-120"/>
              </a:rPr>
              <a:t>Paquets installés</a:t>
            </a:r>
            <a:endParaRPr lang="en-US" sz="1060" dirty="0"/>
          </a:p>
        </p:txBody>
      </p:sp>
      <p:sp>
        <p:nvSpPr>
          <p:cNvPr id="15" name="Text 13"/>
          <p:cNvSpPr/>
          <p:nvPr/>
        </p:nvSpPr>
        <p:spPr>
          <a:xfrm>
            <a:off x="1261872" y="3913632"/>
            <a:ext cx="1097280" cy="768096"/>
          </a:xfrm>
          <a:prstGeom prst="rect">
            <a:avLst/>
          </a:prstGeom>
          <a:noFill/>
          <a:ln/>
        </p:spPr>
        <p:txBody>
          <a:bodyPr wrap="square" lIns="0" tIns="0" rIns="0" bIns="0" rtlCol="0" anchor="ctr"/>
          <a:lstStyle/>
          <a:p>
            <a:pPr marL="0" indent="0">
              <a:buNone/>
            </a:pPr>
            <a:r>
              <a:rPr lang="en-US" sz="1140" b="1" dirty="0">
                <a:solidFill>
                  <a:srgbClr val="C9D4E3"/>
                </a:solidFill>
                <a:latin typeface="Consolas" pitchFamily="34" charset="0"/>
                <a:ea typeface="Consolas" pitchFamily="34" charset="-122"/>
                <a:cs typeface="Consolas" pitchFamily="34" charset="-120"/>
              </a:rPr>
              <a:t>pillow</a:t>
            </a:r>
            <a:endParaRPr lang="en-US" sz="1140" dirty="0"/>
          </a:p>
          <a:p>
            <a:pPr marL="0" indent="0">
              <a:buNone/>
            </a:pPr>
            <a:r>
              <a:rPr lang="en-US" sz="1140" b="1" dirty="0">
                <a:solidFill>
                  <a:srgbClr val="C9D4E3"/>
                </a:solidFill>
                <a:latin typeface="Consolas" pitchFamily="34" charset="0"/>
                <a:ea typeface="Consolas" pitchFamily="34" charset="-122"/>
                <a:cs typeface="Consolas" pitchFamily="34" charset="-120"/>
              </a:rPr>
              <a:t>pandas</a:t>
            </a:r>
            <a:endParaRPr lang="en-US" sz="1140" dirty="0"/>
          </a:p>
          <a:p>
            <a:pPr marL="0" indent="0">
              <a:buNone/>
            </a:pPr>
            <a:r>
              <a:rPr lang="en-US" sz="1140" b="1" dirty="0">
                <a:solidFill>
                  <a:srgbClr val="C9D4E3"/>
                </a:solidFill>
                <a:latin typeface="Consolas" pitchFamily="34" charset="0"/>
                <a:ea typeface="Consolas" pitchFamily="34" charset="-122"/>
                <a:cs typeface="Consolas" pitchFamily="34" charset="-120"/>
              </a:rPr>
              <a:t>pyarrow</a:t>
            </a:r>
            <a:endParaRPr lang="en-US" sz="1140" dirty="0"/>
          </a:p>
          <a:p>
            <a:pPr marL="0" indent="0">
              <a:buNone/>
            </a:pPr>
            <a:r>
              <a:rPr lang="en-US" sz="1140" b="1" dirty="0">
                <a:solidFill>
                  <a:srgbClr val="C9D4E3"/>
                </a:solidFill>
                <a:latin typeface="Consolas" pitchFamily="34" charset="0"/>
                <a:ea typeface="Consolas" pitchFamily="34" charset="-122"/>
                <a:cs typeface="Consolas" pitchFamily="34" charset="-120"/>
              </a:rPr>
              <a:t>boto3</a:t>
            </a:r>
            <a:endParaRPr lang="en-US" sz="1140" dirty="0"/>
          </a:p>
          <a:p>
            <a:pPr marL="0" indent="0">
              <a:buNone/>
            </a:pPr>
            <a:r>
              <a:rPr lang="en-US" sz="1140" b="1" dirty="0">
                <a:solidFill>
                  <a:srgbClr val="C9D4E3"/>
                </a:solidFill>
                <a:latin typeface="Consolas" pitchFamily="34" charset="0"/>
                <a:ea typeface="Consolas" pitchFamily="34" charset="-122"/>
                <a:cs typeface="Consolas" pitchFamily="34" charset="-120"/>
              </a:rPr>
              <a:t>s3fs</a:t>
            </a:r>
            <a:endParaRPr lang="en-US" sz="1140" dirty="0"/>
          </a:p>
          <a:p>
            <a:pPr marL="0" indent="0">
              <a:buNone/>
            </a:pPr>
            <a:r>
              <a:rPr lang="en-US" sz="1140" b="1" dirty="0">
                <a:solidFill>
                  <a:srgbClr val="C9D4E3"/>
                </a:solidFill>
                <a:latin typeface="Consolas" pitchFamily="34" charset="0"/>
                <a:ea typeface="Consolas" pitchFamily="34" charset="-122"/>
                <a:cs typeface="Consolas" pitchFamily="34" charset="-120"/>
              </a:rPr>
              <a:t>fsspec</a:t>
            </a:r>
            <a:endParaRPr lang="en-US" sz="1140" dirty="0"/>
          </a:p>
        </p:txBody>
      </p:sp>
      <p:sp>
        <p:nvSpPr>
          <p:cNvPr id="16" name="Text 14"/>
          <p:cNvSpPr/>
          <p:nvPr/>
        </p:nvSpPr>
        <p:spPr>
          <a:xfrm>
            <a:off x="2542032" y="3931920"/>
            <a:ext cx="1444752" cy="658368"/>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Ces bibliothèques couvrent la lecture d'images, le travail tabulaire et l'accès aux fichiers dans S3.</a:t>
            </a:r>
            <a:endParaRPr lang="en-US" sz="1000" dirty="0"/>
          </a:p>
        </p:txBody>
      </p:sp>
      <p:sp>
        <p:nvSpPr>
          <p:cNvPr id="17" name="Shape 15"/>
          <p:cNvSpPr/>
          <p:nvPr/>
        </p:nvSpPr>
        <p:spPr>
          <a:xfrm>
            <a:off x="4919472" y="1664208"/>
            <a:ext cx="6492240" cy="4498848"/>
          </a:xfrm>
          <a:prstGeom prst="roundRect">
            <a:avLst>
              <a:gd name="adj" fmla="val 203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8" name="Shape 16"/>
          <p:cNvSpPr/>
          <p:nvPr/>
        </p:nvSpPr>
        <p:spPr>
          <a:xfrm>
            <a:off x="4928616" y="1673352"/>
            <a:ext cx="77724" cy="4480560"/>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19" name="Image 0" descr="/mnt/data/user-QVqjKnO5gsmGm3p3eBQjpH6E/5431f6fb2c5b4046a5800bec227439ae/mnt/data/awsp11deck/AWS PATH P11/path_16.png"/>
          <p:cNvPicPr>
            <a:picLocks noChangeAspect="1"/>
          </p:cNvPicPr>
          <p:nvPr/>
        </p:nvPicPr>
        <p:blipFill>
          <a:blip r:embed="rId3"/>
          <a:stretch>
            <a:fillRect/>
          </a:stretch>
        </p:blipFill>
        <p:spPr>
          <a:xfrm>
            <a:off x="5084064" y="2502203"/>
            <a:ext cx="6163056" cy="2639977"/>
          </a:xfrm>
          <a:prstGeom prst="rect">
            <a:avLst/>
          </a:prstGeom>
        </p:spPr>
      </p:pic>
      <p:sp>
        <p:nvSpPr>
          <p:cNvPr id="20" name="Text 17"/>
          <p:cNvSpPr/>
          <p:nvPr/>
        </p:nvSpPr>
        <p:spPr>
          <a:xfrm>
            <a:off x="5084064" y="5907024"/>
            <a:ext cx="6163056"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Le cluster référence bien une action d'amorçage.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DÉPLOIEMENT AWS</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Le cluster EMR devient la machine de démonstration</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Cette preuve montre que le cluster est opérationnel, qu'il expose les applications attendues et qu'il archive ses journaux dans S3.</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17</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10643616" cy="3657600"/>
          </a:xfrm>
          <a:prstGeom prst="roundRect">
            <a:avLst>
              <a:gd name="adj" fmla="val 2500"/>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363931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pic>
        <p:nvPicPr>
          <p:cNvPr id="11" name="Image 0" descr="/mnt/data/user-QVqjKnO5gsmGm3p3eBQjpH6E/5431f6fb2c5b4046a5800bec227439ae/mnt/data/awsp11deck/AWS PATH P11/path_15.png"/>
          <p:cNvPicPr>
            <a:picLocks noChangeAspect="1"/>
          </p:cNvPicPr>
          <p:nvPr/>
        </p:nvPicPr>
        <p:blipFill>
          <a:blip r:embed="rId3"/>
          <a:stretch>
            <a:fillRect/>
          </a:stretch>
        </p:blipFill>
        <p:spPr>
          <a:xfrm>
            <a:off x="2699834" y="1828800"/>
            <a:ext cx="6780140" cy="3145536"/>
          </a:xfrm>
          <a:prstGeom prst="rect">
            <a:avLst/>
          </a:prstGeom>
        </p:spPr>
      </p:pic>
      <p:sp>
        <p:nvSpPr>
          <p:cNvPr id="12" name="Text 9"/>
          <p:cNvSpPr/>
          <p:nvPr/>
        </p:nvSpPr>
        <p:spPr>
          <a:xfrm>
            <a:off x="932688" y="5065776"/>
            <a:ext cx="10314432"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Cluster EMR actif / en attente.</a:t>
            </a:r>
            <a:endParaRPr lang="en-US" sz="1000" dirty="0"/>
          </a:p>
        </p:txBody>
      </p:sp>
      <p:sp>
        <p:nvSpPr>
          <p:cNvPr id="13" name="Shape 10"/>
          <p:cNvSpPr/>
          <p:nvPr/>
        </p:nvSpPr>
        <p:spPr>
          <a:xfrm>
            <a:off x="896112" y="5431536"/>
            <a:ext cx="242316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4" name="Shape 11"/>
          <p:cNvSpPr/>
          <p:nvPr/>
        </p:nvSpPr>
        <p:spPr>
          <a:xfrm>
            <a:off x="905256" y="5440680"/>
            <a:ext cx="77724" cy="85039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5" name="Text 12"/>
          <p:cNvSpPr/>
          <p:nvPr/>
        </p:nvSpPr>
        <p:spPr>
          <a:xfrm>
            <a:off x="1060704" y="5541264"/>
            <a:ext cx="214884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JupyterHub + Spark</a:t>
            </a:r>
            <a:endParaRPr lang="en-US" sz="2000" dirty="0"/>
          </a:p>
        </p:txBody>
      </p:sp>
      <p:sp>
        <p:nvSpPr>
          <p:cNvPr id="16" name="Text 13"/>
          <p:cNvSpPr/>
          <p:nvPr/>
        </p:nvSpPr>
        <p:spPr>
          <a:xfrm>
            <a:off x="1060704" y="5861304"/>
            <a:ext cx="214884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applications visibles</a:t>
            </a:r>
            <a:endParaRPr lang="en-US" sz="1010" dirty="0"/>
          </a:p>
        </p:txBody>
      </p:sp>
      <p:sp>
        <p:nvSpPr>
          <p:cNvPr id="17" name="Shape 14"/>
          <p:cNvSpPr/>
          <p:nvPr/>
        </p:nvSpPr>
        <p:spPr>
          <a:xfrm>
            <a:off x="3547872" y="5431536"/>
            <a:ext cx="196596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8" name="Shape 15"/>
          <p:cNvSpPr/>
          <p:nvPr/>
        </p:nvSpPr>
        <p:spPr>
          <a:xfrm>
            <a:off x="3557016" y="5440680"/>
            <a:ext cx="77724" cy="85039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9" name="Text 16"/>
          <p:cNvSpPr/>
          <p:nvPr/>
        </p:nvSpPr>
        <p:spPr>
          <a:xfrm>
            <a:off x="3712464" y="5541264"/>
            <a:ext cx="169164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S3 / logs</a:t>
            </a:r>
            <a:endParaRPr lang="en-US" sz="2000" dirty="0"/>
          </a:p>
        </p:txBody>
      </p:sp>
      <p:sp>
        <p:nvSpPr>
          <p:cNvPr id="20" name="Text 17"/>
          <p:cNvSpPr/>
          <p:nvPr/>
        </p:nvSpPr>
        <p:spPr>
          <a:xfrm>
            <a:off x="3712464" y="5861304"/>
            <a:ext cx="169164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journaux archivés</a:t>
            </a:r>
            <a:endParaRPr lang="en-US" sz="1010" dirty="0"/>
          </a:p>
        </p:txBody>
      </p:sp>
      <p:sp>
        <p:nvSpPr>
          <p:cNvPr id="21" name="Shape 18"/>
          <p:cNvSpPr/>
          <p:nvPr/>
        </p:nvSpPr>
        <p:spPr>
          <a:xfrm>
            <a:off x="5742432" y="5431536"/>
            <a:ext cx="187452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2" name="Shape 19"/>
          <p:cNvSpPr/>
          <p:nvPr/>
        </p:nvSpPr>
        <p:spPr>
          <a:xfrm>
            <a:off x="5751576" y="5440680"/>
            <a:ext cx="77724" cy="850392"/>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23" name="Text 20"/>
          <p:cNvSpPr/>
          <p:nvPr/>
        </p:nvSpPr>
        <p:spPr>
          <a:xfrm>
            <a:off x="5907024" y="5541264"/>
            <a:ext cx="160020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eu-west-3</a:t>
            </a:r>
            <a:endParaRPr lang="en-US" sz="2000" dirty="0"/>
          </a:p>
        </p:txBody>
      </p:sp>
      <p:sp>
        <p:nvSpPr>
          <p:cNvPr id="24" name="Text 21"/>
          <p:cNvSpPr/>
          <p:nvPr/>
        </p:nvSpPr>
        <p:spPr>
          <a:xfrm>
            <a:off x="5907024" y="5861304"/>
            <a:ext cx="160020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région Europe</a:t>
            </a:r>
            <a:endParaRPr lang="en-US" sz="1010" dirty="0"/>
          </a:p>
        </p:txBody>
      </p:sp>
      <p:sp>
        <p:nvSpPr>
          <p:cNvPr id="25" name="Shape 22"/>
          <p:cNvSpPr/>
          <p:nvPr/>
        </p:nvSpPr>
        <p:spPr>
          <a:xfrm>
            <a:off x="7845552" y="5431536"/>
            <a:ext cx="2066544"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6" name="Shape 23"/>
          <p:cNvSpPr/>
          <p:nvPr/>
        </p:nvSpPr>
        <p:spPr>
          <a:xfrm>
            <a:off x="7854696" y="5440680"/>
            <a:ext cx="77724" cy="850392"/>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7" name="Text 24"/>
          <p:cNvSpPr/>
          <p:nvPr/>
        </p:nvSpPr>
        <p:spPr>
          <a:xfrm>
            <a:off x="8010144" y="5541264"/>
            <a:ext cx="1792224"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Temporaire</a:t>
            </a:r>
            <a:endParaRPr lang="en-US" sz="2000" dirty="0"/>
          </a:p>
        </p:txBody>
      </p:sp>
      <p:sp>
        <p:nvSpPr>
          <p:cNvPr id="28" name="Text 25"/>
          <p:cNvSpPr/>
          <p:nvPr/>
        </p:nvSpPr>
        <p:spPr>
          <a:xfrm>
            <a:off x="8010144" y="5861304"/>
            <a:ext cx="1792224"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cluster à résilier</a:t>
            </a:r>
            <a:endParaRPr lang="en-US" sz="101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DÉPLOIEMENT AWS</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Accéder au notebook cloud en sécurité</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 tunnel SSH ouvre JupyterHub localement sans exposer directement l'interface du cluster sur Internet.</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18</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3840480" cy="4462272"/>
          </a:xfrm>
          <a:prstGeom prst="roundRect">
            <a:avLst>
              <a:gd name="adj" fmla="val 238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43984"/>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1" name="Text 9"/>
          <p:cNvSpPr/>
          <p:nvPr/>
        </p:nvSpPr>
        <p:spPr>
          <a:xfrm>
            <a:off x="1024128" y="1920240"/>
            <a:ext cx="2011680" cy="164592"/>
          </a:xfrm>
          <a:prstGeom prst="rect">
            <a:avLst/>
          </a:prstGeom>
          <a:noFill/>
          <a:ln/>
        </p:spPr>
        <p:txBody>
          <a:bodyPr wrap="square" lIns="0" tIns="0" rIns="0" bIns="0" rtlCol="0" anchor="ctr"/>
          <a:lstStyle/>
          <a:p>
            <a:pPr marL="0" indent="0">
              <a:buNone/>
            </a:pPr>
            <a:r>
              <a:rPr lang="en-US" sz="1100" b="1" dirty="0">
                <a:solidFill>
                  <a:srgbClr val="60A5FA"/>
                </a:solidFill>
                <a:latin typeface="Aptos" pitchFamily="34" charset="0"/>
                <a:ea typeface="Aptos" pitchFamily="34" charset="-122"/>
                <a:cs typeface="Aptos" pitchFamily="34" charset="-120"/>
              </a:rPr>
              <a:t>Trois étapes simples</a:t>
            </a:r>
            <a:endParaRPr lang="en-US" sz="1100" dirty="0"/>
          </a:p>
        </p:txBody>
      </p:sp>
      <p:sp>
        <p:nvSpPr>
          <p:cNvPr id="12" name="Shape 10"/>
          <p:cNvSpPr/>
          <p:nvPr/>
        </p:nvSpPr>
        <p:spPr>
          <a:xfrm>
            <a:off x="1024128" y="2322576"/>
            <a:ext cx="310896" cy="310896"/>
          </a:xfrm>
          <a:prstGeom prst="ellipse">
            <a:avLst/>
          </a:prstGeom>
          <a:solidFill>
            <a:srgbClr val="60A5FA">
              <a:alpha val="24000"/>
            </a:srgbClr>
          </a:solidFill>
          <a:ln w="12700">
            <a:solidFill>
              <a:srgbClr val="60A5FA"/>
            </a:solidFill>
            <a:prstDash val="solid"/>
          </a:ln>
        </p:spPr>
        <p:txBody>
          <a:bodyPr/>
          <a:lstStyle/>
          <a:p>
            <a:endParaRPr lang="fr-FR"/>
          </a:p>
        </p:txBody>
      </p:sp>
      <p:sp>
        <p:nvSpPr>
          <p:cNvPr id="13" name="Text 11"/>
          <p:cNvSpPr/>
          <p:nvPr/>
        </p:nvSpPr>
        <p:spPr>
          <a:xfrm>
            <a:off x="1024128" y="2350008"/>
            <a:ext cx="310896" cy="201168"/>
          </a:xfrm>
          <a:prstGeom prst="rect">
            <a:avLst/>
          </a:prstGeom>
          <a:noFill/>
          <a:ln/>
        </p:spPr>
        <p:txBody>
          <a:bodyPr wrap="square" lIns="0" tIns="0" rIns="0" bIns="0" rtlCol="0" anchor="ctr"/>
          <a:lstStyle/>
          <a:p>
            <a:pPr marL="0" indent="0" algn="ctr">
              <a:buNone/>
            </a:pPr>
            <a:r>
              <a:rPr lang="en-US" sz="1070" b="1" dirty="0">
                <a:solidFill>
                  <a:srgbClr val="60A5FA"/>
                </a:solidFill>
                <a:latin typeface="Aptos" pitchFamily="34" charset="0"/>
                <a:ea typeface="Aptos" pitchFamily="34" charset="-122"/>
                <a:cs typeface="Aptos" pitchFamily="34" charset="-120"/>
              </a:rPr>
              <a:t>1</a:t>
            </a:r>
            <a:endParaRPr lang="en-US" sz="1070" dirty="0"/>
          </a:p>
        </p:txBody>
      </p:sp>
      <p:sp>
        <p:nvSpPr>
          <p:cNvPr id="14" name="Text 12"/>
          <p:cNvSpPr/>
          <p:nvPr/>
        </p:nvSpPr>
        <p:spPr>
          <a:xfrm>
            <a:off x="1444752" y="2340864"/>
            <a:ext cx="2779776" cy="402336"/>
          </a:xfrm>
          <a:prstGeom prst="rect">
            <a:avLst/>
          </a:prstGeom>
          <a:noFill/>
          <a:ln/>
        </p:spPr>
        <p:txBody>
          <a:bodyPr wrap="square" lIns="0" tIns="0" rIns="0" bIns="0" rtlCol="0" anchor="ctr"/>
          <a:lstStyle/>
          <a:p>
            <a:pPr marL="0" indent="0">
              <a:buNone/>
            </a:pPr>
            <a:r>
              <a:rPr lang="en-US" sz="1120" dirty="0">
                <a:solidFill>
                  <a:srgbClr val="F8FAFC"/>
                </a:solidFill>
                <a:latin typeface="Aptos" pitchFamily="34" charset="0"/>
                <a:ea typeface="Aptos" pitchFamily="34" charset="-122"/>
                <a:cs typeface="Aptos" pitchFamily="34" charset="-120"/>
              </a:rPr>
              <a:t>Nous ouvrons un tunnel SSH vers le nœud principal EMR.</a:t>
            </a:r>
            <a:endParaRPr lang="en-US" sz="1120" dirty="0"/>
          </a:p>
        </p:txBody>
      </p:sp>
      <p:sp>
        <p:nvSpPr>
          <p:cNvPr id="15" name="Shape 13"/>
          <p:cNvSpPr/>
          <p:nvPr/>
        </p:nvSpPr>
        <p:spPr>
          <a:xfrm>
            <a:off x="1024128" y="3273552"/>
            <a:ext cx="310896" cy="310896"/>
          </a:xfrm>
          <a:prstGeom prst="ellipse">
            <a:avLst/>
          </a:prstGeom>
          <a:solidFill>
            <a:srgbClr val="19B67A">
              <a:alpha val="24000"/>
            </a:srgbClr>
          </a:solidFill>
          <a:ln w="12700">
            <a:solidFill>
              <a:srgbClr val="19B67A"/>
            </a:solidFill>
            <a:prstDash val="solid"/>
          </a:ln>
        </p:spPr>
        <p:txBody>
          <a:bodyPr/>
          <a:lstStyle/>
          <a:p>
            <a:endParaRPr lang="fr-FR"/>
          </a:p>
        </p:txBody>
      </p:sp>
      <p:sp>
        <p:nvSpPr>
          <p:cNvPr id="16" name="Text 14"/>
          <p:cNvSpPr/>
          <p:nvPr/>
        </p:nvSpPr>
        <p:spPr>
          <a:xfrm>
            <a:off x="1024128" y="3300984"/>
            <a:ext cx="310896" cy="201168"/>
          </a:xfrm>
          <a:prstGeom prst="rect">
            <a:avLst/>
          </a:prstGeom>
          <a:noFill/>
          <a:ln/>
        </p:spPr>
        <p:txBody>
          <a:bodyPr wrap="square" lIns="0" tIns="0" rIns="0" bIns="0" rtlCol="0" anchor="ctr"/>
          <a:lstStyle/>
          <a:p>
            <a:pPr marL="0" indent="0" algn="ctr">
              <a:buNone/>
            </a:pPr>
            <a:r>
              <a:rPr lang="en-US" sz="1070" b="1" dirty="0">
                <a:solidFill>
                  <a:srgbClr val="19B67A"/>
                </a:solidFill>
                <a:latin typeface="Aptos" pitchFamily="34" charset="0"/>
                <a:ea typeface="Aptos" pitchFamily="34" charset="-122"/>
                <a:cs typeface="Aptos" pitchFamily="34" charset="-120"/>
              </a:rPr>
              <a:t>2</a:t>
            </a:r>
            <a:endParaRPr lang="en-US" sz="1070" dirty="0"/>
          </a:p>
        </p:txBody>
      </p:sp>
      <p:sp>
        <p:nvSpPr>
          <p:cNvPr id="17" name="Text 15"/>
          <p:cNvSpPr/>
          <p:nvPr/>
        </p:nvSpPr>
        <p:spPr>
          <a:xfrm>
            <a:off x="1444752" y="3291840"/>
            <a:ext cx="2779776" cy="402336"/>
          </a:xfrm>
          <a:prstGeom prst="rect">
            <a:avLst/>
          </a:prstGeom>
          <a:noFill/>
          <a:ln/>
        </p:spPr>
        <p:txBody>
          <a:bodyPr wrap="square" lIns="0" tIns="0" rIns="0" bIns="0" rtlCol="0" anchor="ctr"/>
          <a:lstStyle/>
          <a:p>
            <a:pPr marL="0" indent="0">
              <a:buNone/>
            </a:pPr>
            <a:r>
              <a:rPr lang="en-US" sz="1120" dirty="0">
                <a:solidFill>
                  <a:srgbClr val="F8FAFC"/>
                </a:solidFill>
                <a:latin typeface="Aptos" pitchFamily="34" charset="0"/>
                <a:ea typeface="Aptos" pitchFamily="34" charset="-122"/>
                <a:cs typeface="Aptos" pitchFamily="34" charset="-120"/>
              </a:rPr>
              <a:t>Nous redirigeons JupyterHub vers un port local, sans exposition directe d'Internet.</a:t>
            </a:r>
            <a:endParaRPr lang="en-US" sz="1120" dirty="0"/>
          </a:p>
        </p:txBody>
      </p:sp>
      <p:sp>
        <p:nvSpPr>
          <p:cNvPr id="18" name="Shape 16"/>
          <p:cNvSpPr/>
          <p:nvPr/>
        </p:nvSpPr>
        <p:spPr>
          <a:xfrm>
            <a:off x="1024128" y="4224528"/>
            <a:ext cx="310896" cy="310896"/>
          </a:xfrm>
          <a:prstGeom prst="ellipse">
            <a:avLst/>
          </a:prstGeom>
          <a:solidFill>
            <a:srgbClr val="F1A43A">
              <a:alpha val="24000"/>
            </a:srgbClr>
          </a:solidFill>
          <a:ln w="12700">
            <a:solidFill>
              <a:srgbClr val="F1A43A"/>
            </a:solidFill>
            <a:prstDash val="solid"/>
          </a:ln>
        </p:spPr>
        <p:txBody>
          <a:bodyPr/>
          <a:lstStyle/>
          <a:p>
            <a:endParaRPr lang="fr-FR"/>
          </a:p>
        </p:txBody>
      </p:sp>
      <p:sp>
        <p:nvSpPr>
          <p:cNvPr id="19" name="Text 17"/>
          <p:cNvSpPr/>
          <p:nvPr/>
        </p:nvSpPr>
        <p:spPr>
          <a:xfrm>
            <a:off x="1024128" y="4251960"/>
            <a:ext cx="310896" cy="201168"/>
          </a:xfrm>
          <a:prstGeom prst="rect">
            <a:avLst/>
          </a:prstGeom>
          <a:noFill/>
          <a:ln/>
        </p:spPr>
        <p:txBody>
          <a:bodyPr wrap="square" lIns="0" tIns="0" rIns="0" bIns="0" rtlCol="0" anchor="ctr"/>
          <a:lstStyle/>
          <a:p>
            <a:pPr marL="0" indent="0" algn="ctr">
              <a:buNone/>
            </a:pPr>
            <a:r>
              <a:rPr lang="en-US" sz="1070" b="1" dirty="0">
                <a:solidFill>
                  <a:srgbClr val="F1A43A"/>
                </a:solidFill>
                <a:latin typeface="Aptos" pitchFamily="34" charset="0"/>
                <a:ea typeface="Aptos" pitchFamily="34" charset="-122"/>
                <a:cs typeface="Aptos" pitchFamily="34" charset="-120"/>
              </a:rPr>
              <a:t>3</a:t>
            </a:r>
            <a:endParaRPr lang="en-US" sz="1070" dirty="0"/>
          </a:p>
        </p:txBody>
      </p:sp>
      <p:sp>
        <p:nvSpPr>
          <p:cNvPr id="20" name="Text 18"/>
          <p:cNvSpPr/>
          <p:nvPr/>
        </p:nvSpPr>
        <p:spPr>
          <a:xfrm>
            <a:off x="1444752" y="4242816"/>
            <a:ext cx="2779776" cy="402336"/>
          </a:xfrm>
          <a:prstGeom prst="rect">
            <a:avLst/>
          </a:prstGeom>
          <a:noFill/>
          <a:ln/>
        </p:spPr>
        <p:txBody>
          <a:bodyPr wrap="square" lIns="0" tIns="0" rIns="0" bIns="0" rtlCol="0" anchor="ctr"/>
          <a:lstStyle/>
          <a:p>
            <a:pPr marL="0" indent="0">
              <a:buNone/>
            </a:pPr>
            <a:r>
              <a:rPr lang="en-US" sz="1120" dirty="0">
                <a:solidFill>
                  <a:srgbClr val="F8FAFC"/>
                </a:solidFill>
                <a:latin typeface="Aptos" pitchFamily="34" charset="0"/>
                <a:ea typeface="Aptos" pitchFamily="34" charset="-122"/>
                <a:cs typeface="Aptos" pitchFamily="34" charset="-120"/>
              </a:rPr>
              <a:t>Nous retrouvons ensuite notre notebook PySpark dans le navigateur.</a:t>
            </a:r>
            <a:endParaRPr lang="en-US" sz="1120" dirty="0"/>
          </a:p>
        </p:txBody>
      </p:sp>
      <p:sp>
        <p:nvSpPr>
          <p:cNvPr id="21" name="Shape 19"/>
          <p:cNvSpPr/>
          <p:nvPr/>
        </p:nvSpPr>
        <p:spPr>
          <a:xfrm>
            <a:off x="1024128" y="5157216"/>
            <a:ext cx="3346704" cy="658368"/>
          </a:xfrm>
          <a:prstGeom prst="roundRect">
            <a:avLst>
              <a:gd name="adj" fmla="val 11111"/>
            </a:avLst>
          </a:prstGeom>
          <a:solidFill>
            <a:srgbClr val="0C1626"/>
          </a:solidFill>
          <a:ln w="12700">
            <a:solidFill>
              <a:srgbClr val="23344C"/>
            </a:solidFill>
            <a:prstDash val="solid"/>
          </a:ln>
        </p:spPr>
        <p:txBody>
          <a:bodyPr/>
          <a:lstStyle/>
          <a:p>
            <a:endParaRPr lang="fr-FR"/>
          </a:p>
        </p:txBody>
      </p:sp>
      <p:sp>
        <p:nvSpPr>
          <p:cNvPr id="22" name="Text 20"/>
          <p:cNvSpPr/>
          <p:nvPr/>
        </p:nvSpPr>
        <p:spPr>
          <a:xfrm>
            <a:off x="1261872" y="5340096"/>
            <a:ext cx="2871216" cy="310896"/>
          </a:xfrm>
          <a:prstGeom prst="rect">
            <a:avLst/>
          </a:prstGeom>
          <a:noFill/>
          <a:ln/>
        </p:spPr>
        <p:txBody>
          <a:bodyPr wrap="square" lIns="0" tIns="0" rIns="0" bIns="0" rtlCol="0" anchor="ctr"/>
          <a:lstStyle/>
          <a:p>
            <a:pPr marL="0" indent="0">
              <a:buNone/>
            </a:pPr>
            <a:r>
              <a:rPr lang="en-US" sz="1020" dirty="0">
                <a:solidFill>
                  <a:srgbClr val="C9D4E3"/>
                </a:solidFill>
                <a:latin typeface="Aptos" pitchFamily="34" charset="0"/>
                <a:ea typeface="Aptos" pitchFamily="34" charset="-122"/>
                <a:cs typeface="Aptos" pitchFamily="34" charset="-120"/>
              </a:rPr>
              <a:t>Cette étape montre le passage entre la console AWS et l'outil de travail quotidien : nous ne sommes plus seulement dans la configuration, nous sommes dans l'exécution du notebook cloud.</a:t>
            </a:r>
            <a:endParaRPr lang="en-US" sz="1020" dirty="0"/>
          </a:p>
        </p:txBody>
      </p:sp>
      <p:sp>
        <p:nvSpPr>
          <p:cNvPr id="23" name="Shape 21"/>
          <p:cNvSpPr/>
          <p:nvPr/>
        </p:nvSpPr>
        <p:spPr>
          <a:xfrm>
            <a:off x="4846320" y="1664208"/>
            <a:ext cx="6565392" cy="4462272"/>
          </a:xfrm>
          <a:prstGeom prst="roundRect">
            <a:avLst>
              <a:gd name="adj" fmla="val 2049"/>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4" name="Shape 22"/>
          <p:cNvSpPr/>
          <p:nvPr/>
        </p:nvSpPr>
        <p:spPr>
          <a:xfrm>
            <a:off x="4855464" y="1673352"/>
            <a:ext cx="77724" cy="4443984"/>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pic>
        <p:nvPicPr>
          <p:cNvPr id="25" name="Image 0" descr="/mnt/data/user-QVqjKnO5gsmGm3p3eBQjpH6E/5431f6fb2c5b4046a5800bec227439ae/mnt/data/awsp11deck/AWS PATH P11/path_17.png"/>
          <p:cNvPicPr>
            <a:picLocks noChangeAspect="1"/>
          </p:cNvPicPr>
          <p:nvPr/>
        </p:nvPicPr>
        <p:blipFill>
          <a:blip r:embed="rId3"/>
          <a:stretch>
            <a:fillRect/>
          </a:stretch>
        </p:blipFill>
        <p:spPr>
          <a:xfrm>
            <a:off x="5898929" y="1828800"/>
            <a:ext cx="4460173" cy="3950208"/>
          </a:xfrm>
          <a:prstGeom prst="rect">
            <a:avLst/>
          </a:prstGeom>
        </p:spPr>
      </p:pic>
      <p:sp>
        <p:nvSpPr>
          <p:cNvPr id="26" name="Text 23"/>
          <p:cNvSpPr/>
          <p:nvPr/>
        </p:nvSpPr>
        <p:spPr>
          <a:xfrm>
            <a:off x="5010912" y="5870448"/>
            <a:ext cx="6236208"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Tunnel SSH vers le nœud principal EMR.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RÉSULTATS CLOUD</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Exécuter la chaîne PySpark sur EMR</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La logique métier ne change pas dans le cloud : seules la localisation des données et la distribution du calcul évoluent.</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19</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822960" y="1700784"/>
            <a:ext cx="1938528" cy="1170432"/>
          </a:xfrm>
          <a:prstGeom prst="roundRect">
            <a:avLst>
              <a:gd name="adj" fmla="val 781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832104" y="1709928"/>
            <a:ext cx="77724" cy="1152144"/>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Shape 9"/>
          <p:cNvSpPr/>
          <p:nvPr/>
        </p:nvSpPr>
        <p:spPr>
          <a:xfrm>
            <a:off x="969264" y="1901952"/>
            <a:ext cx="310896" cy="310896"/>
          </a:xfrm>
          <a:prstGeom prst="ellipse">
            <a:avLst/>
          </a:prstGeom>
          <a:solidFill>
            <a:srgbClr val="19B67A">
              <a:alpha val="24000"/>
            </a:srgbClr>
          </a:solidFill>
          <a:ln w="12700">
            <a:solidFill>
              <a:srgbClr val="19B67A"/>
            </a:solidFill>
            <a:prstDash val="solid"/>
          </a:ln>
        </p:spPr>
        <p:txBody>
          <a:bodyPr/>
          <a:lstStyle/>
          <a:p>
            <a:endParaRPr lang="fr-FR"/>
          </a:p>
        </p:txBody>
      </p:sp>
      <p:sp>
        <p:nvSpPr>
          <p:cNvPr id="12" name="Text 10"/>
          <p:cNvSpPr/>
          <p:nvPr/>
        </p:nvSpPr>
        <p:spPr>
          <a:xfrm>
            <a:off x="969264" y="1929384"/>
            <a:ext cx="310896" cy="201168"/>
          </a:xfrm>
          <a:prstGeom prst="rect">
            <a:avLst/>
          </a:prstGeom>
          <a:noFill/>
          <a:ln/>
        </p:spPr>
        <p:txBody>
          <a:bodyPr wrap="square" lIns="0" tIns="0" rIns="0" bIns="0" rtlCol="0" anchor="ctr"/>
          <a:lstStyle/>
          <a:p>
            <a:pPr marL="0" indent="0" algn="ctr">
              <a:buNone/>
            </a:pPr>
            <a:r>
              <a:rPr lang="en-US" sz="1070" b="1" dirty="0">
                <a:solidFill>
                  <a:srgbClr val="19B67A"/>
                </a:solidFill>
                <a:latin typeface="Aptos" pitchFamily="34" charset="0"/>
                <a:ea typeface="Aptos" pitchFamily="34" charset="-122"/>
                <a:cs typeface="Aptos" pitchFamily="34" charset="-120"/>
              </a:rPr>
              <a:t>1</a:t>
            </a:r>
            <a:endParaRPr lang="en-US" sz="1070" dirty="0"/>
          </a:p>
        </p:txBody>
      </p:sp>
      <p:sp>
        <p:nvSpPr>
          <p:cNvPr id="13" name="Text 11"/>
          <p:cNvSpPr/>
          <p:nvPr/>
        </p:nvSpPr>
        <p:spPr>
          <a:xfrm>
            <a:off x="1335024" y="1901952"/>
            <a:ext cx="1133856" cy="16459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S3</a:t>
            </a:r>
            <a:endParaRPr lang="en-US" sz="1420" dirty="0"/>
          </a:p>
        </p:txBody>
      </p:sp>
      <p:sp>
        <p:nvSpPr>
          <p:cNvPr id="14" name="Text 12"/>
          <p:cNvSpPr/>
          <p:nvPr/>
        </p:nvSpPr>
        <p:spPr>
          <a:xfrm>
            <a:off x="987552" y="2286000"/>
            <a:ext cx="1609344" cy="182880"/>
          </a:xfrm>
          <a:prstGeom prst="rect">
            <a:avLst/>
          </a:prstGeom>
          <a:noFill/>
          <a:ln/>
        </p:spPr>
        <p:txBody>
          <a:bodyPr wrap="square" lIns="0" tIns="0" rIns="0" bIns="0" rtlCol="0" anchor="ctr"/>
          <a:lstStyle/>
          <a:p>
            <a:pPr marL="0" indent="0" algn="ctr">
              <a:buNone/>
            </a:pPr>
            <a:r>
              <a:rPr lang="en-US" sz="1000" dirty="0">
                <a:solidFill>
                  <a:srgbClr val="9FB0C6"/>
                </a:solidFill>
                <a:latin typeface="Aptos" pitchFamily="34" charset="0"/>
                <a:ea typeface="Aptos" pitchFamily="34" charset="-122"/>
                <a:cs typeface="Aptos" pitchFamily="34" charset="-120"/>
              </a:rPr>
              <a:t>367 images dans Test/</a:t>
            </a:r>
            <a:endParaRPr lang="en-US" sz="1000" dirty="0"/>
          </a:p>
        </p:txBody>
      </p:sp>
      <p:sp>
        <p:nvSpPr>
          <p:cNvPr id="15" name="Shape 13"/>
          <p:cNvSpPr/>
          <p:nvPr/>
        </p:nvSpPr>
        <p:spPr>
          <a:xfrm>
            <a:off x="3063240" y="1700784"/>
            <a:ext cx="1938528" cy="1170432"/>
          </a:xfrm>
          <a:prstGeom prst="roundRect">
            <a:avLst>
              <a:gd name="adj" fmla="val 781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6" name="Shape 14"/>
          <p:cNvSpPr/>
          <p:nvPr/>
        </p:nvSpPr>
        <p:spPr>
          <a:xfrm>
            <a:off x="3072384" y="1709928"/>
            <a:ext cx="77724" cy="1152144"/>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7" name="Shape 15"/>
          <p:cNvSpPr/>
          <p:nvPr/>
        </p:nvSpPr>
        <p:spPr>
          <a:xfrm>
            <a:off x="3209544" y="1901952"/>
            <a:ext cx="310896" cy="310896"/>
          </a:xfrm>
          <a:prstGeom prst="ellipse">
            <a:avLst/>
          </a:prstGeom>
          <a:solidFill>
            <a:srgbClr val="60A5FA">
              <a:alpha val="24000"/>
            </a:srgbClr>
          </a:solidFill>
          <a:ln w="12700">
            <a:solidFill>
              <a:srgbClr val="60A5FA"/>
            </a:solidFill>
            <a:prstDash val="solid"/>
          </a:ln>
        </p:spPr>
        <p:txBody>
          <a:bodyPr/>
          <a:lstStyle/>
          <a:p>
            <a:endParaRPr lang="fr-FR"/>
          </a:p>
        </p:txBody>
      </p:sp>
      <p:sp>
        <p:nvSpPr>
          <p:cNvPr id="18" name="Text 16"/>
          <p:cNvSpPr/>
          <p:nvPr/>
        </p:nvSpPr>
        <p:spPr>
          <a:xfrm>
            <a:off x="3209544" y="1929384"/>
            <a:ext cx="310896" cy="201168"/>
          </a:xfrm>
          <a:prstGeom prst="rect">
            <a:avLst/>
          </a:prstGeom>
          <a:noFill/>
          <a:ln/>
        </p:spPr>
        <p:txBody>
          <a:bodyPr wrap="square" lIns="0" tIns="0" rIns="0" bIns="0" rtlCol="0" anchor="ctr"/>
          <a:lstStyle/>
          <a:p>
            <a:pPr marL="0" indent="0" algn="ctr">
              <a:buNone/>
            </a:pPr>
            <a:r>
              <a:rPr lang="en-US" sz="1070" b="1" dirty="0">
                <a:solidFill>
                  <a:srgbClr val="60A5FA"/>
                </a:solidFill>
                <a:latin typeface="Aptos" pitchFamily="34" charset="0"/>
                <a:ea typeface="Aptos" pitchFamily="34" charset="-122"/>
                <a:cs typeface="Aptos" pitchFamily="34" charset="-120"/>
              </a:rPr>
              <a:t>2</a:t>
            </a:r>
            <a:endParaRPr lang="en-US" sz="1070" dirty="0"/>
          </a:p>
        </p:txBody>
      </p:sp>
      <p:sp>
        <p:nvSpPr>
          <p:cNvPr id="19" name="Text 17"/>
          <p:cNvSpPr/>
          <p:nvPr/>
        </p:nvSpPr>
        <p:spPr>
          <a:xfrm>
            <a:off x="3575304" y="1901952"/>
            <a:ext cx="1133856" cy="16459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Spark</a:t>
            </a:r>
            <a:endParaRPr lang="en-US" sz="1420" dirty="0"/>
          </a:p>
        </p:txBody>
      </p:sp>
      <p:sp>
        <p:nvSpPr>
          <p:cNvPr id="20" name="Text 18"/>
          <p:cNvSpPr/>
          <p:nvPr/>
        </p:nvSpPr>
        <p:spPr>
          <a:xfrm>
            <a:off x="3227832" y="2286000"/>
            <a:ext cx="1609344" cy="182880"/>
          </a:xfrm>
          <a:prstGeom prst="rect">
            <a:avLst/>
          </a:prstGeom>
          <a:noFill/>
          <a:ln/>
        </p:spPr>
        <p:txBody>
          <a:bodyPr wrap="square" lIns="0" tIns="0" rIns="0" bIns="0" rtlCol="0" anchor="ctr"/>
          <a:lstStyle/>
          <a:p>
            <a:pPr marL="0" indent="0" algn="ctr">
              <a:buNone/>
            </a:pPr>
            <a:r>
              <a:rPr lang="en-US" sz="1000" dirty="0">
                <a:solidFill>
                  <a:srgbClr val="9FB0C6"/>
                </a:solidFill>
                <a:latin typeface="Aptos" pitchFamily="34" charset="0"/>
                <a:ea typeface="Aptos" pitchFamily="34" charset="-122"/>
                <a:cs typeface="Aptos" pitchFamily="34" charset="-120"/>
              </a:rPr>
              <a:t>lecture binaire</a:t>
            </a:r>
            <a:endParaRPr lang="en-US" sz="1000" dirty="0"/>
          </a:p>
        </p:txBody>
      </p:sp>
      <p:sp>
        <p:nvSpPr>
          <p:cNvPr id="21" name="Shape 19"/>
          <p:cNvSpPr/>
          <p:nvPr/>
        </p:nvSpPr>
        <p:spPr>
          <a:xfrm>
            <a:off x="5303520" y="1700784"/>
            <a:ext cx="1938528" cy="1170432"/>
          </a:xfrm>
          <a:prstGeom prst="roundRect">
            <a:avLst>
              <a:gd name="adj" fmla="val 781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2" name="Shape 20"/>
          <p:cNvSpPr/>
          <p:nvPr/>
        </p:nvSpPr>
        <p:spPr>
          <a:xfrm>
            <a:off x="5312664" y="1709928"/>
            <a:ext cx="77724" cy="1152144"/>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23" name="Shape 21"/>
          <p:cNvSpPr/>
          <p:nvPr/>
        </p:nvSpPr>
        <p:spPr>
          <a:xfrm>
            <a:off x="5449824" y="1901952"/>
            <a:ext cx="310896" cy="310896"/>
          </a:xfrm>
          <a:prstGeom prst="ellipse">
            <a:avLst/>
          </a:prstGeom>
          <a:solidFill>
            <a:srgbClr val="F1A43A">
              <a:alpha val="24000"/>
            </a:srgbClr>
          </a:solidFill>
          <a:ln w="12700">
            <a:solidFill>
              <a:srgbClr val="F1A43A"/>
            </a:solidFill>
            <a:prstDash val="solid"/>
          </a:ln>
        </p:spPr>
        <p:txBody>
          <a:bodyPr/>
          <a:lstStyle/>
          <a:p>
            <a:endParaRPr lang="fr-FR"/>
          </a:p>
        </p:txBody>
      </p:sp>
      <p:sp>
        <p:nvSpPr>
          <p:cNvPr id="24" name="Text 22"/>
          <p:cNvSpPr/>
          <p:nvPr/>
        </p:nvSpPr>
        <p:spPr>
          <a:xfrm>
            <a:off x="5449824" y="1929384"/>
            <a:ext cx="310896" cy="201168"/>
          </a:xfrm>
          <a:prstGeom prst="rect">
            <a:avLst/>
          </a:prstGeom>
          <a:noFill/>
          <a:ln/>
        </p:spPr>
        <p:txBody>
          <a:bodyPr wrap="square" lIns="0" tIns="0" rIns="0" bIns="0" rtlCol="0" anchor="ctr"/>
          <a:lstStyle/>
          <a:p>
            <a:pPr marL="0" indent="0" algn="ctr">
              <a:buNone/>
            </a:pPr>
            <a:r>
              <a:rPr lang="en-US" sz="1070" b="1" dirty="0">
                <a:solidFill>
                  <a:srgbClr val="F1A43A"/>
                </a:solidFill>
                <a:latin typeface="Aptos" pitchFamily="34" charset="0"/>
                <a:ea typeface="Aptos" pitchFamily="34" charset="-122"/>
                <a:cs typeface="Aptos" pitchFamily="34" charset="-120"/>
              </a:rPr>
              <a:t>3</a:t>
            </a:r>
            <a:endParaRPr lang="en-US" sz="1070" dirty="0"/>
          </a:p>
        </p:txBody>
      </p:sp>
      <p:sp>
        <p:nvSpPr>
          <p:cNvPr id="25" name="Text 23"/>
          <p:cNvSpPr/>
          <p:nvPr/>
        </p:nvSpPr>
        <p:spPr>
          <a:xfrm>
            <a:off x="5815584" y="1901952"/>
            <a:ext cx="1133856" cy="16459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CNN</a:t>
            </a:r>
            <a:endParaRPr lang="en-US" sz="1420" dirty="0"/>
          </a:p>
        </p:txBody>
      </p:sp>
      <p:sp>
        <p:nvSpPr>
          <p:cNvPr id="26" name="Text 24"/>
          <p:cNvSpPr/>
          <p:nvPr/>
        </p:nvSpPr>
        <p:spPr>
          <a:xfrm>
            <a:off x="5468112" y="2286000"/>
            <a:ext cx="1609344" cy="182880"/>
          </a:xfrm>
          <a:prstGeom prst="rect">
            <a:avLst/>
          </a:prstGeom>
          <a:noFill/>
          <a:ln/>
        </p:spPr>
        <p:txBody>
          <a:bodyPr wrap="square" lIns="0" tIns="0" rIns="0" bIns="0" rtlCol="0" anchor="ctr"/>
          <a:lstStyle/>
          <a:p>
            <a:pPr marL="0" indent="0" algn="ctr">
              <a:buNone/>
            </a:pPr>
            <a:r>
              <a:rPr lang="en-US" sz="1000" dirty="0">
                <a:solidFill>
                  <a:srgbClr val="9FB0C6"/>
                </a:solidFill>
                <a:latin typeface="Aptos" pitchFamily="34" charset="0"/>
                <a:ea typeface="Aptos" pitchFamily="34" charset="-122"/>
                <a:cs typeface="Aptos" pitchFamily="34" charset="-120"/>
              </a:rPr>
              <a:t>features 1280</a:t>
            </a:r>
            <a:endParaRPr lang="en-US" sz="1000" dirty="0"/>
          </a:p>
        </p:txBody>
      </p:sp>
      <p:sp>
        <p:nvSpPr>
          <p:cNvPr id="27" name="Shape 25"/>
          <p:cNvSpPr/>
          <p:nvPr/>
        </p:nvSpPr>
        <p:spPr>
          <a:xfrm>
            <a:off x="7543800" y="1700784"/>
            <a:ext cx="1938528" cy="1170432"/>
          </a:xfrm>
          <a:prstGeom prst="roundRect">
            <a:avLst>
              <a:gd name="adj" fmla="val 781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8" name="Shape 26"/>
          <p:cNvSpPr/>
          <p:nvPr/>
        </p:nvSpPr>
        <p:spPr>
          <a:xfrm>
            <a:off x="7552944" y="1709928"/>
            <a:ext cx="77724" cy="1152144"/>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9" name="Shape 27"/>
          <p:cNvSpPr/>
          <p:nvPr/>
        </p:nvSpPr>
        <p:spPr>
          <a:xfrm>
            <a:off x="7690104" y="1901952"/>
            <a:ext cx="310896" cy="310896"/>
          </a:xfrm>
          <a:prstGeom prst="ellipse">
            <a:avLst/>
          </a:prstGeom>
          <a:solidFill>
            <a:srgbClr val="A78BFA">
              <a:alpha val="24000"/>
            </a:srgbClr>
          </a:solidFill>
          <a:ln w="12700">
            <a:solidFill>
              <a:srgbClr val="A78BFA"/>
            </a:solidFill>
            <a:prstDash val="solid"/>
          </a:ln>
        </p:spPr>
        <p:txBody>
          <a:bodyPr/>
          <a:lstStyle/>
          <a:p>
            <a:endParaRPr lang="fr-FR"/>
          </a:p>
        </p:txBody>
      </p:sp>
      <p:sp>
        <p:nvSpPr>
          <p:cNvPr id="30" name="Text 28"/>
          <p:cNvSpPr/>
          <p:nvPr/>
        </p:nvSpPr>
        <p:spPr>
          <a:xfrm>
            <a:off x="7690104" y="1929384"/>
            <a:ext cx="310896" cy="201168"/>
          </a:xfrm>
          <a:prstGeom prst="rect">
            <a:avLst/>
          </a:prstGeom>
          <a:noFill/>
          <a:ln/>
        </p:spPr>
        <p:txBody>
          <a:bodyPr wrap="square" lIns="0" tIns="0" rIns="0" bIns="0" rtlCol="0" anchor="ctr"/>
          <a:lstStyle/>
          <a:p>
            <a:pPr marL="0" indent="0" algn="ctr">
              <a:buNone/>
            </a:pPr>
            <a:r>
              <a:rPr lang="en-US" sz="1070" b="1" dirty="0">
                <a:solidFill>
                  <a:srgbClr val="A78BFA"/>
                </a:solidFill>
                <a:latin typeface="Aptos" pitchFamily="34" charset="0"/>
                <a:ea typeface="Aptos" pitchFamily="34" charset="-122"/>
                <a:cs typeface="Aptos" pitchFamily="34" charset="-120"/>
              </a:rPr>
              <a:t>4</a:t>
            </a:r>
            <a:endParaRPr lang="en-US" sz="1070" dirty="0"/>
          </a:p>
        </p:txBody>
      </p:sp>
      <p:sp>
        <p:nvSpPr>
          <p:cNvPr id="31" name="Text 29"/>
          <p:cNvSpPr/>
          <p:nvPr/>
        </p:nvSpPr>
        <p:spPr>
          <a:xfrm>
            <a:off x="8055864" y="1901952"/>
            <a:ext cx="1133856" cy="16459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Results</a:t>
            </a:r>
            <a:endParaRPr lang="en-US" sz="1420" dirty="0"/>
          </a:p>
        </p:txBody>
      </p:sp>
      <p:sp>
        <p:nvSpPr>
          <p:cNvPr id="32" name="Text 30"/>
          <p:cNvSpPr/>
          <p:nvPr/>
        </p:nvSpPr>
        <p:spPr>
          <a:xfrm>
            <a:off x="7708392" y="2286000"/>
            <a:ext cx="1609344" cy="182880"/>
          </a:xfrm>
          <a:prstGeom prst="rect">
            <a:avLst/>
          </a:prstGeom>
          <a:noFill/>
          <a:ln/>
        </p:spPr>
        <p:txBody>
          <a:bodyPr wrap="square" lIns="0" tIns="0" rIns="0" bIns="0" rtlCol="0" anchor="ctr"/>
          <a:lstStyle/>
          <a:p>
            <a:pPr marL="0" indent="0" algn="ctr">
              <a:buNone/>
            </a:pPr>
            <a:r>
              <a:rPr lang="en-US" sz="1000" dirty="0">
                <a:solidFill>
                  <a:srgbClr val="9FB0C6"/>
                </a:solidFill>
                <a:latin typeface="Aptos" pitchFamily="34" charset="0"/>
                <a:ea typeface="Aptos" pitchFamily="34" charset="-122"/>
                <a:cs typeface="Aptos" pitchFamily="34" charset="-120"/>
              </a:rPr>
              <a:t>parquet cloud</a:t>
            </a:r>
            <a:endParaRPr lang="en-US" sz="1000" dirty="0"/>
          </a:p>
        </p:txBody>
      </p:sp>
      <p:sp>
        <p:nvSpPr>
          <p:cNvPr id="33" name="Shape 31"/>
          <p:cNvSpPr/>
          <p:nvPr/>
        </p:nvSpPr>
        <p:spPr>
          <a:xfrm>
            <a:off x="9784080" y="1700784"/>
            <a:ext cx="1938528" cy="1170432"/>
          </a:xfrm>
          <a:prstGeom prst="roundRect">
            <a:avLst>
              <a:gd name="adj" fmla="val 7813"/>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34" name="Shape 32"/>
          <p:cNvSpPr/>
          <p:nvPr/>
        </p:nvSpPr>
        <p:spPr>
          <a:xfrm>
            <a:off x="9793224" y="1709928"/>
            <a:ext cx="77724" cy="1152144"/>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35" name="Shape 33"/>
          <p:cNvSpPr/>
          <p:nvPr/>
        </p:nvSpPr>
        <p:spPr>
          <a:xfrm>
            <a:off x="9930384" y="1901952"/>
            <a:ext cx="310896" cy="310896"/>
          </a:xfrm>
          <a:prstGeom prst="ellipse">
            <a:avLst/>
          </a:prstGeom>
          <a:solidFill>
            <a:srgbClr val="19B67A">
              <a:alpha val="24000"/>
            </a:srgbClr>
          </a:solidFill>
          <a:ln w="12700">
            <a:solidFill>
              <a:srgbClr val="19B67A"/>
            </a:solidFill>
            <a:prstDash val="solid"/>
          </a:ln>
        </p:spPr>
        <p:txBody>
          <a:bodyPr/>
          <a:lstStyle/>
          <a:p>
            <a:endParaRPr lang="fr-FR"/>
          </a:p>
        </p:txBody>
      </p:sp>
      <p:sp>
        <p:nvSpPr>
          <p:cNvPr id="36" name="Text 34"/>
          <p:cNvSpPr/>
          <p:nvPr/>
        </p:nvSpPr>
        <p:spPr>
          <a:xfrm>
            <a:off x="9930384" y="1929384"/>
            <a:ext cx="310896" cy="201168"/>
          </a:xfrm>
          <a:prstGeom prst="rect">
            <a:avLst/>
          </a:prstGeom>
          <a:noFill/>
          <a:ln/>
        </p:spPr>
        <p:txBody>
          <a:bodyPr wrap="square" lIns="0" tIns="0" rIns="0" bIns="0" rtlCol="0" anchor="ctr"/>
          <a:lstStyle/>
          <a:p>
            <a:pPr marL="0" indent="0" algn="ctr">
              <a:buNone/>
            </a:pPr>
            <a:r>
              <a:rPr lang="en-US" sz="1070" b="1" dirty="0">
                <a:solidFill>
                  <a:srgbClr val="19B67A"/>
                </a:solidFill>
                <a:latin typeface="Aptos" pitchFamily="34" charset="0"/>
                <a:ea typeface="Aptos" pitchFamily="34" charset="-122"/>
                <a:cs typeface="Aptos" pitchFamily="34" charset="-120"/>
              </a:rPr>
              <a:t>5</a:t>
            </a:r>
            <a:endParaRPr lang="en-US" sz="1070" dirty="0"/>
          </a:p>
        </p:txBody>
      </p:sp>
      <p:sp>
        <p:nvSpPr>
          <p:cNvPr id="37" name="Text 35"/>
          <p:cNvSpPr/>
          <p:nvPr/>
        </p:nvSpPr>
        <p:spPr>
          <a:xfrm>
            <a:off x="10296144" y="1901952"/>
            <a:ext cx="1133856" cy="16459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ACP</a:t>
            </a:r>
            <a:endParaRPr lang="en-US" sz="1420" dirty="0"/>
          </a:p>
        </p:txBody>
      </p:sp>
      <p:sp>
        <p:nvSpPr>
          <p:cNvPr id="38" name="Text 36"/>
          <p:cNvSpPr/>
          <p:nvPr/>
        </p:nvSpPr>
        <p:spPr>
          <a:xfrm>
            <a:off x="9948672" y="2286000"/>
            <a:ext cx="1609344" cy="182880"/>
          </a:xfrm>
          <a:prstGeom prst="rect">
            <a:avLst/>
          </a:prstGeom>
          <a:noFill/>
          <a:ln/>
        </p:spPr>
        <p:txBody>
          <a:bodyPr wrap="square" lIns="0" tIns="0" rIns="0" bIns="0" rtlCol="0" anchor="ctr"/>
          <a:lstStyle/>
          <a:p>
            <a:pPr marL="0" indent="0" algn="ctr">
              <a:buNone/>
            </a:pPr>
            <a:r>
              <a:rPr lang="en-US" sz="1000" dirty="0">
                <a:solidFill>
                  <a:srgbClr val="9FB0C6"/>
                </a:solidFill>
                <a:latin typeface="Aptos" pitchFamily="34" charset="0"/>
                <a:ea typeface="Aptos" pitchFamily="34" charset="-122"/>
                <a:cs typeface="Aptos" pitchFamily="34" charset="-120"/>
              </a:rPr>
              <a:t>50 dims cloud</a:t>
            </a:r>
            <a:endParaRPr lang="en-US" sz="1000" dirty="0"/>
          </a:p>
        </p:txBody>
      </p:sp>
      <p:sp>
        <p:nvSpPr>
          <p:cNvPr id="39" name="Shape 37"/>
          <p:cNvSpPr/>
          <p:nvPr/>
        </p:nvSpPr>
        <p:spPr>
          <a:xfrm>
            <a:off x="822960" y="3182112"/>
            <a:ext cx="5340096" cy="2615184"/>
          </a:xfrm>
          <a:prstGeom prst="roundRect">
            <a:avLst>
              <a:gd name="adj" fmla="val 3497"/>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40" name="Shape 38"/>
          <p:cNvSpPr/>
          <p:nvPr/>
        </p:nvSpPr>
        <p:spPr>
          <a:xfrm>
            <a:off x="832104" y="3191256"/>
            <a:ext cx="77724" cy="2596896"/>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41" name="Text 39"/>
          <p:cNvSpPr/>
          <p:nvPr/>
        </p:nvSpPr>
        <p:spPr>
          <a:xfrm>
            <a:off x="1078992" y="3438144"/>
            <a:ext cx="2560320" cy="164592"/>
          </a:xfrm>
          <a:prstGeom prst="rect">
            <a:avLst/>
          </a:prstGeom>
          <a:noFill/>
          <a:ln/>
        </p:spPr>
        <p:txBody>
          <a:bodyPr wrap="square" lIns="0" tIns="0" rIns="0" bIns="0" rtlCol="0" anchor="ctr"/>
          <a:lstStyle/>
          <a:p>
            <a:pPr marL="0" indent="0">
              <a:buNone/>
            </a:pPr>
            <a:r>
              <a:rPr lang="en-US" sz="1100" b="1" dirty="0">
                <a:solidFill>
                  <a:srgbClr val="60A5FA"/>
                </a:solidFill>
                <a:latin typeface="Aptos" pitchFamily="34" charset="0"/>
                <a:ea typeface="Aptos" pitchFamily="34" charset="-122"/>
                <a:cs typeface="Aptos" pitchFamily="34" charset="-120"/>
              </a:rPr>
              <a:t>Sorties observées dans le notebook cloud</a:t>
            </a:r>
            <a:endParaRPr lang="en-US" sz="1100" dirty="0"/>
          </a:p>
        </p:txBody>
      </p:sp>
      <p:sp>
        <p:nvSpPr>
          <p:cNvPr id="42" name="Shape 40"/>
          <p:cNvSpPr/>
          <p:nvPr/>
        </p:nvSpPr>
        <p:spPr>
          <a:xfrm>
            <a:off x="1024128" y="3730752"/>
            <a:ext cx="1828800" cy="310896"/>
          </a:xfrm>
          <a:prstGeom prst="rect">
            <a:avLst/>
          </a:prstGeom>
          <a:solidFill>
            <a:srgbClr val="0B1627"/>
          </a:solidFill>
          <a:ln w="12700">
            <a:solidFill>
              <a:srgbClr val="22344D"/>
            </a:solidFill>
            <a:prstDash val="solid"/>
          </a:ln>
        </p:spPr>
        <p:txBody>
          <a:bodyPr/>
          <a:lstStyle/>
          <a:p>
            <a:endParaRPr lang="fr-FR"/>
          </a:p>
        </p:txBody>
      </p:sp>
      <p:sp>
        <p:nvSpPr>
          <p:cNvPr id="43" name="Text 41"/>
          <p:cNvSpPr/>
          <p:nvPr/>
        </p:nvSpPr>
        <p:spPr>
          <a:xfrm>
            <a:off x="1097280" y="3776472"/>
            <a:ext cx="1682496" cy="219456"/>
          </a:xfrm>
          <a:prstGeom prst="rect">
            <a:avLst/>
          </a:prstGeom>
          <a:noFill/>
          <a:ln/>
        </p:spPr>
        <p:txBody>
          <a:bodyPr wrap="square" lIns="0" tIns="0" rIns="0" bIns="0" rtlCol="0" anchor="ctr"/>
          <a:lstStyle/>
          <a:p>
            <a:pPr marL="0" indent="0">
              <a:buNone/>
            </a:pPr>
            <a:r>
              <a:rPr lang="en-US" sz="960" b="1" dirty="0">
                <a:solidFill>
                  <a:srgbClr val="F8FAFC"/>
                </a:solidFill>
                <a:latin typeface="Aptos" pitchFamily="34" charset="0"/>
                <a:ea typeface="Aptos" pitchFamily="34" charset="-122"/>
                <a:cs typeface="Aptos" pitchFamily="34" charset="-120"/>
              </a:rPr>
              <a:t>Élément</a:t>
            </a:r>
            <a:endParaRPr lang="en-US" sz="960" dirty="0"/>
          </a:p>
        </p:txBody>
      </p:sp>
      <p:sp>
        <p:nvSpPr>
          <p:cNvPr id="44" name="Shape 42"/>
          <p:cNvSpPr/>
          <p:nvPr/>
        </p:nvSpPr>
        <p:spPr>
          <a:xfrm>
            <a:off x="2852928" y="3730752"/>
            <a:ext cx="3108960" cy="310896"/>
          </a:xfrm>
          <a:prstGeom prst="rect">
            <a:avLst/>
          </a:prstGeom>
          <a:solidFill>
            <a:srgbClr val="0B1627"/>
          </a:solidFill>
          <a:ln w="12700">
            <a:solidFill>
              <a:srgbClr val="22344D"/>
            </a:solidFill>
            <a:prstDash val="solid"/>
          </a:ln>
        </p:spPr>
        <p:txBody>
          <a:bodyPr/>
          <a:lstStyle/>
          <a:p>
            <a:endParaRPr lang="fr-FR"/>
          </a:p>
        </p:txBody>
      </p:sp>
      <p:sp>
        <p:nvSpPr>
          <p:cNvPr id="45" name="Text 43"/>
          <p:cNvSpPr/>
          <p:nvPr/>
        </p:nvSpPr>
        <p:spPr>
          <a:xfrm>
            <a:off x="2926080" y="3776472"/>
            <a:ext cx="2962656" cy="219456"/>
          </a:xfrm>
          <a:prstGeom prst="rect">
            <a:avLst/>
          </a:prstGeom>
          <a:noFill/>
          <a:ln/>
        </p:spPr>
        <p:txBody>
          <a:bodyPr wrap="square" lIns="0" tIns="0" rIns="0" bIns="0" rtlCol="0" anchor="ctr"/>
          <a:lstStyle/>
          <a:p>
            <a:pPr marL="0" indent="0">
              <a:buNone/>
            </a:pPr>
            <a:r>
              <a:rPr lang="en-US" sz="960" b="1" dirty="0">
                <a:solidFill>
                  <a:srgbClr val="F8FAFC"/>
                </a:solidFill>
                <a:latin typeface="Aptos" pitchFamily="34" charset="0"/>
                <a:ea typeface="Aptos" pitchFamily="34" charset="-122"/>
                <a:cs typeface="Aptos" pitchFamily="34" charset="-120"/>
              </a:rPr>
              <a:t>Valeur</a:t>
            </a:r>
            <a:endParaRPr lang="en-US" sz="960" dirty="0"/>
          </a:p>
        </p:txBody>
      </p:sp>
      <p:sp>
        <p:nvSpPr>
          <p:cNvPr id="46" name="Shape 44"/>
          <p:cNvSpPr/>
          <p:nvPr/>
        </p:nvSpPr>
        <p:spPr>
          <a:xfrm>
            <a:off x="1024128" y="4041648"/>
            <a:ext cx="1828800" cy="310896"/>
          </a:xfrm>
          <a:prstGeom prst="rect">
            <a:avLst/>
          </a:prstGeom>
          <a:solidFill>
            <a:srgbClr val="12223A"/>
          </a:solidFill>
          <a:ln w="12700">
            <a:solidFill>
              <a:srgbClr val="22344D"/>
            </a:solidFill>
            <a:prstDash val="solid"/>
          </a:ln>
        </p:spPr>
        <p:txBody>
          <a:bodyPr/>
          <a:lstStyle/>
          <a:p>
            <a:endParaRPr lang="fr-FR"/>
          </a:p>
        </p:txBody>
      </p:sp>
      <p:sp>
        <p:nvSpPr>
          <p:cNvPr id="47" name="Text 45"/>
          <p:cNvSpPr/>
          <p:nvPr/>
        </p:nvSpPr>
        <p:spPr>
          <a:xfrm>
            <a:off x="1097280" y="4087368"/>
            <a:ext cx="168249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PATH_Data</a:t>
            </a:r>
            <a:endParaRPr lang="en-US" sz="960" dirty="0"/>
          </a:p>
        </p:txBody>
      </p:sp>
      <p:sp>
        <p:nvSpPr>
          <p:cNvPr id="48" name="Shape 46"/>
          <p:cNvSpPr/>
          <p:nvPr/>
        </p:nvSpPr>
        <p:spPr>
          <a:xfrm>
            <a:off x="2852928" y="4041648"/>
            <a:ext cx="3108960" cy="310896"/>
          </a:xfrm>
          <a:prstGeom prst="rect">
            <a:avLst/>
          </a:prstGeom>
          <a:solidFill>
            <a:srgbClr val="12223A"/>
          </a:solidFill>
          <a:ln w="12700">
            <a:solidFill>
              <a:srgbClr val="22344D"/>
            </a:solidFill>
            <a:prstDash val="solid"/>
          </a:ln>
        </p:spPr>
        <p:txBody>
          <a:bodyPr/>
          <a:lstStyle/>
          <a:p>
            <a:endParaRPr lang="fr-FR"/>
          </a:p>
        </p:txBody>
      </p:sp>
      <p:sp>
        <p:nvSpPr>
          <p:cNvPr id="49" name="Text 47"/>
          <p:cNvSpPr/>
          <p:nvPr/>
        </p:nvSpPr>
        <p:spPr>
          <a:xfrm>
            <a:off x="2926080" y="4087368"/>
            <a:ext cx="296265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s3://p11oc-victor/Test</a:t>
            </a:r>
            <a:endParaRPr lang="en-US" sz="960" dirty="0"/>
          </a:p>
        </p:txBody>
      </p:sp>
      <p:sp>
        <p:nvSpPr>
          <p:cNvPr id="50" name="Shape 48"/>
          <p:cNvSpPr/>
          <p:nvPr/>
        </p:nvSpPr>
        <p:spPr>
          <a:xfrm>
            <a:off x="1024128" y="4352544"/>
            <a:ext cx="1828800" cy="310896"/>
          </a:xfrm>
          <a:prstGeom prst="rect">
            <a:avLst/>
          </a:prstGeom>
          <a:solidFill>
            <a:srgbClr val="12223A"/>
          </a:solidFill>
          <a:ln w="12700">
            <a:solidFill>
              <a:srgbClr val="22344D"/>
            </a:solidFill>
            <a:prstDash val="solid"/>
          </a:ln>
        </p:spPr>
        <p:txBody>
          <a:bodyPr/>
          <a:lstStyle/>
          <a:p>
            <a:endParaRPr lang="fr-FR"/>
          </a:p>
        </p:txBody>
      </p:sp>
      <p:sp>
        <p:nvSpPr>
          <p:cNvPr id="51" name="Text 49"/>
          <p:cNvSpPr/>
          <p:nvPr/>
        </p:nvSpPr>
        <p:spPr>
          <a:xfrm>
            <a:off x="1097280" y="4398264"/>
            <a:ext cx="168249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PATH_Result</a:t>
            </a:r>
            <a:endParaRPr lang="en-US" sz="960" dirty="0"/>
          </a:p>
        </p:txBody>
      </p:sp>
      <p:sp>
        <p:nvSpPr>
          <p:cNvPr id="52" name="Shape 50"/>
          <p:cNvSpPr/>
          <p:nvPr/>
        </p:nvSpPr>
        <p:spPr>
          <a:xfrm>
            <a:off x="2852928" y="4352544"/>
            <a:ext cx="3108960" cy="310896"/>
          </a:xfrm>
          <a:prstGeom prst="rect">
            <a:avLst/>
          </a:prstGeom>
          <a:solidFill>
            <a:srgbClr val="12223A"/>
          </a:solidFill>
          <a:ln w="12700">
            <a:solidFill>
              <a:srgbClr val="22344D"/>
            </a:solidFill>
            <a:prstDash val="solid"/>
          </a:ln>
        </p:spPr>
        <p:txBody>
          <a:bodyPr/>
          <a:lstStyle/>
          <a:p>
            <a:endParaRPr lang="fr-FR"/>
          </a:p>
        </p:txBody>
      </p:sp>
      <p:sp>
        <p:nvSpPr>
          <p:cNvPr id="53" name="Text 51"/>
          <p:cNvSpPr/>
          <p:nvPr/>
        </p:nvSpPr>
        <p:spPr>
          <a:xfrm>
            <a:off x="2926080" y="4398264"/>
            <a:ext cx="296265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s3://p11oc-victor/Results</a:t>
            </a:r>
            <a:endParaRPr lang="en-US" sz="960" dirty="0"/>
          </a:p>
        </p:txBody>
      </p:sp>
      <p:sp>
        <p:nvSpPr>
          <p:cNvPr id="54" name="Shape 52"/>
          <p:cNvSpPr/>
          <p:nvPr/>
        </p:nvSpPr>
        <p:spPr>
          <a:xfrm>
            <a:off x="1024128" y="4663440"/>
            <a:ext cx="1828800" cy="310896"/>
          </a:xfrm>
          <a:prstGeom prst="rect">
            <a:avLst/>
          </a:prstGeom>
          <a:solidFill>
            <a:srgbClr val="12223A"/>
          </a:solidFill>
          <a:ln w="12700">
            <a:solidFill>
              <a:srgbClr val="22344D"/>
            </a:solidFill>
            <a:prstDash val="solid"/>
          </a:ln>
        </p:spPr>
        <p:txBody>
          <a:bodyPr/>
          <a:lstStyle/>
          <a:p>
            <a:endParaRPr lang="fr-FR"/>
          </a:p>
        </p:txBody>
      </p:sp>
      <p:sp>
        <p:nvSpPr>
          <p:cNvPr id="55" name="Text 53"/>
          <p:cNvSpPr/>
          <p:nvPr/>
        </p:nvSpPr>
        <p:spPr>
          <a:xfrm>
            <a:off x="1097280" y="4709160"/>
            <a:ext cx="168249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features_len</a:t>
            </a:r>
            <a:endParaRPr lang="en-US" sz="960" dirty="0"/>
          </a:p>
        </p:txBody>
      </p:sp>
      <p:sp>
        <p:nvSpPr>
          <p:cNvPr id="56" name="Shape 54"/>
          <p:cNvSpPr/>
          <p:nvPr/>
        </p:nvSpPr>
        <p:spPr>
          <a:xfrm>
            <a:off x="2852928" y="4663440"/>
            <a:ext cx="3108960" cy="310896"/>
          </a:xfrm>
          <a:prstGeom prst="rect">
            <a:avLst/>
          </a:prstGeom>
          <a:solidFill>
            <a:srgbClr val="12223A"/>
          </a:solidFill>
          <a:ln w="12700">
            <a:solidFill>
              <a:srgbClr val="22344D"/>
            </a:solidFill>
            <a:prstDash val="solid"/>
          </a:ln>
        </p:spPr>
        <p:txBody>
          <a:bodyPr/>
          <a:lstStyle/>
          <a:p>
            <a:endParaRPr lang="fr-FR"/>
          </a:p>
        </p:txBody>
      </p:sp>
      <p:sp>
        <p:nvSpPr>
          <p:cNvPr id="57" name="Text 55"/>
          <p:cNvSpPr/>
          <p:nvPr/>
        </p:nvSpPr>
        <p:spPr>
          <a:xfrm>
            <a:off x="2926080" y="4709160"/>
            <a:ext cx="296265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1280</a:t>
            </a:r>
            <a:endParaRPr lang="en-US" sz="960" dirty="0"/>
          </a:p>
        </p:txBody>
      </p:sp>
      <p:sp>
        <p:nvSpPr>
          <p:cNvPr id="58" name="Shape 56"/>
          <p:cNvSpPr/>
          <p:nvPr/>
        </p:nvSpPr>
        <p:spPr>
          <a:xfrm>
            <a:off x="1024128" y="4974336"/>
            <a:ext cx="1828800" cy="310896"/>
          </a:xfrm>
          <a:prstGeom prst="rect">
            <a:avLst/>
          </a:prstGeom>
          <a:solidFill>
            <a:srgbClr val="12223A"/>
          </a:solidFill>
          <a:ln w="12700">
            <a:solidFill>
              <a:srgbClr val="22344D"/>
            </a:solidFill>
            <a:prstDash val="solid"/>
          </a:ln>
        </p:spPr>
        <p:txBody>
          <a:bodyPr/>
          <a:lstStyle/>
          <a:p>
            <a:endParaRPr lang="fr-FR"/>
          </a:p>
        </p:txBody>
      </p:sp>
      <p:sp>
        <p:nvSpPr>
          <p:cNvPr id="59" name="Text 57"/>
          <p:cNvSpPr/>
          <p:nvPr/>
        </p:nvSpPr>
        <p:spPr>
          <a:xfrm>
            <a:off x="1097280" y="5020056"/>
            <a:ext cx="168249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shape features</a:t>
            </a:r>
            <a:endParaRPr lang="en-US" sz="960" dirty="0"/>
          </a:p>
        </p:txBody>
      </p:sp>
      <p:sp>
        <p:nvSpPr>
          <p:cNvPr id="60" name="Shape 58"/>
          <p:cNvSpPr/>
          <p:nvPr/>
        </p:nvSpPr>
        <p:spPr>
          <a:xfrm>
            <a:off x="2852928" y="4974336"/>
            <a:ext cx="3108960" cy="310896"/>
          </a:xfrm>
          <a:prstGeom prst="rect">
            <a:avLst/>
          </a:prstGeom>
          <a:solidFill>
            <a:srgbClr val="12223A"/>
          </a:solidFill>
          <a:ln w="12700">
            <a:solidFill>
              <a:srgbClr val="22344D"/>
            </a:solidFill>
            <a:prstDash val="solid"/>
          </a:ln>
        </p:spPr>
        <p:txBody>
          <a:bodyPr/>
          <a:lstStyle/>
          <a:p>
            <a:endParaRPr lang="fr-FR"/>
          </a:p>
        </p:txBody>
      </p:sp>
      <p:sp>
        <p:nvSpPr>
          <p:cNvPr id="61" name="Text 59"/>
          <p:cNvSpPr/>
          <p:nvPr/>
        </p:nvSpPr>
        <p:spPr>
          <a:xfrm>
            <a:off x="2926080" y="5020056"/>
            <a:ext cx="296265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(367, 1280)</a:t>
            </a:r>
            <a:endParaRPr lang="en-US" sz="960" dirty="0"/>
          </a:p>
        </p:txBody>
      </p:sp>
      <p:sp>
        <p:nvSpPr>
          <p:cNvPr id="62" name="Shape 60"/>
          <p:cNvSpPr/>
          <p:nvPr/>
        </p:nvSpPr>
        <p:spPr>
          <a:xfrm>
            <a:off x="1024128" y="5285232"/>
            <a:ext cx="1828800" cy="310896"/>
          </a:xfrm>
          <a:prstGeom prst="rect">
            <a:avLst/>
          </a:prstGeom>
          <a:solidFill>
            <a:srgbClr val="12223A"/>
          </a:solidFill>
          <a:ln w="12700">
            <a:solidFill>
              <a:srgbClr val="22344D"/>
            </a:solidFill>
            <a:prstDash val="solid"/>
          </a:ln>
        </p:spPr>
        <p:txBody>
          <a:bodyPr/>
          <a:lstStyle/>
          <a:p>
            <a:endParaRPr lang="fr-FR"/>
          </a:p>
        </p:txBody>
      </p:sp>
      <p:sp>
        <p:nvSpPr>
          <p:cNvPr id="63" name="Text 61"/>
          <p:cNvSpPr/>
          <p:nvPr/>
        </p:nvSpPr>
        <p:spPr>
          <a:xfrm>
            <a:off x="1097280" y="5330952"/>
            <a:ext cx="168249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shape PCA</a:t>
            </a:r>
            <a:endParaRPr lang="en-US" sz="960" dirty="0"/>
          </a:p>
        </p:txBody>
      </p:sp>
      <p:sp>
        <p:nvSpPr>
          <p:cNvPr id="64" name="Shape 62"/>
          <p:cNvSpPr/>
          <p:nvPr/>
        </p:nvSpPr>
        <p:spPr>
          <a:xfrm>
            <a:off x="2852928" y="5285232"/>
            <a:ext cx="3108960" cy="310896"/>
          </a:xfrm>
          <a:prstGeom prst="rect">
            <a:avLst/>
          </a:prstGeom>
          <a:solidFill>
            <a:srgbClr val="12223A"/>
          </a:solidFill>
          <a:ln w="12700">
            <a:solidFill>
              <a:srgbClr val="22344D"/>
            </a:solidFill>
            <a:prstDash val="solid"/>
          </a:ln>
        </p:spPr>
        <p:txBody>
          <a:bodyPr/>
          <a:lstStyle/>
          <a:p>
            <a:endParaRPr lang="fr-FR"/>
          </a:p>
        </p:txBody>
      </p:sp>
      <p:sp>
        <p:nvSpPr>
          <p:cNvPr id="65" name="Text 63"/>
          <p:cNvSpPr/>
          <p:nvPr/>
        </p:nvSpPr>
        <p:spPr>
          <a:xfrm>
            <a:off x="2926080" y="5330952"/>
            <a:ext cx="2962656" cy="219456"/>
          </a:xfrm>
          <a:prstGeom prst="rect">
            <a:avLst/>
          </a:prstGeom>
          <a:noFill/>
          <a:ln/>
        </p:spPr>
        <p:txBody>
          <a:bodyPr wrap="square" lIns="0" tIns="0" rIns="0" bIns="0" rtlCol="0" anchor="ctr"/>
          <a:lstStyle/>
          <a:p>
            <a:pPr marL="0" indent="0">
              <a:buNone/>
            </a:pPr>
            <a:r>
              <a:rPr lang="en-US" sz="960" dirty="0">
                <a:solidFill>
                  <a:srgbClr val="F8FAFC"/>
                </a:solidFill>
                <a:latin typeface="Aptos" pitchFamily="34" charset="0"/>
                <a:ea typeface="Aptos" pitchFamily="34" charset="-122"/>
                <a:cs typeface="Aptos" pitchFamily="34" charset="-120"/>
              </a:rPr>
              <a:t>(367, 50)</a:t>
            </a:r>
            <a:endParaRPr lang="en-US" sz="960" dirty="0"/>
          </a:p>
        </p:txBody>
      </p:sp>
      <p:sp>
        <p:nvSpPr>
          <p:cNvPr id="66" name="Shape 64"/>
          <p:cNvSpPr/>
          <p:nvPr/>
        </p:nvSpPr>
        <p:spPr>
          <a:xfrm>
            <a:off x="6437376" y="3182112"/>
            <a:ext cx="4974336" cy="2615184"/>
          </a:xfrm>
          <a:prstGeom prst="roundRect">
            <a:avLst>
              <a:gd name="adj" fmla="val 3497"/>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67" name="Shape 65"/>
          <p:cNvSpPr/>
          <p:nvPr/>
        </p:nvSpPr>
        <p:spPr>
          <a:xfrm>
            <a:off x="6446520" y="3191256"/>
            <a:ext cx="77724" cy="2596896"/>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68" name="Text 66"/>
          <p:cNvSpPr/>
          <p:nvPr/>
        </p:nvSpPr>
        <p:spPr>
          <a:xfrm>
            <a:off x="6693408" y="3438144"/>
            <a:ext cx="1463040" cy="164592"/>
          </a:xfrm>
          <a:prstGeom prst="rect">
            <a:avLst/>
          </a:prstGeom>
          <a:noFill/>
          <a:ln/>
        </p:spPr>
        <p:txBody>
          <a:bodyPr wrap="square" lIns="0" tIns="0" rIns="0" bIns="0" rtlCol="0" anchor="ctr"/>
          <a:lstStyle/>
          <a:p>
            <a:pPr marL="0" indent="0">
              <a:buNone/>
            </a:pPr>
            <a:r>
              <a:rPr lang="en-US" sz="1100" b="1" dirty="0">
                <a:solidFill>
                  <a:srgbClr val="F1A43A"/>
                </a:solidFill>
                <a:latin typeface="Aptos" pitchFamily="34" charset="0"/>
                <a:ea typeface="Aptos" pitchFamily="34" charset="-122"/>
                <a:cs typeface="Aptos" pitchFamily="34" charset="-120"/>
              </a:rPr>
              <a:t>Lecture simple</a:t>
            </a:r>
            <a:endParaRPr lang="en-US" sz="1100" dirty="0"/>
          </a:p>
        </p:txBody>
      </p:sp>
      <p:sp>
        <p:nvSpPr>
          <p:cNvPr id="69" name="Text 67"/>
          <p:cNvSpPr/>
          <p:nvPr/>
        </p:nvSpPr>
        <p:spPr>
          <a:xfrm>
            <a:off x="6693408" y="3767328"/>
            <a:ext cx="4443984" cy="1024128"/>
          </a:xfrm>
          <a:prstGeom prst="rect">
            <a:avLst/>
          </a:prstGeom>
          <a:noFill/>
          <a:ln/>
        </p:spPr>
        <p:txBody>
          <a:bodyPr wrap="square" lIns="0" tIns="0" rIns="0" bIns="0" rtlCol="0" anchor="ctr"/>
          <a:lstStyle/>
          <a:p>
            <a:pPr marL="0" indent="0">
              <a:buNone/>
            </a:pPr>
            <a:r>
              <a:rPr lang="en-US" sz="1140" dirty="0">
                <a:solidFill>
                  <a:srgbClr val="F8FAFC"/>
                </a:solidFill>
                <a:latin typeface="Aptos" pitchFamily="34" charset="0"/>
                <a:ea typeface="Aptos" pitchFamily="34" charset="-122"/>
                <a:cs typeface="Aptos" pitchFamily="34" charset="-120"/>
              </a:rPr>
              <a:t>Le notebook lit les images depuis S3, extrait les caractéristiques via MobileNetV2, écrit un premier résultat dans Results/, puis applique une ACP en 50 composantes avant d'écrire le résultat réduit dans Results_PCA/.</a:t>
            </a:r>
            <a:endParaRPr lang="en-US" sz="1140" dirty="0"/>
          </a:p>
        </p:txBody>
      </p:sp>
      <p:sp>
        <p:nvSpPr>
          <p:cNvPr id="70" name="Shape 68"/>
          <p:cNvSpPr/>
          <p:nvPr/>
        </p:nvSpPr>
        <p:spPr>
          <a:xfrm>
            <a:off x="6693408" y="5084064"/>
            <a:ext cx="4443984" cy="438912"/>
          </a:xfrm>
          <a:prstGeom prst="roundRect">
            <a:avLst>
              <a:gd name="adj" fmla="val 16667"/>
            </a:avLst>
          </a:prstGeom>
          <a:solidFill>
            <a:srgbClr val="0C1626"/>
          </a:solidFill>
          <a:ln w="12700">
            <a:solidFill>
              <a:srgbClr val="23344C"/>
            </a:solidFill>
            <a:prstDash val="solid"/>
          </a:ln>
        </p:spPr>
        <p:txBody>
          <a:bodyPr/>
          <a:lstStyle/>
          <a:p>
            <a:endParaRPr lang="fr-FR"/>
          </a:p>
        </p:txBody>
      </p:sp>
      <p:sp>
        <p:nvSpPr>
          <p:cNvPr id="71" name="Text 69"/>
          <p:cNvSpPr/>
          <p:nvPr/>
        </p:nvSpPr>
        <p:spPr>
          <a:xfrm>
            <a:off x="6931152" y="5212080"/>
            <a:ext cx="3986784" cy="146304"/>
          </a:xfrm>
          <a:prstGeom prst="rect">
            <a:avLst/>
          </a:prstGeom>
          <a:noFill/>
          <a:ln/>
        </p:spPr>
        <p:txBody>
          <a:bodyPr wrap="square" lIns="0" tIns="0" rIns="0" bIns="0" rtlCol="0" anchor="ctr"/>
          <a:lstStyle/>
          <a:p>
            <a:pPr marL="0" indent="0">
              <a:buNone/>
            </a:pPr>
            <a:r>
              <a:rPr lang="en-US" sz="1040" dirty="0">
                <a:solidFill>
                  <a:srgbClr val="C9D4E3"/>
                </a:solidFill>
                <a:latin typeface="Aptos" pitchFamily="34" charset="0"/>
                <a:ea typeface="Aptos" pitchFamily="34" charset="-122"/>
                <a:cs typeface="Aptos" pitchFamily="34" charset="-120"/>
              </a:rPr>
              <a:t>Même logique qu'en local, mais données et sorties vivent désormais dans S3.</a:t>
            </a:r>
            <a:endParaRPr lang="en-US" sz="10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RÉSULTATS CLOUD</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Preuves côté S3 : les features sont bien écrites dans le cloud</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Les fichiers parquet dans Results/ montrent que la sortie de featurisation a bien été enregistrée sur le bucket.</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20</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3730752" cy="4480560"/>
          </a:xfrm>
          <a:prstGeom prst="roundRect">
            <a:avLst>
              <a:gd name="adj" fmla="val 245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6227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Shape 9"/>
          <p:cNvSpPr/>
          <p:nvPr/>
        </p:nvSpPr>
        <p:spPr>
          <a:xfrm>
            <a:off x="1024128" y="1956816"/>
            <a:ext cx="32004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2" name="Shape 10"/>
          <p:cNvSpPr/>
          <p:nvPr/>
        </p:nvSpPr>
        <p:spPr>
          <a:xfrm>
            <a:off x="1033272" y="1965960"/>
            <a:ext cx="77724" cy="85039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3" name="Text 11"/>
          <p:cNvSpPr/>
          <p:nvPr/>
        </p:nvSpPr>
        <p:spPr>
          <a:xfrm>
            <a:off x="1188720" y="2066544"/>
            <a:ext cx="29260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367</a:t>
            </a:r>
            <a:endParaRPr lang="en-US" sz="2000" dirty="0"/>
          </a:p>
        </p:txBody>
      </p:sp>
      <p:sp>
        <p:nvSpPr>
          <p:cNvPr id="14" name="Text 12"/>
          <p:cNvSpPr/>
          <p:nvPr/>
        </p:nvSpPr>
        <p:spPr>
          <a:xfrm>
            <a:off x="1188720" y="2386584"/>
            <a:ext cx="29260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images</a:t>
            </a:r>
            <a:endParaRPr lang="en-US" sz="1010" dirty="0"/>
          </a:p>
        </p:txBody>
      </p:sp>
      <p:sp>
        <p:nvSpPr>
          <p:cNvPr id="15" name="Shape 13"/>
          <p:cNvSpPr/>
          <p:nvPr/>
        </p:nvSpPr>
        <p:spPr>
          <a:xfrm>
            <a:off x="1024128" y="3054096"/>
            <a:ext cx="32004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6" name="Shape 14"/>
          <p:cNvSpPr/>
          <p:nvPr/>
        </p:nvSpPr>
        <p:spPr>
          <a:xfrm>
            <a:off x="1033272" y="3063240"/>
            <a:ext cx="77724" cy="85039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7" name="Text 15"/>
          <p:cNvSpPr/>
          <p:nvPr/>
        </p:nvSpPr>
        <p:spPr>
          <a:xfrm>
            <a:off x="1188720" y="3163824"/>
            <a:ext cx="29260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1280</a:t>
            </a:r>
            <a:endParaRPr lang="en-US" sz="2000" dirty="0"/>
          </a:p>
        </p:txBody>
      </p:sp>
      <p:sp>
        <p:nvSpPr>
          <p:cNvPr id="18" name="Text 16"/>
          <p:cNvSpPr/>
          <p:nvPr/>
        </p:nvSpPr>
        <p:spPr>
          <a:xfrm>
            <a:off x="1188720" y="3483864"/>
            <a:ext cx="29260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dimensions</a:t>
            </a:r>
            <a:endParaRPr lang="en-US" sz="1010" dirty="0"/>
          </a:p>
        </p:txBody>
      </p:sp>
      <p:sp>
        <p:nvSpPr>
          <p:cNvPr id="19" name="Shape 17"/>
          <p:cNvSpPr/>
          <p:nvPr/>
        </p:nvSpPr>
        <p:spPr>
          <a:xfrm>
            <a:off x="1024128" y="4151376"/>
            <a:ext cx="32004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0" name="Shape 18"/>
          <p:cNvSpPr/>
          <p:nvPr/>
        </p:nvSpPr>
        <p:spPr>
          <a:xfrm>
            <a:off x="1033272" y="4160520"/>
            <a:ext cx="77724" cy="850392"/>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21" name="Text 19"/>
          <p:cNvSpPr/>
          <p:nvPr/>
        </p:nvSpPr>
        <p:spPr>
          <a:xfrm>
            <a:off x="1188720" y="4261104"/>
            <a:ext cx="29260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Parquet</a:t>
            </a:r>
            <a:endParaRPr lang="en-US" sz="2000" dirty="0"/>
          </a:p>
        </p:txBody>
      </p:sp>
      <p:sp>
        <p:nvSpPr>
          <p:cNvPr id="22" name="Text 20"/>
          <p:cNvSpPr/>
          <p:nvPr/>
        </p:nvSpPr>
        <p:spPr>
          <a:xfrm>
            <a:off x="1188720" y="4581144"/>
            <a:ext cx="29260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format de sortie</a:t>
            </a:r>
            <a:endParaRPr lang="en-US" sz="1010" dirty="0"/>
          </a:p>
        </p:txBody>
      </p:sp>
      <p:sp>
        <p:nvSpPr>
          <p:cNvPr id="23" name="Shape 21"/>
          <p:cNvSpPr/>
          <p:nvPr/>
        </p:nvSpPr>
        <p:spPr>
          <a:xfrm>
            <a:off x="1024128" y="5340096"/>
            <a:ext cx="3200400" cy="493776"/>
          </a:xfrm>
          <a:prstGeom prst="roundRect">
            <a:avLst>
              <a:gd name="adj" fmla="val 14815"/>
            </a:avLst>
          </a:prstGeom>
          <a:solidFill>
            <a:srgbClr val="0C1626"/>
          </a:solidFill>
          <a:ln w="12700">
            <a:solidFill>
              <a:srgbClr val="23344C"/>
            </a:solidFill>
            <a:prstDash val="solid"/>
          </a:ln>
        </p:spPr>
        <p:txBody>
          <a:bodyPr/>
          <a:lstStyle/>
          <a:p>
            <a:endParaRPr lang="fr-FR"/>
          </a:p>
        </p:txBody>
      </p:sp>
      <p:sp>
        <p:nvSpPr>
          <p:cNvPr id="24" name="Text 22"/>
          <p:cNvSpPr/>
          <p:nvPr/>
        </p:nvSpPr>
        <p:spPr>
          <a:xfrm>
            <a:off x="1261872" y="5486400"/>
            <a:ext cx="2724912" cy="164592"/>
          </a:xfrm>
          <a:prstGeom prst="rect">
            <a:avLst/>
          </a:prstGeom>
          <a:noFill/>
          <a:ln/>
        </p:spPr>
        <p:txBody>
          <a:bodyPr wrap="square" lIns="0" tIns="0" rIns="0" bIns="0" rtlCol="0" anchor="ctr"/>
          <a:lstStyle/>
          <a:p>
            <a:pPr marL="0" indent="0">
              <a:buNone/>
            </a:pPr>
            <a:r>
              <a:rPr lang="en-US" sz="1020" dirty="0">
                <a:solidFill>
                  <a:srgbClr val="C9D4E3"/>
                </a:solidFill>
                <a:latin typeface="Aptos" pitchFamily="34" charset="0"/>
                <a:ea typeface="Aptos" pitchFamily="34" charset="-122"/>
                <a:cs typeface="Aptos" pitchFamily="34" charset="-120"/>
              </a:rPr>
              <a:t>À retenir : plusieurs fichiers part-*.parquet indiquent une écriture distribuée, cohérente avec Spark.</a:t>
            </a:r>
            <a:endParaRPr lang="en-US" sz="1020" dirty="0"/>
          </a:p>
        </p:txBody>
      </p:sp>
      <p:sp>
        <p:nvSpPr>
          <p:cNvPr id="25" name="Shape 23"/>
          <p:cNvSpPr/>
          <p:nvPr/>
        </p:nvSpPr>
        <p:spPr>
          <a:xfrm>
            <a:off x="4736592" y="1664208"/>
            <a:ext cx="6675120" cy="4480560"/>
          </a:xfrm>
          <a:prstGeom prst="roundRect">
            <a:avLst>
              <a:gd name="adj" fmla="val 204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6" name="Shape 24"/>
          <p:cNvSpPr/>
          <p:nvPr/>
        </p:nvSpPr>
        <p:spPr>
          <a:xfrm>
            <a:off x="4745736" y="1673352"/>
            <a:ext cx="77724" cy="446227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pic>
        <p:nvPicPr>
          <p:cNvPr id="27" name="Image 0" descr="/mnt/data/user-QVqjKnO5gsmGm3p3eBQjpH6E/5431f6fb2c5b4046a5800bec227439ae/mnt/data/awsp11deck/AWS PATH P11/path_20.png"/>
          <p:cNvPicPr>
            <a:picLocks noChangeAspect="1"/>
          </p:cNvPicPr>
          <p:nvPr/>
        </p:nvPicPr>
        <p:blipFill>
          <a:blip r:embed="rId3"/>
          <a:stretch>
            <a:fillRect/>
          </a:stretch>
        </p:blipFill>
        <p:spPr>
          <a:xfrm>
            <a:off x="4901184" y="1953446"/>
            <a:ext cx="6345936" cy="3719205"/>
          </a:xfrm>
          <a:prstGeom prst="rect">
            <a:avLst/>
          </a:prstGeom>
        </p:spPr>
      </p:pic>
      <p:sp>
        <p:nvSpPr>
          <p:cNvPr id="28" name="Text 25"/>
          <p:cNvSpPr/>
          <p:nvPr/>
        </p:nvSpPr>
        <p:spPr>
          <a:xfrm>
            <a:off x="4901184" y="5888736"/>
            <a:ext cx="6345936"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Contenu du dossier Results/.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RÉSULTATS CLOUD</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Preuves finales : l’ACP est écrite et le projet est bouclé</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Cette dernière étape boucle le projet : la sortie réduite est stockée dans S3, puis le cluster EMR peut être résilié pour maîtriser les coûts.</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21</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768096" y="1664208"/>
            <a:ext cx="3730752" cy="4480560"/>
          </a:xfrm>
          <a:prstGeom prst="roundRect">
            <a:avLst>
              <a:gd name="adj" fmla="val 245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777240" y="1673352"/>
            <a:ext cx="77724" cy="4462272"/>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11" name="Shape 9"/>
          <p:cNvSpPr/>
          <p:nvPr/>
        </p:nvSpPr>
        <p:spPr>
          <a:xfrm>
            <a:off x="1024128" y="1938528"/>
            <a:ext cx="32004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2" name="Shape 10"/>
          <p:cNvSpPr/>
          <p:nvPr/>
        </p:nvSpPr>
        <p:spPr>
          <a:xfrm>
            <a:off x="1033272" y="1947672"/>
            <a:ext cx="77724" cy="850392"/>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13" name="Text 11"/>
          <p:cNvSpPr/>
          <p:nvPr/>
        </p:nvSpPr>
        <p:spPr>
          <a:xfrm>
            <a:off x="1188720" y="2048256"/>
            <a:ext cx="29260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50</a:t>
            </a:r>
            <a:endParaRPr lang="en-US" sz="2000" dirty="0"/>
          </a:p>
        </p:txBody>
      </p:sp>
      <p:sp>
        <p:nvSpPr>
          <p:cNvPr id="14" name="Text 12"/>
          <p:cNvSpPr/>
          <p:nvPr/>
        </p:nvSpPr>
        <p:spPr>
          <a:xfrm>
            <a:off x="1188720" y="2368296"/>
            <a:ext cx="29260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composantes</a:t>
            </a:r>
            <a:endParaRPr lang="en-US" sz="1010" dirty="0"/>
          </a:p>
        </p:txBody>
      </p:sp>
      <p:sp>
        <p:nvSpPr>
          <p:cNvPr id="15" name="Shape 13"/>
          <p:cNvSpPr/>
          <p:nvPr/>
        </p:nvSpPr>
        <p:spPr>
          <a:xfrm>
            <a:off x="1024128" y="3035808"/>
            <a:ext cx="32004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6" name="Shape 14"/>
          <p:cNvSpPr/>
          <p:nvPr/>
        </p:nvSpPr>
        <p:spPr>
          <a:xfrm>
            <a:off x="1033272" y="3044952"/>
            <a:ext cx="77724" cy="850392"/>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7" name="Text 15"/>
          <p:cNvSpPr/>
          <p:nvPr/>
        </p:nvSpPr>
        <p:spPr>
          <a:xfrm>
            <a:off x="1188720" y="3145536"/>
            <a:ext cx="29260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(367, 50)</a:t>
            </a:r>
            <a:endParaRPr lang="en-US" sz="2000" dirty="0"/>
          </a:p>
        </p:txBody>
      </p:sp>
      <p:sp>
        <p:nvSpPr>
          <p:cNvPr id="18" name="Text 16"/>
          <p:cNvSpPr/>
          <p:nvPr/>
        </p:nvSpPr>
        <p:spPr>
          <a:xfrm>
            <a:off x="1188720" y="3465576"/>
            <a:ext cx="29260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taille finale</a:t>
            </a:r>
            <a:endParaRPr lang="en-US" sz="1010" dirty="0"/>
          </a:p>
        </p:txBody>
      </p:sp>
      <p:sp>
        <p:nvSpPr>
          <p:cNvPr id="19" name="Shape 17"/>
          <p:cNvSpPr/>
          <p:nvPr/>
        </p:nvSpPr>
        <p:spPr>
          <a:xfrm>
            <a:off x="1024128" y="4133088"/>
            <a:ext cx="3200400" cy="868680"/>
          </a:xfrm>
          <a:prstGeom prst="roundRect">
            <a:avLst>
              <a:gd name="adj" fmla="val 10526"/>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0" name="Shape 18"/>
          <p:cNvSpPr/>
          <p:nvPr/>
        </p:nvSpPr>
        <p:spPr>
          <a:xfrm>
            <a:off x="1033272" y="4142232"/>
            <a:ext cx="77724" cy="850392"/>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21" name="Text 19"/>
          <p:cNvSpPr/>
          <p:nvPr/>
        </p:nvSpPr>
        <p:spPr>
          <a:xfrm>
            <a:off x="1188720" y="4242816"/>
            <a:ext cx="2926080" cy="256032"/>
          </a:xfrm>
          <a:prstGeom prst="rect">
            <a:avLst/>
          </a:prstGeom>
          <a:noFill/>
          <a:ln/>
        </p:spPr>
        <p:txBody>
          <a:bodyPr wrap="square" lIns="0" tIns="0" rIns="0" bIns="0" rtlCol="0" anchor="ctr"/>
          <a:lstStyle/>
          <a:p>
            <a:pPr marL="0" indent="0">
              <a:buNone/>
            </a:pPr>
            <a:r>
              <a:rPr lang="en-US" sz="2000" b="1" dirty="0">
                <a:solidFill>
                  <a:srgbClr val="F8FAFC"/>
                </a:solidFill>
                <a:latin typeface="Aptos Display" pitchFamily="34" charset="0"/>
                <a:ea typeface="Aptos Display" pitchFamily="34" charset="-122"/>
                <a:cs typeface="Aptos Display" pitchFamily="34" charset="-120"/>
              </a:rPr>
              <a:t>58,0 %</a:t>
            </a:r>
            <a:endParaRPr lang="en-US" sz="2000" dirty="0"/>
          </a:p>
        </p:txBody>
      </p:sp>
      <p:sp>
        <p:nvSpPr>
          <p:cNvPr id="22" name="Text 20"/>
          <p:cNvSpPr/>
          <p:nvPr/>
        </p:nvSpPr>
        <p:spPr>
          <a:xfrm>
            <a:off x="1188720" y="4562856"/>
            <a:ext cx="2926080" cy="164592"/>
          </a:xfrm>
          <a:prstGeom prst="rect">
            <a:avLst/>
          </a:prstGeom>
          <a:noFill/>
          <a:ln/>
        </p:spPr>
        <p:txBody>
          <a:bodyPr wrap="square" lIns="0" tIns="0" rIns="0" bIns="0" rtlCol="0" anchor="ctr"/>
          <a:lstStyle/>
          <a:p>
            <a:pPr marL="0" indent="0">
              <a:buNone/>
            </a:pPr>
            <a:r>
              <a:rPr lang="en-US" sz="1010" dirty="0">
                <a:solidFill>
                  <a:srgbClr val="9FB0C6"/>
                </a:solidFill>
                <a:latin typeface="Aptos" pitchFamily="34" charset="0"/>
                <a:ea typeface="Aptos" pitchFamily="34" charset="-122"/>
                <a:cs typeface="Aptos" pitchFamily="34" charset="-120"/>
              </a:rPr>
              <a:t>variance cloud</a:t>
            </a:r>
            <a:endParaRPr lang="en-US" sz="1010" dirty="0"/>
          </a:p>
        </p:txBody>
      </p:sp>
      <p:sp>
        <p:nvSpPr>
          <p:cNvPr id="23" name="Shape 21"/>
          <p:cNvSpPr/>
          <p:nvPr/>
        </p:nvSpPr>
        <p:spPr>
          <a:xfrm>
            <a:off x="1024128" y="5321808"/>
            <a:ext cx="3200400" cy="512064"/>
          </a:xfrm>
          <a:prstGeom prst="roundRect">
            <a:avLst>
              <a:gd name="adj" fmla="val 14286"/>
            </a:avLst>
          </a:prstGeom>
          <a:solidFill>
            <a:srgbClr val="0C1626"/>
          </a:solidFill>
          <a:ln w="12700">
            <a:solidFill>
              <a:srgbClr val="23344C"/>
            </a:solidFill>
            <a:prstDash val="solid"/>
          </a:ln>
        </p:spPr>
        <p:txBody>
          <a:bodyPr/>
          <a:lstStyle/>
          <a:p>
            <a:endParaRPr lang="fr-FR"/>
          </a:p>
        </p:txBody>
      </p:sp>
      <p:sp>
        <p:nvSpPr>
          <p:cNvPr id="24" name="Text 22"/>
          <p:cNvSpPr/>
          <p:nvPr/>
        </p:nvSpPr>
        <p:spPr>
          <a:xfrm>
            <a:off x="1243584" y="5468112"/>
            <a:ext cx="2761488" cy="310896"/>
          </a:xfrm>
          <a:prstGeom prst="rect">
            <a:avLst/>
          </a:prstGeom>
          <a:noFill/>
          <a:ln/>
        </p:spPr>
        <p:txBody>
          <a:bodyPr wrap="square" lIns="0" tIns="0" rIns="0" bIns="0" rtlCol="0" anchor="ctr"/>
          <a:lstStyle/>
          <a:p>
            <a:pPr marL="0" indent="0">
              <a:buNone/>
            </a:pPr>
            <a:r>
              <a:rPr lang="en-US" sz="1010" dirty="0">
                <a:solidFill>
                  <a:srgbClr val="C9D4E3"/>
                </a:solidFill>
                <a:latin typeface="Aptos" pitchFamily="34" charset="0"/>
                <a:ea typeface="Aptos" pitchFamily="34" charset="-122"/>
                <a:cs typeface="Aptos" pitchFamily="34" charset="-120"/>
              </a:rPr>
              <a:t>Bilan critique : la preuve d'architecture est complète, mais le projet ne va pas encore jusqu'à l'entraînement final. Le sous-ensemble AWS reste volontaire et sert d'abord la démonstration.</a:t>
            </a:r>
            <a:endParaRPr lang="en-US" sz="1010" dirty="0"/>
          </a:p>
        </p:txBody>
      </p:sp>
      <p:sp>
        <p:nvSpPr>
          <p:cNvPr id="25" name="Shape 23"/>
          <p:cNvSpPr/>
          <p:nvPr/>
        </p:nvSpPr>
        <p:spPr>
          <a:xfrm>
            <a:off x="4736592" y="1664208"/>
            <a:ext cx="6675120" cy="4480560"/>
          </a:xfrm>
          <a:prstGeom prst="roundRect">
            <a:avLst>
              <a:gd name="adj" fmla="val 2041"/>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6" name="Shape 24"/>
          <p:cNvSpPr/>
          <p:nvPr/>
        </p:nvSpPr>
        <p:spPr>
          <a:xfrm>
            <a:off x="4745736" y="1673352"/>
            <a:ext cx="77724" cy="4462272"/>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pic>
        <p:nvPicPr>
          <p:cNvPr id="27" name="Image 0" descr="/mnt/data/user-QVqjKnO5gsmGm3p3eBQjpH6E/5431f6fb2c5b4046a5800bec227439ae/mnt/data/awsp11deck/AWS PATH P11/path_21.png"/>
          <p:cNvPicPr>
            <a:picLocks noChangeAspect="1"/>
          </p:cNvPicPr>
          <p:nvPr/>
        </p:nvPicPr>
        <p:blipFill>
          <a:blip r:embed="rId3"/>
          <a:stretch>
            <a:fillRect/>
          </a:stretch>
        </p:blipFill>
        <p:spPr>
          <a:xfrm>
            <a:off x="4901184" y="2788809"/>
            <a:ext cx="6345936" cy="2048477"/>
          </a:xfrm>
          <a:prstGeom prst="rect">
            <a:avLst/>
          </a:prstGeom>
        </p:spPr>
      </p:pic>
      <p:sp>
        <p:nvSpPr>
          <p:cNvPr id="28" name="Text 25"/>
          <p:cNvSpPr/>
          <p:nvPr/>
        </p:nvSpPr>
        <p:spPr>
          <a:xfrm>
            <a:off x="4901184" y="5888736"/>
            <a:ext cx="6345936" cy="128016"/>
          </a:xfrm>
          <a:prstGeom prst="rect">
            <a:avLst/>
          </a:prstGeom>
          <a:noFill/>
          <a:ln/>
        </p:spPr>
        <p:txBody>
          <a:bodyPr wrap="square" lIns="0" tIns="0" rIns="0" bIns="0" rtlCol="0" anchor="ctr"/>
          <a:lstStyle/>
          <a:p>
            <a:pPr marL="0" indent="0">
              <a:buNone/>
            </a:pPr>
            <a:r>
              <a:rPr lang="en-US" sz="1000" dirty="0">
                <a:solidFill>
                  <a:srgbClr val="9FB0C6"/>
                </a:solidFill>
                <a:latin typeface="Aptos" pitchFamily="34" charset="0"/>
                <a:ea typeface="Aptos" pitchFamily="34" charset="-122"/>
                <a:cs typeface="Aptos" pitchFamily="34" charset="-120"/>
              </a:rPr>
              <a:t>Results_PCA dans S3.</a:t>
            </a:r>
            <a:endParaRPr lang="en-US" sz="1000" dirty="0"/>
          </a:p>
        </p:txBody>
      </p:sp>
      <p:sp>
        <p:nvSpPr>
          <p:cNvPr id="29" name="Text 26"/>
          <p:cNvSpPr/>
          <p:nvPr/>
        </p:nvSpPr>
        <p:spPr>
          <a:xfrm>
            <a:off x="8247888" y="5632704"/>
            <a:ext cx="1572768" cy="146304"/>
          </a:xfrm>
          <a:prstGeom prst="rect">
            <a:avLst/>
          </a:prstGeom>
          <a:noFill/>
          <a:ln/>
        </p:spPr>
        <p:txBody>
          <a:bodyPr wrap="square" lIns="0" tIns="0" rIns="0" bIns="0" rtlCol="0" anchor="ctr"/>
          <a:lstStyle/>
          <a:p>
            <a:pPr marL="0" indent="0" algn="ctr">
              <a:buNone/>
            </a:pPr>
            <a:r>
              <a:rPr lang="en-US" sz="1120" b="1" dirty="0">
                <a:solidFill>
                  <a:srgbClr val="F1A43A"/>
                </a:solidFill>
                <a:latin typeface="Aptos" pitchFamily="34" charset="0"/>
                <a:ea typeface="Aptos" pitchFamily="34" charset="-122"/>
                <a:cs typeface="Aptos" pitchFamily="34" charset="-120"/>
              </a:rPr>
              <a:t>cluster résilié ensuite</a:t>
            </a:r>
            <a:endParaRPr lang="en-US" sz="11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658368" y="237744"/>
            <a:ext cx="3200400" cy="164592"/>
          </a:xfrm>
          <a:prstGeom prst="rect">
            <a:avLst/>
          </a:prstGeom>
          <a:noFill/>
          <a:ln/>
        </p:spPr>
        <p:txBody>
          <a:bodyPr wrap="square" lIns="0" tIns="0" rIns="0" bIns="0" rtlCol="0" anchor="ctr"/>
          <a:lstStyle/>
          <a:p>
            <a:pPr marL="0" indent="0">
              <a:buNone/>
            </a:pPr>
            <a:r>
              <a:rPr lang="en-US" sz="1110" b="1" dirty="0">
                <a:solidFill>
                  <a:srgbClr val="A7B78E"/>
                </a:solidFill>
                <a:latin typeface="Aptos" pitchFamily="34" charset="0"/>
                <a:ea typeface="Aptos" pitchFamily="34" charset="-122"/>
                <a:cs typeface="Aptos" pitchFamily="34" charset="-120"/>
              </a:rPr>
              <a:t>PERSPECTIVES</a:t>
            </a:r>
            <a:endParaRPr lang="en-US" sz="1110" dirty="0"/>
          </a:p>
        </p:txBody>
      </p:sp>
      <p:sp>
        <p:nvSpPr>
          <p:cNvPr id="4" name="Text 2"/>
          <p:cNvSpPr/>
          <p:nvPr/>
        </p:nvSpPr>
        <p:spPr>
          <a:xfrm>
            <a:off x="658368" y="457200"/>
            <a:ext cx="10424160" cy="365760"/>
          </a:xfrm>
          <a:prstGeom prst="rect">
            <a:avLst/>
          </a:prstGeom>
          <a:noFill/>
          <a:ln/>
        </p:spPr>
        <p:txBody>
          <a:bodyPr wrap="square" lIns="0" tIns="0" rIns="0" bIns="0" rtlCol="0" anchor="ctr"/>
          <a:lstStyle/>
          <a:p>
            <a:pPr marL="0" indent="0">
              <a:buNone/>
            </a:pPr>
            <a:r>
              <a:rPr lang="en-US" sz="2360" b="1" dirty="0">
                <a:solidFill>
                  <a:srgbClr val="F8FAFC"/>
                </a:solidFill>
                <a:latin typeface="Aptos Display" pitchFamily="34" charset="0"/>
                <a:ea typeface="Aptos Display" pitchFamily="34" charset="-122"/>
                <a:cs typeface="Aptos Display" pitchFamily="34" charset="-120"/>
              </a:rPr>
              <a:t>Pour la suite</a:t>
            </a:r>
            <a:endParaRPr lang="en-US" sz="2360" dirty="0"/>
          </a:p>
        </p:txBody>
      </p:sp>
      <p:sp>
        <p:nvSpPr>
          <p:cNvPr id="5" name="Text 3"/>
          <p:cNvSpPr/>
          <p:nvPr/>
        </p:nvSpPr>
        <p:spPr>
          <a:xfrm>
            <a:off x="658368" y="877824"/>
            <a:ext cx="10698480" cy="201168"/>
          </a:xfrm>
          <a:prstGeom prst="rect">
            <a:avLst/>
          </a:prstGeom>
          <a:noFill/>
          <a:ln/>
        </p:spPr>
        <p:txBody>
          <a:bodyPr wrap="square" lIns="0" tIns="0" rIns="0" bIns="0" rtlCol="0" anchor="ctr"/>
          <a:lstStyle/>
          <a:p>
            <a:pPr marL="0" indent="0">
              <a:buNone/>
            </a:pPr>
            <a:r>
              <a:rPr lang="en-US" sz="1130" dirty="0">
                <a:solidFill>
                  <a:srgbClr val="9FB0C6"/>
                </a:solidFill>
                <a:latin typeface="Aptos" pitchFamily="34" charset="0"/>
                <a:ea typeface="Aptos" pitchFamily="34" charset="-122"/>
                <a:cs typeface="Aptos" pitchFamily="34" charset="-120"/>
              </a:rPr>
              <a:t>Si nous avions plus de temps, la prochaine étape serait moins de refaire la démo que de transformer cette base en vrai produit data.</a:t>
            </a:r>
            <a:endParaRPr lang="en-US" sz="1130" dirty="0"/>
          </a:p>
        </p:txBody>
      </p:sp>
      <p:sp>
        <p:nvSpPr>
          <p:cNvPr id="6" name="Shape 4"/>
          <p:cNvSpPr/>
          <p:nvPr/>
        </p:nvSpPr>
        <p:spPr>
          <a:xfrm>
            <a:off x="658368" y="1197864"/>
            <a:ext cx="10874959" cy="0"/>
          </a:xfrm>
          <a:prstGeom prst="line">
            <a:avLst/>
          </a:prstGeom>
          <a:noFill/>
          <a:ln w="12700">
            <a:solidFill>
              <a:srgbClr val="23344C"/>
            </a:solidFill>
            <a:prstDash val="solid"/>
          </a:ln>
        </p:spPr>
        <p:txBody>
          <a:bodyPr/>
          <a:lstStyle/>
          <a:p>
            <a:endParaRPr lang="fr-FR"/>
          </a:p>
        </p:txBody>
      </p:sp>
      <p:sp>
        <p:nvSpPr>
          <p:cNvPr id="7" name="Text 5"/>
          <p:cNvSpPr/>
          <p:nvPr/>
        </p:nvSpPr>
        <p:spPr>
          <a:xfrm>
            <a:off x="11247120" y="246888"/>
            <a:ext cx="438912" cy="219456"/>
          </a:xfrm>
          <a:prstGeom prst="rect">
            <a:avLst/>
          </a:prstGeom>
          <a:noFill/>
          <a:ln/>
        </p:spPr>
        <p:txBody>
          <a:bodyPr wrap="square" lIns="0" tIns="0" rIns="0" bIns="0" rtlCol="0" anchor="ctr"/>
          <a:lstStyle/>
          <a:p>
            <a:pPr marL="0" indent="0" algn="r">
              <a:buNone/>
            </a:pPr>
            <a:r>
              <a:rPr lang="en-US" sz="1820" b="1" dirty="0">
                <a:solidFill>
                  <a:srgbClr val="F1A43A"/>
                </a:solidFill>
                <a:latin typeface="Aptos Display" pitchFamily="34" charset="0"/>
                <a:ea typeface="Aptos Display" pitchFamily="34" charset="-122"/>
                <a:cs typeface="Aptos Display" pitchFamily="34" charset="-120"/>
              </a:rPr>
              <a:t>22</a:t>
            </a:r>
            <a:endParaRPr lang="en-US" sz="1820" dirty="0"/>
          </a:p>
        </p:txBody>
      </p:sp>
      <p:sp>
        <p:nvSpPr>
          <p:cNvPr id="8" name="Text 6"/>
          <p:cNvSpPr/>
          <p:nvPr/>
        </p:nvSpPr>
        <p:spPr>
          <a:xfrm>
            <a:off x="658368" y="6473952"/>
            <a:ext cx="3840480" cy="146304"/>
          </a:xfrm>
          <a:prstGeom prst="rect">
            <a:avLst/>
          </a:prstGeom>
          <a:noFill/>
          <a:ln/>
        </p:spPr>
        <p:txBody>
          <a:bodyPr wrap="square" lIns="0" tIns="0" rIns="0" bIns="0" rtlCol="0" anchor="ctr"/>
          <a:lstStyle/>
          <a:p>
            <a:pPr marL="0" indent="0">
              <a:buNone/>
            </a:pPr>
            <a:r>
              <a:rPr lang="en-US" sz="920" dirty="0">
                <a:solidFill>
                  <a:srgbClr val="7E8DA5"/>
                </a:solidFill>
                <a:latin typeface="Aptos" pitchFamily="34" charset="0"/>
                <a:ea typeface="Aptos" pitchFamily="34" charset="-122"/>
                <a:cs typeface="Aptos" pitchFamily="34" charset="-120"/>
              </a:rPr>
              <a:t>Projet 11 — Fruits! — Victor Aubry</a:t>
            </a:r>
            <a:endParaRPr lang="en-US" sz="920" dirty="0"/>
          </a:p>
        </p:txBody>
      </p:sp>
      <p:sp>
        <p:nvSpPr>
          <p:cNvPr id="9" name="Shape 7"/>
          <p:cNvSpPr/>
          <p:nvPr/>
        </p:nvSpPr>
        <p:spPr>
          <a:xfrm>
            <a:off x="859536" y="1828800"/>
            <a:ext cx="4901184" cy="1627632"/>
          </a:xfrm>
          <a:prstGeom prst="roundRect">
            <a:avLst>
              <a:gd name="adj" fmla="val 561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0" name="Shape 8"/>
          <p:cNvSpPr/>
          <p:nvPr/>
        </p:nvSpPr>
        <p:spPr>
          <a:xfrm>
            <a:off x="868680" y="1837944"/>
            <a:ext cx="77724" cy="1609344"/>
          </a:xfrm>
          <a:prstGeom prst="roundRect">
            <a:avLst>
              <a:gd name="adj" fmla="val 58824"/>
            </a:avLst>
          </a:prstGeom>
          <a:solidFill>
            <a:srgbClr val="19B67A"/>
          </a:solidFill>
          <a:ln w="12700">
            <a:solidFill>
              <a:srgbClr val="19B67A">
                <a:alpha val="0"/>
              </a:srgbClr>
            </a:solidFill>
            <a:prstDash val="solid"/>
          </a:ln>
        </p:spPr>
        <p:txBody>
          <a:bodyPr/>
          <a:lstStyle/>
          <a:p>
            <a:endParaRPr lang="fr-FR"/>
          </a:p>
        </p:txBody>
      </p:sp>
      <p:sp>
        <p:nvSpPr>
          <p:cNvPr id="11" name="Shape 9"/>
          <p:cNvSpPr/>
          <p:nvPr/>
        </p:nvSpPr>
        <p:spPr>
          <a:xfrm>
            <a:off x="1024128" y="2029968"/>
            <a:ext cx="310896" cy="310896"/>
          </a:xfrm>
          <a:prstGeom prst="ellipse">
            <a:avLst/>
          </a:prstGeom>
          <a:solidFill>
            <a:srgbClr val="19B67A">
              <a:alpha val="24000"/>
            </a:srgbClr>
          </a:solidFill>
          <a:ln w="12700">
            <a:solidFill>
              <a:srgbClr val="19B67A"/>
            </a:solidFill>
            <a:prstDash val="solid"/>
          </a:ln>
        </p:spPr>
        <p:txBody>
          <a:bodyPr/>
          <a:lstStyle/>
          <a:p>
            <a:endParaRPr lang="fr-FR"/>
          </a:p>
        </p:txBody>
      </p:sp>
      <p:sp>
        <p:nvSpPr>
          <p:cNvPr id="12" name="Text 10"/>
          <p:cNvSpPr/>
          <p:nvPr/>
        </p:nvSpPr>
        <p:spPr>
          <a:xfrm>
            <a:off x="1024128" y="2057400"/>
            <a:ext cx="310896" cy="201168"/>
          </a:xfrm>
          <a:prstGeom prst="rect">
            <a:avLst/>
          </a:prstGeom>
          <a:noFill/>
          <a:ln/>
        </p:spPr>
        <p:txBody>
          <a:bodyPr wrap="square" lIns="0" tIns="0" rIns="0" bIns="0" rtlCol="0" anchor="ctr"/>
          <a:lstStyle/>
          <a:p>
            <a:pPr marL="0" indent="0" algn="ctr">
              <a:buNone/>
            </a:pPr>
            <a:r>
              <a:rPr lang="en-US" sz="1070" b="1" dirty="0">
                <a:solidFill>
                  <a:srgbClr val="19B67A"/>
                </a:solidFill>
                <a:latin typeface="Aptos" pitchFamily="34" charset="0"/>
                <a:ea typeface="Aptos" pitchFamily="34" charset="-122"/>
                <a:cs typeface="Aptos" pitchFamily="34" charset="-120"/>
              </a:rPr>
              <a:t>1</a:t>
            </a:r>
            <a:endParaRPr lang="en-US" sz="1070" dirty="0"/>
          </a:p>
        </p:txBody>
      </p:sp>
      <p:sp>
        <p:nvSpPr>
          <p:cNvPr id="13" name="Text 11"/>
          <p:cNvSpPr/>
          <p:nvPr/>
        </p:nvSpPr>
        <p:spPr>
          <a:xfrm>
            <a:off x="1426464" y="2048256"/>
            <a:ext cx="3474720" cy="182880"/>
          </a:xfrm>
          <a:prstGeom prst="rect">
            <a:avLst/>
          </a:prstGeom>
          <a:noFill/>
          <a:ln/>
        </p:spPr>
        <p:txBody>
          <a:bodyPr wrap="square" lIns="0" tIns="0" rIns="0" bIns="0" rtlCol="0" anchor="ctr"/>
          <a:lstStyle/>
          <a:p>
            <a:pPr marL="0" indent="0">
              <a:buNone/>
            </a:pPr>
            <a:r>
              <a:rPr lang="en-US" sz="1540" b="1" dirty="0">
                <a:solidFill>
                  <a:srgbClr val="F8FAFC"/>
                </a:solidFill>
                <a:latin typeface="Aptos Display" pitchFamily="34" charset="0"/>
                <a:ea typeface="Aptos Display" pitchFamily="34" charset="-122"/>
                <a:cs typeface="Aptos Display" pitchFamily="34" charset="-120"/>
              </a:rPr>
              <a:t>Monter en volume</a:t>
            </a:r>
            <a:endParaRPr lang="en-US" sz="1540" dirty="0"/>
          </a:p>
        </p:txBody>
      </p:sp>
      <p:sp>
        <p:nvSpPr>
          <p:cNvPr id="14" name="Text 12"/>
          <p:cNvSpPr/>
          <p:nvPr/>
        </p:nvSpPr>
        <p:spPr>
          <a:xfrm>
            <a:off x="1024128" y="2432304"/>
            <a:ext cx="4443984" cy="676656"/>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Nous chargerions davantage d'images dans S3 pour mesurer le comportement du pipeline sur un volume plus proche du futur besoin métier.</a:t>
            </a:r>
            <a:endParaRPr lang="en-US" sz="1080" dirty="0"/>
          </a:p>
        </p:txBody>
      </p:sp>
      <p:sp>
        <p:nvSpPr>
          <p:cNvPr id="15" name="Shape 13"/>
          <p:cNvSpPr/>
          <p:nvPr/>
        </p:nvSpPr>
        <p:spPr>
          <a:xfrm>
            <a:off x="6437376" y="1828800"/>
            <a:ext cx="4901184" cy="1627632"/>
          </a:xfrm>
          <a:prstGeom prst="roundRect">
            <a:avLst>
              <a:gd name="adj" fmla="val 561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16" name="Shape 14"/>
          <p:cNvSpPr/>
          <p:nvPr/>
        </p:nvSpPr>
        <p:spPr>
          <a:xfrm>
            <a:off x="6446520" y="1837944"/>
            <a:ext cx="77724" cy="1609344"/>
          </a:xfrm>
          <a:prstGeom prst="roundRect">
            <a:avLst>
              <a:gd name="adj" fmla="val 58824"/>
            </a:avLst>
          </a:prstGeom>
          <a:solidFill>
            <a:srgbClr val="60A5FA"/>
          </a:solidFill>
          <a:ln w="12700">
            <a:solidFill>
              <a:srgbClr val="60A5FA">
                <a:alpha val="0"/>
              </a:srgbClr>
            </a:solidFill>
            <a:prstDash val="solid"/>
          </a:ln>
        </p:spPr>
        <p:txBody>
          <a:bodyPr/>
          <a:lstStyle/>
          <a:p>
            <a:endParaRPr lang="fr-FR"/>
          </a:p>
        </p:txBody>
      </p:sp>
      <p:sp>
        <p:nvSpPr>
          <p:cNvPr id="17" name="Shape 15"/>
          <p:cNvSpPr/>
          <p:nvPr/>
        </p:nvSpPr>
        <p:spPr>
          <a:xfrm>
            <a:off x="6601968" y="2029968"/>
            <a:ext cx="310896" cy="310896"/>
          </a:xfrm>
          <a:prstGeom prst="ellipse">
            <a:avLst/>
          </a:prstGeom>
          <a:solidFill>
            <a:srgbClr val="60A5FA">
              <a:alpha val="24000"/>
            </a:srgbClr>
          </a:solidFill>
          <a:ln w="12700">
            <a:solidFill>
              <a:srgbClr val="60A5FA"/>
            </a:solidFill>
            <a:prstDash val="solid"/>
          </a:ln>
        </p:spPr>
        <p:txBody>
          <a:bodyPr/>
          <a:lstStyle/>
          <a:p>
            <a:endParaRPr lang="fr-FR"/>
          </a:p>
        </p:txBody>
      </p:sp>
      <p:sp>
        <p:nvSpPr>
          <p:cNvPr id="18" name="Text 16"/>
          <p:cNvSpPr/>
          <p:nvPr/>
        </p:nvSpPr>
        <p:spPr>
          <a:xfrm>
            <a:off x="6601968" y="2057400"/>
            <a:ext cx="310896" cy="201168"/>
          </a:xfrm>
          <a:prstGeom prst="rect">
            <a:avLst/>
          </a:prstGeom>
          <a:noFill/>
          <a:ln/>
        </p:spPr>
        <p:txBody>
          <a:bodyPr wrap="square" lIns="0" tIns="0" rIns="0" bIns="0" rtlCol="0" anchor="ctr"/>
          <a:lstStyle/>
          <a:p>
            <a:pPr marL="0" indent="0" algn="ctr">
              <a:buNone/>
            </a:pPr>
            <a:r>
              <a:rPr lang="en-US" sz="1070" b="1" dirty="0">
                <a:solidFill>
                  <a:srgbClr val="60A5FA"/>
                </a:solidFill>
                <a:latin typeface="Aptos" pitchFamily="34" charset="0"/>
                <a:ea typeface="Aptos" pitchFamily="34" charset="-122"/>
                <a:cs typeface="Aptos" pitchFamily="34" charset="-120"/>
              </a:rPr>
              <a:t>2</a:t>
            </a:r>
            <a:endParaRPr lang="en-US" sz="1070" dirty="0"/>
          </a:p>
        </p:txBody>
      </p:sp>
      <p:sp>
        <p:nvSpPr>
          <p:cNvPr id="19" name="Text 17"/>
          <p:cNvSpPr/>
          <p:nvPr/>
        </p:nvSpPr>
        <p:spPr>
          <a:xfrm>
            <a:off x="7004304" y="2048256"/>
            <a:ext cx="3474720" cy="182880"/>
          </a:xfrm>
          <a:prstGeom prst="rect">
            <a:avLst/>
          </a:prstGeom>
          <a:noFill/>
          <a:ln/>
        </p:spPr>
        <p:txBody>
          <a:bodyPr wrap="square" lIns="0" tIns="0" rIns="0" bIns="0" rtlCol="0" anchor="ctr"/>
          <a:lstStyle/>
          <a:p>
            <a:pPr marL="0" indent="0">
              <a:buNone/>
            </a:pPr>
            <a:r>
              <a:rPr lang="en-US" sz="1540" b="1" dirty="0">
                <a:solidFill>
                  <a:srgbClr val="F8FAFC"/>
                </a:solidFill>
                <a:latin typeface="Aptos Display" pitchFamily="34" charset="0"/>
                <a:ea typeface="Aptos Display" pitchFamily="34" charset="-122"/>
                <a:cs typeface="Aptos Display" pitchFamily="34" charset="-120"/>
              </a:rPr>
              <a:t>Aller jusqu’au modèle final</a:t>
            </a:r>
            <a:endParaRPr lang="en-US" sz="1540" dirty="0"/>
          </a:p>
        </p:txBody>
      </p:sp>
      <p:sp>
        <p:nvSpPr>
          <p:cNvPr id="20" name="Text 18"/>
          <p:cNvSpPr/>
          <p:nvPr/>
        </p:nvSpPr>
        <p:spPr>
          <a:xfrm>
            <a:off x="6601968" y="2432304"/>
            <a:ext cx="4443984" cy="676656"/>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Nous entraînerions un classifieur sur les features, ou nous affinerions MobileNetV2 pour produire des prédictions plus pertinentes.</a:t>
            </a:r>
            <a:endParaRPr lang="en-US" sz="1080" dirty="0"/>
          </a:p>
        </p:txBody>
      </p:sp>
      <p:sp>
        <p:nvSpPr>
          <p:cNvPr id="21" name="Shape 19"/>
          <p:cNvSpPr/>
          <p:nvPr/>
        </p:nvSpPr>
        <p:spPr>
          <a:xfrm>
            <a:off x="859536" y="3749040"/>
            <a:ext cx="4901184" cy="1627632"/>
          </a:xfrm>
          <a:prstGeom prst="roundRect">
            <a:avLst>
              <a:gd name="adj" fmla="val 561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2" name="Shape 20"/>
          <p:cNvSpPr/>
          <p:nvPr/>
        </p:nvSpPr>
        <p:spPr>
          <a:xfrm>
            <a:off x="868680" y="3758184"/>
            <a:ext cx="77724" cy="1609344"/>
          </a:xfrm>
          <a:prstGeom prst="roundRect">
            <a:avLst>
              <a:gd name="adj" fmla="val 58824"/>
            </a:avLst>
          </a:prstGeom>
          <a:solidFill>
            <a:srgbClr val="F1A43A"/>
          </a:solidFill>
          <a:ln w="12700">
            <a:solidFill>
              <a:srgbClr val="F1A43A">
                <a:alpha val="0"/>
              </a:srgbClr>
            </a:solidFill>
            <a:prstDash val="solid"/>
          </a:ln>
        </p:spPr>
        <p:txBody>
          <a:bodyPr/>
          <a:lstStyle/>
          <a:p>
            <a:endParaRPr lang="fr-FR"/>
          </a:p>
        </p:txBody>
      </p:sp>
      <p:sp>
        <p:nvSpPr>
          <p:cNvPr id="23" name="Shape 21"/>
          <p:cNvSpPr/>
          <p:nvPr/>
        </p:nvSpPr>
        <p:spPr>
          <a:xfrm>
            <a:off x="1024128" y="3950208"/>
            <a:ext cx="310896" cy="310896"/>
          </a:xfrm>
          <a:prstGeom prst="ellipse">
            <a:avLst/>
          </a:prstGeom>
          <a:solidFill>
            <a:srgbClr val="F1A43A">
              <a:alpha val="24000"/>
            </a:srgbClr>
          </a:solidFill>
          <a:ln w="12700">
            <a:solidFill>
              <a:srgbClr val="F1A43A"/>
            </a:solidFill>
            <a:prstDash val="solid"/>
          </a:ln>
        </p:spPr>
        <p:txBody>
          <a:bodyPr/>
          <a:lstStyle/>
          <a:p>
            <a:endParaRPr lang="fr-FR"/>
          </a:p>
        </p:txBody>
      </p:sp>
      <p:sp>
        <p:nvSpPr>
          <p:cNvPr id="24" name="Text 22"/>
          <p:cNvSpPr/>
          <p:nvPr/>
        </p:nvSpPr>
        <p:spPr>
          <a:xfrm>
            <a:off x="1024128" y="3977640"/>
            <a:ext cx="310896" cy="201168"/>
          </a:xfrm>
          <a:prstGeom prst="rect">
            <a:avLst/>
          </a:prstGeom>
          <a:noFill/>
          <a:ln/>
        </p:spPr>
        <p:txBody>
          <a:bodyPr wrap="square" lIns="0" tIns="0" rIns="0" bIns="0" rtlCol="0" anchor="ctr"/>
          <a:lstStyle/>
          <a:p>
            <a:pPr marL="0" indent="0" algn="ctr">
              <a:buNone/>
            </a:pPr>
            <a:r>
              <a:rPr lang="en-US" sz="1070" b="1" dirty="0">
                <a:solidFill>
                  <a:srgbClr val="F1A43A"/>
                </a:solidFill>
                <a:latin typeface="Aptos" pitchFamily="34" charset="0"/>
                <a:ea typeface="Aptos" pitchFamily="34" charset="-122"/>
                <a:cs typeface="Aptos" pitchFamily="34" charset="-120"/>
              </a:rPr>
              <a:t>3</a:t>
            </a:r>
            <a:endParaRPr lang="en-US" sz="1070" dirty="0"/>
          </a:p>
        </p:txBody>
      </p:sp>
      <p:sp>
        <p:nvSpPr>
          <p:cNvPr id="25" name="Text 23"/>
          <p:cNvSpPr/>
          <p:nvPr/>
        </p:nvSpPr>
        <p:spPr>
          <a:xfrm>
            <a:off x="1426464" y="3968496"/>
            <a:ext cx="3474720" cy="182880"/>
          </a:xfrm>
          <a:prstGeom prst="rect">
            <a:avLst/>
          </a:prstGeom>
          <a:noFill/>
          <a:ln/>
        </p:spPr>
        <p:txBody>
          <a:bodyPr wrap="square" lIns="0" tIns="0" rIns="0" bIns="0" rtlCol="0" anchor="ctr"/>
          <a:lstStyle/>
          <a:p>
            <a:pPr marL="0" indent="0">
              <a:buNone/>
            </a:pPr>
            <a:r>
              <a:rPr lang="en-US" sz="1540" b="1" dirty="0">
                <a:solidFill>
                  <a:srgbClr val="F8FAFC"/>
                </a:solidFill>
                <a:latin typeface="Aptos Display" pitchFamily="34" charset="0"/>
                <a:ea typeface="Aptos Display" pitchFamily="34" charset="-122"/>
                <a:cs typeface="Aptos Display" pitchFamily="34" charset="-120"/>
              </a:rPr>
              <a:t>Exposer une vraie inférence</a:t>
            </a:r>
            <a:endParaRPr lang="en-US" sz="1540" dirty="0"/>
          </a:p>
        </p:txBody>
      </p:sp>
      <p:sp>
        <p:nvSpPr>
          <p:cNvPr id="26" name="Text 24"/>
          <p:cNvSpPr/>
          <p:nvPr/>
        </p:nvSpPr>
        <p:spPr>
          <a:xfrm>
            <a:off x="1024128" y="4352544"/>
            <a:ext cx="4443984" cy="676656"/>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Nous relierions le pipeline à une API ou à une application mobile afin de renvoyer une prédiction exploitable par un utilisateur.</a:t>
            </a:r>
            <a:endParaRPr lang="en-US" sz="1080" dirty="0"/>
          </a:p>
        </p:txBody>
      </p:sp>
      <p:sp>
        <p:nvSpPr>
          <p:cNvPr id="27" name="Shape 25"/>
          <p:cNvSpPr/>
          <p:nvPr/>
        </p:nvSpPr>
        <p:spPr>
          <a:xfrm>
            <a:off x="6437376" y="3749040"/>
            <a:ext cx="4901184" cy="1627632"/>
          </a:xfrm>
          <a:prstGeom prst="roundRect">
            <a:avLst>
              <a:gd name="adj" fmla="val 5618"/>
            </a:avLst>
          </a:prstGeom>
          <a:solidFill>
            <a:srgbClr val="12223A"/>
          </a:solidFill>
          <a:ln w="12700">
            <a:solidFill>
              <a:srgbClr val="22344D"/>
            </a:solidFill>
            <a:prstDash val="solid"/>
          </a:ln>
          <a:effectLst>
            <a:outerShdw blurRad="15240" dist="10160" dir="2700000" algn="bl" rotWithShape="0">
              <a:srgbClr val="000000">
                <a:alpha val="16000"/>
              </a:srgbClr>
            </a:outerShdw>
          </a:effectLst>
        </p:spPr>
        <p:txBody>
          <a:bodyPr/>
          <a:lstStyle/>
          <a:p>
            <a:endParaRPr lang="fr-FR"/>
          </a:p>
        </p:txBody>
      </p:sp>
      <p:sp>
        <p:nvSpPr>
          <p:cNvPr id="28" name="Shape 26"/>
          <p:cNvSpPr/>
          <p:nvPr/>
        </p:nvSpPr>
        <p:spPr>
          <a:xfrm>
            <a:off x="6446520" y="3758184"/>
            <a:ext cx="77724" cy="1609344"/>
          </a:xfrm>
          <a:prstGeom prst="roundRect">
            <a:avLst>
              <a:gd name="adj" fmla="val 58824"/>
            </a:avLst>
          </a:prstGeom>
          <a:solidFill>
            <a:srgbClr val="A78BFA"/>
          </a:solidFill>
          <a:ln w="12700">
            <a:solidFill>
              <a:srgbClr val="A78BFA">
                <a:alpha val="0"/>
              </a:srgbClr>
            </a:solidFill>
            <a:prstDash val="solid"/>
          </a:ln>
        </p:spPr>
        <p:txBody>
          <a:bodyPr/>
          <a:lstStyle/>
          <a:p>
            <a:endParaRPr lang="fr-FR"/>
          </a:p>
        </p:txBody>
      </p:sp>
      <p:sp>
        <p:nvSpPr>
          <p:cNvPr id="29" name="Shape 27"/>
          <p:cNvSpPr/>
          <p:nvPr/>
        </p:nvSpPr>
        <p:spPr>
          <a:xfrm>
            <a:off x="6601968" y="3950208"/>
            <a:ext cx="310896" cy="310896"/>
          </a:xfrm>
          <a:prstGeom prst="ellipse">
            <a:avLst/>
          </a:prstGeom>
          <a:solidFill>
            <a:srgbClr val="A78BFA">
              <a:alpha val="24000"/>
            </a:srgbClr>
          </a:solidFill>
          <a:ln w="12700">
            <a:solidFill>
              <a:srgbClr val="A78BFA"/>
            </a:solidFill>
            <a:prstDash val="solid"/>
          </a:ln>
        </p:spPr>
        <p:txBody>
          <a:bodyPr/>
          <a:lstStyle/>
          <a:p>
            <a:endParaRPr lang="fr-FR"/>
          </a:p>
        </p:txBody>
      </p:sp>
      <p:sp>
        <p:nvSpPr>
          <p:cNvPr id="30" name="Text 28"/>
          <p:cNvSpPr/>
          <p:nvPr/>
        </p:nvSpPr>
        <p:spPr>
          <a:xfrm>
            <a:off x="6601968" y="3977640"/>
            <a:ext cx="310896" cy="201168"/>
          </a:xfrm>
          <a:prstGeom prst="rect">
            <a:avLst/>
          </a:prstGeom>
          <a:noFill/>
          <a:ln/>
        </p:spPr>
        <p:txBody>
          <a:bodyPr wrap="square" lIns="0" tIns="0" rIns="0" bIns="0" rtlCol="0" anchor="ctr"/>
          <a:lstStyle/>
          <a:p>
            <a:pPr marL="0" indent="0" algn="ctr">
              <a:buNone/>
            </a:pPr>
            <a:r>
              <a:rPr lang="en-US" sz="1070" b="1" dirty="0">
                <a:solidFill>
                  <a:srgbClr val="A78BFA"/>
                </a:solidFill>
                <a:latin typeface="Aptos" pitchFamily="34" charset="0"/>
                <a:ea typeface="Aptos" pitchFamily="34" charset="-122"/>
                <a:cs typeface="Aptos" pitchFamily="34" charset="-120"/>
              </a:rPr>
              <a:t>4</a:t>
            </a:r>
            <a:endParaRPr lang="en-US" sz="1070" dirty="0"/>
          </a:p>
        </p:txBody>
      </p:sp>
      <p:sp>
        <p:nvSpPr>
          <p:cNvPr id="31" name="Text 29"/>
          <p:cNvSpPr/>
          <p:nvPr/>
        </p:nvSpPr>
        <p:spPr>
          <a:xfrm>
            <a:off x="7004304" y="3968496"/>
            <a:ext cx="3474720" cy="182880"/>
          </a:xfrm>
          <a:prstGeom prst="rect">
            <a:avLst/>
          </a:prstGeom>
          <a:noFill/>
          <a:ln/>
        </p:spPr>
        <p:txBody>
          <a:bodyPr wrap="square" lIns="0" tIns="0" rIns="0" bIns="0" rtlCol="0" anchor="ctr"/>
          <a:lstStyle/>
          <a:p>
            <a:pPr marL="0" indent="0">
              <a:buNone/>
            </a:pPr>
            <a:r>
              <a:rPr lang="en-US" sz="1540" b="1" dirty="0">
                <a:solidFill>
                  <a:srgbClr val="F8FAFC"/>
                </a:solidFill>
                <a:latin typeface="Aptos Display" pitchFamily="34" charset="0"/>
                <a:ea typeface="Aptos Display" pitchFamily="34" charset="-122"/>
                <a:cs typeface="Aptos Display" pitchFamily="34" charset="-120"/>
              </a:rPr>
              <a:t>Industrialiser</a:t>
            </a:r>
            <a:endParaRPr lang="en-US" sz="1540" dirty="0"/>
          </a:p>
        </p:txBody>
      </p:sp>
      <p:sp>
        <p:nvSpPr>
          <p:cNvPr id="32" name="Text 30"/>
          <p:cNvSpPr/>
          <p:nvPr/>
        </p:nvSpPr>
        <p:spPr>
          <a:xfrm>
            <a:off x="6601968" y="4352544"/>
            <a:ext cx="4443984" cy="676656"/>
          </a:xfrm>
          <a:prstGeom prst="rect">
            <a:avLst/>
          </a:prstGeom>
          <a:noFill/>
          <a:ln/>
        </p:spPr>
        <p:txBody>
          <a:bodyPr wrap="square" lIns="0" tIns="0" rIns="0" bIns="0" rtlCol="0" anchor="ctr"/>
          <a:lstStyle/>
          <a:p>
            <a:pPr marL="0" indent="0">
              <a:buNone/>
            </a:pPr>
            <a:r>
              <a:rPr lang="en-US" sz="1080" dirty="0">
                <a:solidFill>
                  <a:srgbClr val="F8FAFC"/>
                </a:solidFill>
                <a:latin typeface="Aptos" pitchFamily="34" charset="0"/>
                <a:ea typeface="Aptos" pitchFamily="34" charset="-122"/>
                <a:cs typeface="Aptos" pitchFamily="34" charset="-120"/>
              </a:rPr>
              <a:t>Nous ajouterions suivi de coûts, monitoring, versionnage des données et automatisation du traitement.</a:t>
            </a:r>
            <a:endParaRPr lang="en-US" sz="1080" dirty="0"/>
          </a:p>
        </p:txBody>
      </p:sp>
      <p:sp>
        <p:nvSpPr>
          <p:cNvPr id="33" name="Shape 31"/>
          <p:cNvSpPr/>
          <p:nvPr/>
        </p:nvSpPr>
        <p:spPr>
          <a:xfrm>
            <a:off x="1042416" y="5724144"/>
            <a:ext cx="10113264" cy="457200"/>
          </a:xfrm>
          <a:prstGeom prst="roundRect">
            <a:avLst>
              <a:gd name="adj" fmla="val 16000"/>
            </a:avLst>
          </a:prstGeom>
          <a:solidFill>
            <a:srgbClr val="0C1626"/>
          </a:solidFill>
          <a:ln w="12700">
            <a:solidFill>
              <a:srgbClr val="23344C"/>
            </a:solidFill>
            <a:prstDash val="solid"/>
          </a:ln>
        </p:spPr>
        <p:txBody>
          <a:bodyPr/>
          <a:lstStyle/>
          <a:p>
            <a:endParaRPr lang="fr-FR"/>
          </a:p>
        </p:txBody>
      </p:sp>
      <p:sp>
        <p:nvSpPr>
          <p:cNvPr id="34" name="Text 32"/>
          <p:cNvSpPr/>
          <p:nvPr/>
        </p:nvSpPr>
        <p:spPr>
          <a:xfrm>
            <a:off x="1280160" y="5870448"/>
            <a:ext cx="9637776" cy="146304"/>
          </a:xfrm>
          <a:prstGeom prst="rect">
            <a:avLst/>
          </a:prstGeom>
          <a:noFill/>
          <a:ln/>
        </p:spPr>
        <p:txBody>
          <a:bodyPr wrap="square" lIns="0" tIns="0" rIns="0" bIns="0" rtlCol="0" anchor="ctr"/>
          <a:lstStyle/>
          <a:p>
            <a:pPr marL="0" indent="0">
              <a:buNone/>
            </a:pPr>
            <a:r>
              <a:rPr lang="en-US" sz="1080" dirty="0">
                <a:solidFill>
                  <a:srgbClr val="C9D4E3"/>
                </a:solidFill>
                <a:latin typeface="Aptos" pitchFamily="34" charset="0"/>
                <a:ea typeface="Aptos" pitchFamily="34" charset="-122"/>
                <a:cs typeface="Aptos" pitchFamily="34" charset="-120"/>
              </a:rPr>
              <a:t>Point essentiel : la montée en puissance reste crédible, car les bonnes briques sont déjà posées — S3, calcul distribué, sortie parquet et ACP — sans repartir de zéro.</a:t>
            </a:r>
            <a:endParaRPr lang="en-US" sz="10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B67A"/>
          </a:solidFill>
          <a:ln w="12700">
            <a:solidFill>
              <a:srgbClr val="19B67A">
                <a:alpha val="0"/>
              </a:srgbClr>
            </a:solidFill>
            <a:prstDash val="solid"/>
          </a:ln>
        </p:spPr>
        <p:txBody>
          <a:bodyPr/>
          <a:lstStyle/>
          <a:p>
            <a:endParaRPr lang="fr-FR"/>
          </a:p>
        </p:txBody>
      </p:sp>
      <p:sp>
        <p:nvSpPr>
          <p:cNvPr id="3" name="Text 1"/>
          <p:cNvSpPr/>
          <p:nvPr/>
        </p:nvSpPr>
        <p:spPr>
          <a:xfrm>
            <a:off x="822960" y="1280160"/>
            <a:ext cx="2011680" cy="384048"/>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Merci</a:t>
            </a:r>
            <a:endParaRPr lang="en-US" sz="2800" dirty="0"/>
          </a:p>
        </p:txBody>
      </p:sp>
      <p:sp>
        <p:nvSpPr>
          <p:cNvPr id="4" name="Text 2"/>
          <p:cNvSpPr/>
          <p:nvPr/>
        </p:nvSpPr>
        <p:spPr>
          <a:xfrm>
            <a:off x="822960" y="1755648"/>
            <a:ext cx="2743200" cy="402336"/>
          </a:xfrm>
          <a:prstGeom prst="rect">
            <a:avLst/>
          </a:prstGeom>
          <a:noFill/>
          <a:ln/>
        </p:spPr>
        <p:txBody>
          <a:bodyPr wrap="square" lIns="0" tIns="0" rIns="0" bIns="0" rtlCol="0" anchor="ctr"/>
          <a:lstStyle/>
          <a:p>
            <a:pPr marL="0" indent="0">
              <a:buNone/>
            </a:pPr>
            <a:r>
              <a:rPr lang="en-US" sz="2650" b="1" dirty="0">
                <a:solidFill>
                  <a:srgbClr val="F8FAFC"/>
                </a:solidFill>
                <a:latin typeface="Aptos Display" pitchFamily="34" charset="0"/>
              </a:rPr>
              <a:t>Des questions ? </a:t>
            </a:r>
            <a:endParaRPr lang="en-US" sz="2650" dirty="0"/>
          </a:p>
        </p:txBody>
      </p:sp>
      <p:sp>
        <p:nvSpPr>
          <p:cNvPr id="6" name="Shape 4"/>
          <p:cNvSpPr/>
          <p:nvPr/>
        </p:nvSpPr>
        <p:spPr>
          <a:xfrm>
            <a:off x="822960" y="3822192"/>
            <a:ext cx="1426464" cy="292608"/>
          </a:xfrm>
          <a:prstGeom prst="roundRect">
            <a:avLst>
              <a:gd name="adj" fmla="val 28125"/>
            </a:avLst>
          </a:prstGeom>
          <a:solidFill>
            <a:srgbClr val="12223A"/>
          </a:solidFill>
          <a:ln w="12700">
            <a:solidFill>
              <a:srgbClr val="19B67A"/>
            </a:solidFill>
            <a:prstDash val="solid"/>
          </a:ln>
        </p:spPr>
        <p:txBody>
          <a:bodyPr/>
          <a:lstStyle/>
          <a:p>
            <a:endParaRPr lang="fr-FR"/>
          </a:p>
        </p:txBody>
      </p:sp>
      <p:sp>
        <p:nvSpPr>
          <p:cNvPr id="7" name="Text 5"/>
          <p:cNvSpPr/>
          <p:nvPr/>
        </p:nvSpPr>
        <p:spPr>
          <a:xfrm>
            <a:off x="822960" y="3849624"/>
            <a:ext cx="1426464" cy="201168"/>
          </a:xfrm>
          <a:prstGeom prst="rect">
            <a:avLst/>
          </a:prstGeom>
          <a:noFill/>
          <a:ln/>
        </p:spPr>
        <p:txBody>
          <a:bodyPr wrap="square" lIns="0" tIns="0" rIns="0" bIns="0" rtlCol="0" anchor="ctr"/>
          <a:lstStyle/>
          <a:p>
            <a:pPr marL="0" indent="0" algn="ctr">
              <a:buNone/>
            </a:pPr>
            <a:r>
              <a:rPr lang="en-US" sz="1000" b="1" dirty="0">
                <a:solidFill>
                  <a:srgbClr val="19B67A"/>
                </a:solidFill>
                <a:latin typeface="Aptos" pitchFamily="34" charset="0"/>
                <a:ea typeface="Aptos" pitchFamily="34" charset="-122"/>
                <a:cs typeface="Aptos" pitchFamily="34" charset="-120"/>
              </a:rPr>
              <a:t>Pipeline PySpark</a:t>
            </a:r>
            <a:endParaRPr lang="en-US" sz="1000" dirty="0"/>
          </a:p>
        </p:txBody>
      </p:sp>
      <p:sp>
        <p:nvSpPr>
          <p:cNvPr id="8" name="Shape 6"/>
          <p:cNvSpPr/>
          <p:nvPr/>
        </p:nvSpPr>
        <p:spPr>
          <a:xfrm>
            <a:off x="2395728" y="3822192"/>
            <a:ext cx="1060704" cy="292608"/>
          </a:xfrm>
          <a:prstGeom prst="roundRect">
            <a:avLst>
              <a:gd name="adj" fmla="val 28125"/>
            </a:avLst>
          </a:prstGeom>
          <a:solidFill>
            <a:srgbClr val="12223A"/>
          </a:solidFill>
          <a:ln w="12700">
            <a:solidFill>
              <a:srgbClr val="60A5FA"/>
            </a:solidFill>
            <a:prstDash val="solid"/>
          </a:ln>
        </p:spPr>
        <p:txBody>
          <a:bodyPr/>
          <a:lstStyle/>
          <a:p>
            <a:endParaRPr lang="fr-FR"/>
          </a:p>
        </p:txBody>
      </p:sp>
      <p:sp>
        <p:nvSpPr>
          <p:cNvPr id="9" name="Text 7"/>
          <p:cNvSpPr/>
          <p:nvPr/>
        </p:nvSpPr>
        <p:spPr>
          <a:xfrm>
            <a:off x="2395728" y="3849624"/>
            <a:ext cx="1060704" cy="201168"/>
          </a:xfrm>
          <a:prstGeom prst="rect">
            <a:avLst/>
          </a:prstGeom>
          <a:noFill/>
          <a:ln/>
        </p:spPr>
        <p:txBody>
          <a:bodyPr wrap="square" lIns="0" tIns="0" rIns="0" bIns="0" rtlCol="0" anchor="ctr"/>
          <a:lstStyle/>
          <a:p>
            <a:pPr marL="0" indent="0" algn="ctr">
              <a:buNone/>
            </a:pPr>
            <a:r>
              <a:rPr lang="en-US" sz="1000" b="1" dirty="0">
                <a:solidFill>
                  <a:srgbClr val="60A5FA"/>
                </a:solidFill>
                <a:latin typeface="Aptos" pitchFamily="34" charset="0"/>
                <a:ea typeface="Aptos" pitchFamily="34" charset="-122"/>
                <a:cs typeface="Aptos" pitchFamily="34" charset="-120"/>
              </a:rPr>
              <a:t>EMR + S3</a:t>
            </a:r>
            <a:endParaRPr lang="en-US" sz="1000" dirty="0"/>
          </a:p>
        </p:txBody>
      </p:sp>
      <p:sp>
        <p:nvSpPr>
          <p:cNvPr id="10" name="Shape 8"/>
          <p:cNvSpPr/>
          <p:nvPr/>
        </p:nvSpPr>
        <p:spPr>
          <a:xfrm>
            <a:off x="3602736" y="3822192"/>
            <a:ext cx="1188720" cy="292608"/>
          </a:xfrm>
          <a:prstGeom prst="roundRect">
            <a:avLst>
              <a:gd name="adj" fmla="val 28125"/>
            </a:avLst>
          </a:prstGeom>
          <a:solidFill>
            <a:srgbClr val="12223A"/>
          </a:solidFill>
          <a:ln w="12700">
            <a:solidFill>
              <a:srgbClr val="F1A43A"/>
            </a:solidFill>
            <a:prstDash val="solid"/>
          </a:ln>
        </p:spPr>
        <p:txBody>
          <a:bodyPr/>
          <a:lstStyle/>
          <a:p>
            <a:endParaRPr lang="fr-FR"/>
          </a:p>
        </p:txBody>
      </p:sp>
      <p:sp>
        <p:nvSpPr>
          <p:cNvPr id="11" name="Text 9"/>
          <p:cNvSpPr/>
          <p:nvPr/>
        </p:nvSpPr>
        <p:spPr>
          <a:xfrm>
            <a:off x="3602736" y="3849624"/>
            <a:ext cx="1188720" cy="201168"/>
          </a:xfrm>
          <a:prstGeom prst="rect">
            <a:avLst/>
          </a:prstGeom>
          <a:noFill/>
          <a:ln/>
        </p:spPr>
        <p:txBody>
          <a:bodyPr wrap="square" lIns="0" tIns="0" rIns="0" bIns="0" rtlCol="0" anchor="ctr"/>
          <a:lstStyle/>
          <a:p>
            <a:pPr marL="0" indent="0" algn="ctr">
              <a:buNone/>
            </a:pPr>
            <a:r>
              <a:rPr lang="en-US" sz="1000" b="1" dirty="0">
                <a:solidFill>
                  <a:srgbClr val="F1A43A"/>
                </a:solidFill>
                <a:latin typeface="Aptos" pitchFamily="34" charset="0"/>
                <a:ea typeface="Aptos" pitchFamily="34" charset="-122"/>
                <a:cs typeface="Aptos" pitchFamily="34" charset="-120"/>
              </a:rPr>
              <a:t>ACP intégrée</a:t>
            </a:r>
            <a:endParaRPr lang="en-US" sz="1000" dirty="0"/>
          </a:p>
        </p:txBody>
      </p:sp>
      <p:sp>
        <p:nvSpPr>
          <p:cNvPr id="12" name="Shape 10"/>
          <p:cNvSpPr/>
          <p:nvPr/>
        </p:nvSpPr>
        <p:spPr>
          <a:xfrm>
            <a:off x="822960" y="4517136"/>
            <a:ext cx="4389120" cy="0"/>
          </a:xfrm>
          <a:prstGeom prst="line">
            <a:avLst/>
          </a:prstGeom>
          <a:noFill/>
          <a:ln w="12700">
            <a:solidFill>
              <a:srgbClr val="23344C"/>
            </a:solidFill>
            <a:prstDash val="solid"/>
          </a:ln>
        </p:spPr>
        <p:txBody>
          <a:bodyPr/>
          <a:lstStyle/>
          <a:p>
            <a:endParaRPr lang="fr-FR"/>
          </a:p>
        </p:txBody>
      </p:sp>
      <p:sp>
        <p:nvSpPr>
          <p:cNvPr id="13" name="Text 11"/>
          <p:cNvSpPr/>
          <p:nvPr/>
        </p:nvSpPr>
        <p:spPr>
          <a:xfrm>
            <a:off x="822960" y="4700016"/>
            <a:ext cx="4389120" cy="164592"/>
          </a:xfrm>
          <a:prstGeom prst="rect">
            <a:avLst/>
          </a:prstGeom>
          <a:noFill/>
          <a:ln/>
        </p:spPr>
        <p:txBody>
          <a:bodyPr wrap="square" lIns="0" tIns="0" rIns="0" bIns="0" rtlCol="0" anchor="ctr"/>
          <a:lstStyle/>
          <a:p>
            <a:pPr marL="0" indent="0">
              <a:buNone/>
            </a:pPr>
            <a:r>
              <a:rPr lang="en-US" sz="1180" dirty="0">
                <a:solidFill>
                  <a:srgbClr val="F8FAFC"/>
                </a:solidFill>
                <a:latin typeface="Aptos" pitchFamily="34" charset="0"/>
                <a:ea typeface="Aptos" pitchFamily="34" charset="-122"/>
                <a:cs typeface="Aptos" pitchFamily="34" charset="-120"/>
              </a:rPr>
              <a:t>Victor Aubry — Projet 11 OpenClassrooms</a:t>
            </a:r>
            <a:endParaRPr lang="en-US" sz="11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3814</Words>
  <Application>Microsoft Office PowerPoint</Application>
  <PresentationFormat>Grand écran</PresentationFormat>
  <Paragraphs>433</Paragraphs>
  <Slides>24</Slides>
  <Notes>24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Aptos</vt:lpstr>
      <vt:lpstr>Aptos Display</vt:lpstr>
      <vt:lpstr>Arial</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11 Fruits! — Soutenance V3</dc:title>
  <dc:subject>Projet 11 Fruits! — chaîne PySpark locale et cloud</dc:subject>
  <dc:creator>OpenAI</dc:creator>
  <cp:lastModifiedBy>Victor A</cp:lastModifiedBy>
  <cp:revision>4</cp:revision>
  <dcterms:created xsi:type="dcterms:W3CDTF">2026-03-23T21:35:01Z</dcterms:created>
  <dcterms:modified xsi:type="dcterms:W3CDTF">2026-03-26T00:37:49Z</dcterms:modified>
</cp:coreProperties>
</file>